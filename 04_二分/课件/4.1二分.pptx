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63" r:id="rId4"/>
    <p:sldId id="257" r:id="rId5"/>
    <p:sldId id="259" r:id="rId6"/>
    <p:sldId id="260" r:id="rId7"/>
    <p:sldId id="261" r:id="rId8"/>
    <p:sldId id="262" r:id="rId9"/>
    <p:sldId id="269" r:id="rId10"/>
  </p:sldIdLst>
  <p:sldSz cx="12192000" cy="6858000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4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2.xml"/><Relationship Id="rId2" Type="http://schemas.openxmlformats.org/officeDocument/2006/relationships/image" Target="../media/image1.jpeg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文本框 3"/>
          <p:cNvSpPr txBox="1"/>
          <p:nvPr/>
        </p:nvSpPr>
        <p:spPr>
          <a:xfrm>
            <a:off x="1520825" y="1271270"/>
            <a:ext cx="8637270" cy="267779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二分查找：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以在一个升序数组中查找一个数为例。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它每次考察数组当前部分的中间元素，如果中间元素刚好是要找的，就结束搜索过程；如果中间元素小于所查找的值，那么左侧的只会更小，不会有所查找的元素，只需到右侧查找；如果中间元素大于所查找的值同理，只需到左侧查找。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前提：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有序</a:t>
            </a:r>
            <a:endParaRPr lang="zh-CN" altLang="en-US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endParaRPr lang="zh-CN" altLang="en-US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当中间位置当数不是我们所查找当数时</a:t>
            </a:r>
            <a:r>
              <a:rPr lang="en-US" altLang="zh-CN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，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注意接下来应该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找哪边</a:t>
            </a: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找</a:t>
            </a:r>
            <a:endParaRPr lang="zh-CN" altLang="en-US" dirty="0">
              <a:solidFill>
                <a:srgbClr val="FF000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Picture 2" descr="二分图例"/>
          <p:cNvPicPr>
            <a:picLocks noGrp="1" noChangeAspect="1" noChangeArrowheads="1"/>
          </p:cNvPicPr>
          <p:nvPr>
            <p:ph idx="1"/>
            <p:custDataLst>
              <p:tags r:id="rId1"/>
            </p:custDataLst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3558" y="1285557"/>
            <a:ext cx="4967061" cy="4022725"/>
          </a:xfrm>
          <a:prstGeom prst="rect">
            <a:avLst/>
          </a:prstGeom>
          <a:ln w="127000" cap="rnd">
            <a:solidFill>
              <a:srgbClr val="FFFFFF"/>
            </a:solidFill>
          </a:ln>
          <a:effectLst>
            <a:outerShdw blurRad="76200" dist="95250" dir="10500000" sx="97000" sy="23000" kx="900000" algn="br" rotWithShape="0">
              <a:srgbClr val="000000">
                <a:alpha val="20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2"/>
          <p:cNvSpPr>
            <a:spLocks noGrp="1" noChangeArrowheads="1"/>
          </p:cNvSpPr>
          <p:nvPr>
            <p:custDataLst>
              <p:tags r:id="rId3"/>
            </p:custDataLst>
          </p:nvPr>
        </p:nvSpPr>
        <p:spPr>
          <a:xfrm>
            <a:off x="6784975" y="760730"/>
            <a:ext cx="4801235" cy="5733415"/>
          </a:xfrm>
          <a:prstGeom prst="rect">
            <a:avLst/>
          </a:prstGeom>
          <a:ln>
            <a:solidFill>
              <a:srgbClr val="FFC000"/>
            </a:solidFill>
            <a:prstDash val="dash"/>
          </a:ln>
        </p:spPr>
        <p:style>
          <a:lnRef idx="2">
            <a:srgbClr val="70AD47"/>
          </a:lnRef>
          <a:fillRef idx="1">
            <a:sysClr val="window" lastClr="FFFFFF"/>
          </a:fillRef>
          <a:effectRef idx="0">
            <a:srgbClr val="70AD47"/>
          </a:effectRef>
          <a:fontRef idx="minor">
            <a:sysClr val="windowText" lastClr="000000"/>
          </a:fontRef>
        </p:style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ysClr val="windowText" lastClr="000000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int bs(int a</a:t>
            </a:r>
            <a:r>
              <a:rPr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[]</a:t>
            </a:r>
            <a:r>
              <a:rPr lang="zh-CN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, int n, int tg) {</a:t>
            </a:r>
            <a:br>
              <a:rPr lang="zh-CN" altLang="zh-CN" sz="2400" dirty="0">
                <a:latin typeface="Arial" panose="020B0604020202090204" pitchFamily="34" charset="0"/>
                <a:cs typeface="Arial" panose="020B0604020202090204" pitchFamily="34" charset="0"/>
              </a:rPr>
            </a:br>
            <a:r>
              <a:rPr lang="zh-CN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    int l = 0, r = n-1;</a:t>
            </a:r>
            <a:br>
              <a:rPr lang="zh-CN" altLang="zh-CN" sz="2400" dirty="0">
                <a:latin typeface="Arial" panose="020B0604020202090204" pitchFamily="34" charset="0"/>
                <a:cs typeface="Arial" panose="020B0604020202090204" pitchFamily="34" charset="0"/>
              </a:rPr>
            </a:br>
            <a:r>
              <a:rPr lang="zh-CN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    while(l &lt;</a:t>
            </a:r>
            <a:r>
              <a:rPr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=</a:t>
            </a:r>
            <a:r>
              <a:rPr lang="zh-CN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r) {</a:t>
            </a:r>
            <a:r>
              <a:rPr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br>
              <a:rPr lang="zh-CN" altLang="zh-CN" sz="2400" dirty="0">
                <a:latin typeface="Arial" panose="020B0604020202090204" pitchFamily="34" charset="0"/>
                <a:cs typeface="Arial" panose="020B0604020202090204" pitchFamily="34" charset="0"/>
              </a:rPr>
            </a:br>
            <a:r>
              <a:rPr lang="zh-CN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        int mid = (l+r)/2;</a:t>
            </a:r>
            <a:endParaRPr lang="zh-CN" altLang="zh-CN" sz="2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      if(a[mid]==tg)return mid;</a:t>
            </a:r>
            <a:br>
              <a:rPr lang="zh-CN" altLang="zh-CN" sz="2400" dirty="0">
                <a:latin typeface="Arial" panose="020B0604020202090204" pitchFamily="34" charset="0"/>
                <a:cs typeface="Arial" panose="020B0604020202090204" pitchFamily="34" charset="0"/>
              </a:rPr>
            </a:br>
            <a:r>
              <a:rPr lang="zh-CN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        </a:t>
            </a:r>
            <a:r>
              <a:rPr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else </a:t>
            </a:r>
            <a:r>
              <a:rPr lang="zh-CN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if(a[mid] &gt;tg) r = mid</a:t>
            </a:r>
            <a:r>
              <a:rPr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-1</a:t>
            </a:r>
            <a:r>
              <a:rPr lang="zh-CN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;</a:t>
            </a:r>
            <a:br>
              <a:rPr lang="zh-CN" altLang="zh-CN" sz="2400" dirty="0">
                <a:latin typeface="Arial" panose="020B0604020202090204" pitchFamily="34" charset="0"/>
                <a:cs typeface="Arial" panose="020B0604020202090204" pitchFamily="34" charset="0"/>
              </a:rPr>
            </a:br>
            <a:r>
              <a:rPr lang="zh-CN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        else l = mid+1;</a:t>
            </a:r>
            <a:br>
              <a:rPr lang="zh-CN" altLang="zh-CN" sz="2400" dirty="0">
                <a:latin typeface="Arial" panose="020B0604020202090204" pitchFamily="34" charset="0"/>
                <a:cs typeface="Arial" panose="020B0604020202090204" pitchFamily="34" charset="0"/>
              </a:rPr>
            </a:br>
            <a:r>
              <a:rPr lang="zh-CN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    } </a:t>
            </a:r>
            <a:endParaRPr lang="zh-CN" altLang="zh-CN" sz="2400" dirty="0">
              <a:latin typeface="Arial" panose="020B0604020202090204" pitchFamily="34" charset="0"/>
              <a:cs typeface="Arial" panose="020B0604020202090204" pitchFamily="34" charset="0"/>
            </a:endParaRPr>
          </a:p>
          <a:p>
            <a:pPr>
              <a:lnSpc>
                <a:spcPct val="150000"/>
              </a:lnSpc>
            </a:pPr>
            <a:r>
              <a:rPr lang="zh-CN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 </a:t>
            </a:r>
            <a:r>
              <a:rPr lang="en-US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  return -1;</a:t>
            </a:r>
            <a:br>
              <a:rPr lang="zh-CN" altLang="zh-CN" sz="2400" dirty="0">
                <a:latin typeface="Arial" panose="020B0604020202090204" pitchFamily="34" charset="0"/>
                <a:cs typeface="Arial" panose="020B0604020202090204" pitchFamily="34" charset="0"/>
              </a:rPr>
            </a:br>
            <a:r>
              <a:rPr lang="zh-CN" altLang="zh-CN" sz="2400" dirty="0">
                <a:latin typeface="Arial" panose="020B0604020202090204" pitchFamily="34" charset="0"/>
                <a:cs typeface="Arial" panose="020B0604020202090204" pitchFamily="34" charset="0"/>
              </a:rPr>
              <a:t>}</a:t>
            </a:r>
            <a:endParaRPr lang="zh-CN" altLang="zh-CN" sz="2400" dirty="0"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1" name="Rectangle 3"/>
          <p:cNvSpPr>
            <a:spLocks noGrp="1" noChangeArrowheads="1"/>
          </p:cNvSpPr>
          <p:nvPr>
            <p:ph type="body" idx="1"/>
            <p:custDataLst>
              <p:tags r:id="rId1"/>
            </p:custDataLst>
          </p:nvPr>
        </p:nvSpPr>
        <p:spPr>
          <a:xfrm>
            <a:off x="1062355" y="953135"/>
            <a:ext cx="10206355" cy="5227955"/>
          </a:xfrm>
          <a:ln>
            <a:prstDash val="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normAutofit fontScale="80000"/>
          </a:bodyPr>
          <a:p>
            <a:pPr marL="0" indent="0">
              <a:lnSpc>
                <a:spcPct val="200000"/>
              </a:lnSpc>
              <a:buNone/>
            </a:pP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二分查找的应用（二分答案</a:t>
            </a:r>
            <a:r>
              <a:rPr lang="en-US" altLang="zh-CN" b="1" dirty="0">
                <a:latin typeface="微软雅黑" panose="020B0503020204020204" charset="-122"/>
                <a:ea typeface="微软雅黑" panose="020B0503020204020204" charset="-122"/>
              </a:rPr>
              <a:t>---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猜</a:t>
            </a:r>
            <a:r>
              <a:rPr lang="zh-CN" altLang="en-US" b="1" dirty="0">
                <a:latin typeface="微软雅黑" panose="020B0503020204020204" charset="-122"/>
                <a:ea typeface="微软雅黑" panose="020B0503020204020204" charset="-122"/>
              </a:rPr>
              <a:t>答案）</a:t>
            </a:r>
            <a:endParaRPr lang="en-US" altLang="zh-CN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L="0" indent="0">
              <a:lnSpc>
                <a:spcPct val="200000"/>
              </a:lnSpc>
              <a:buNone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假定一个解判断是否可行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rgbClr val="FF000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最值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最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小化最大值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最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大化最小值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</a:rPr>
              <a:t>。。。。</a:t>
            </a: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。。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endParaRPr lang="zh-CN" altLang="en-US" dirty="0">
              <a:latin typeface="微软雅黑" panose="020B0503020204020204" charset="-122"/>
              <a:ea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407670"/>
            <a:ext cx="8100695" cy="438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/>
              <a:t>https://www.luogu.com.cn/problem/P1873</a:t>
            </a:r>
            <a:endParaRPr lang="en-US" altLang="zh-CN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7778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思路：</a:t>
            </a:r>
            <a:endParaRPr lang="zh-CN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407670"/>
            <a:ext cx="8100695" cy="438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https://www.luogu.com.cn/problem/</a:t>
            </a:r>
            <a:r>
              <a:rPr lang="en-US" altLang="zh-CN">
                <a:sym typeface="+mn-ea"/>
              </a:rPr>
              <a:t>P1873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8602345" cy="441261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</a:t>
            </a:r>
            <a:r>
              <a:rPr lang="zh-CN" altLang="en-US">
                <a:sym typeface="+mn-ea"/>
              </a:rPr>
              <a:t>求最值问题。</a:t>
            </a:r>
            <a:endParaRPr lang="zh-CN" altLang="en-US"/>
          </a:p>
          <a:p>
            <a:r>
              <a:rPr lang="zh-CN" altLang="en-US"/>
              <a:t>这题的意思是给定</a:t>
            </a:r>
            <a:r>
              <a:rPr lang="en-US" altLang="zh-CN"/>
              <a:t> n </a:t>
            </a:r>
            <a:r>
              <a:rPr lang="zh-CN" altLang="en-US"/>
              <a:t>棵树的高度，让你求一个最大的参数值</a:t>
            </a:r>
            <a:r>
              <a:rPr lang="en-US" altLang="zh-CN"/>
              <a:t> H</a:t>
            </a:r>
            <a:r>
              <a:rPr lang="zh-CN" altLang="en-US"/>
              <a:t>，使得他把所有树</a:t>
            </a:r>
            <a:r>
              <a:rPr lang="en-US" altLang="zh-CN"/>
              <a:t> H </a:t>
            </a:r>
            <a:r>
              <a:rPr lang="zh-CN" altLang="en-US"/>
              <a:t>米以上的部分砍掉之后，能得到</a:t>
            </a:r>
            <a:r>
              <a:rPr lang="en-US" altLang="zh-CN"/>
              <a:t> m </a:t>
            </a:r>
            <a:r>
              <a:rPr lang="zh-CN" altLang="en-US"/>
              <a:t>米或以上的木材（换句话来说，如果再升高</a:t>
            </a:r>
            <a:r>
              <a:rPr lang="en-US" altLang="zh-CN"/>
              <a:t> 1 </a:t>
            </a:r>
            <a:r>
              <a:rPr lang="zh-CN" altLang="en-US"/>
              <a:t>米，那他将得不到</a:t>
            </a:r>
            <a:r>
              <a:rPr lang="en-US" altLang="zh-CN"/>
              <a:t> m </a:t>
            </a:r>
            <a:r>
              <a:rPr lang="zh-CN" altLang="en-US"/>
              <a:t>米的木材）。</a:t>
            </a:r>
            <a:endParaRPr lang="zh-CN" altLang="en-US"/>
          </a:p>
          <a:p>
            <a:endParaRPr lang="zh-CN" altLang="en-US"/>
          </a:p>
          <a:p>
            <a:r>
              <a:rPr lang="zh-CN" altLang="en-US"/>
              <a:t>二分</a:t>
            </a:r>
            <a:r>
              <a:rPr lang="en-US" altLang="zh-CN"/>
              <a:t>H，</a:t>
            </a:r>
            <a:r>
              <a:rPr lang="zh-CN" altLang="en-US"/>
              <a:t>然后在</a:t>
            </a:r>
            <a:r>
              <a:rPr lang="en-US" altLang="zh-CN"/>
              <a:t>check</a:t>
            </a:r>
            <a:r>
              <a:rPr lang="zh-CN" altLang="en-US"/>
              <a:t>函数中去判断是否可行</a:t>
            </a:r>
            <a:r>
              <a:rPr lang="en-US" altLang="zh-CN"/>
              <a:t>，</a:t>
            </a:r>
            <a:r>
              <a:rPr lang="zh-CN" altLang="en-US"/>
              <a:t>即算一下得到的木材数是否满足</a:t>
            </a:r>
            <a:r>
              <a:rPr lang="en-US" altLang="zh-CN"/>
              <a:t>m。</a:t>
            </a:r>
            <a:endParaRPr lang="en-US" altLang="zh-CN"/>
          </a:p>
          <a:p>
            <a:endParaRPr lang="en-US" altLang="zh-CN"/>
          </a:p>
          <a:p>
            <a:r>
              <a:rPr lang="zh-CN" altLang="en-US"/>
              <a:t>注意</a:t>
            </a:r>
            <a:r>
              <a:rPr lang="en-US" altLang="zh-CN"/>
              <a:t>H</a:t>
            </a:r>
            <a:r>
              <a:rPr lang="zh-CN" altLang="en-US"/>
              <a:t>的取值范围</a:t>
            </a:r>
            <a:r>
              <a:rPr lang="en-US" altLang="zh-CN"/>
              <a:t>。</a:t>
            </a:r>
            <a:endParaRPr lang="zh-CN" altLang="en-US"/>
          </a:p>
          <a:p>
            <a:endParaRPr lang="zh-CN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407670"/>
            <a:ext cx="8100695" cy="438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https://leetcode.cn/problems/nZZqjQ/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77781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/>
              <a:t>思路：</a:t>
            </a:r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221105" y="407670"/>
            <a:ext cx="8100695" cy="4381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https://leetcode.cn/problems/nZZqjQ/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1221105" y="1301750"/>
            <a:ext cx="9530715" cy="44659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思路：求最值</a:t>
            </a:r>
            <a:r>
              <a:rPr lang="zh-CN" altLang="en-US"/>
              <a:t>问题。</a:t>
            </a:r>
            <a:endParaRPr lang="zh-CN" altLang="en-US"/>
          </a:p>
          <a:p>
            <a:endParaRPr lang="zh-CN" altLang="en-US">
              <a:sym typeface="+mn-ea"/>
            </a:endParaRPr>
          </a:p>
          <a:p>
            <a:r>
              <a:rPr lang="zh-CN" altLang="en-US">
                <a:sym typeface="+mn-ea"/>
              </a:rPr>
              <a:t>我们二分吃香蕉的</a:t>
            </a:r>
            <a:r>
              <a:rPr lang="zh-CN" altLang="en-US">
                <a:solidFill>
                  <a:srgbClr val="FF0000"/>
                </a:solidFill>
                <a:sym typeface="+mn-ea"/>
              </a:rPr>
              <a:t>速度</a:t>
            </a:r>
            <a:r>
              <a:rPr lang="zh-CN" altLang="en-US">
                <a:sym typeface="+mn-ea"/>
              </a:rPr>
              <a:t>，然后去以这个速度为标准</a:t>
            </a:r>
            <a:r>
              <a:rPr lang="zh-CN" altLang="en-US">
                <a:sym typeface="+mn-ea"/>
              </a:rPr>
              <a:t>吃香蕉头。使用一个judge判断这个解是不是可行解。</a:t>
            </a:r>
            <a:endParaRPr lang="zh-CN" altLang="en-US">
              <a:sym typeface="+mn-ea"/>
            </a:endParaRPr>
          </a:p>
          <a:p>
            <a:endParaRPr lang="zh-CN" altLang="en-US">
              <a:sym typeface="+mn-ea"/>
            </a:endParaRPr>
          </a:p>
          <a:p>
            <a:r>
              <a:rPr lang="zh-CN" altLang="en-US"/>
              <a:t>由于每小时都要吃香蕉，即每小时至少吃 1个香蕉，因此二分查找的下界是 1；由于每小时最多吃一堆香蕉，即每小时吃的香蕉数目不会超过最多的一堆中的香蕉数目，因此二分查找的上界是最多的一堆中的香蕉数目。</a:t>
            </a:r>
            <a:endParaRPr lang="zh-CN" altLang="en-US"/>
          </a:p>
          <a:p>
            <a:endParaRPr lang="zh-CN" altLang="en-US"/>
          </a:p>
          <a:p>
            <a:endParaRPr lang="zh-CN" altLang="en-US"/>
          </a:p>
          <a:p>
            <a:r>
              <a:rPr lang="zh-CN" altLang="en-US">
                <a:sym typeface="+mn-ea"/>
              </a:rPr>
              <a:t>这个judge怎么实现呢？用每堆香蕉的个数除以速度，得到吃完该堆香蕉的时间。然后把每堆时间相加（</a:t>
            </a:r>
            <a:r>
              <a:rPr lang="en-US" altLang="zh-CN">
                <a:sym typeface="+mn-ea"/>
              </a:rPr>
              <a:t>t</a:t>
            </a:r>
            <a:r>
              <a:rPr lang="zh-CN" altLang="en-US">
                <a:sym typeface="+mn-ea"/>
              </a:rPr>
              <a:t>）和</a:t>
            </a:r>
            <a:r>
              <a:rPr lang="en-US" altLang="zh-CN">
                <a:sym typeface="+mn-ea"/>
              </a:rPr>
              <a:t>h</a:t>
            </a:r>
            <a:r>
              <a:rPr lang="zh-CN" altLang="en-US">
                <a:sym typeface="+mn-ea"/>
              </a:rPr>
              <a:t>比较，如果</a:t>
            </a:r>
            <a:r>
              <a:rPr lang="en-US" altLang="zh-CN">
                <a:sym typeface="+mn-ea"/>
              </a:rPr>
              <a:t>t&lt;=h,</a:t>
            </a:r>
            <a:r>
              <a:rPr lang="zh-CN" altLang="en-US">
                <a:sym typeface="+mn-ea"/>
              </a:rPr>
              <a:t>说明速度还可以更小，调整上界。否则说明速度太慢了，需要变大，调整下</a:t>
            </a:r>
            <a:r>
              <a:rPr lang="zh-CN" altLang="en-US">
                <a:sym typeface="+mn-ea"/>
              </a:rPr>
              <a:t>界。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文本框 2"/>
          <p:cNvSpPr txBox="1"/>
          <p:nvPr/>
        </p:nvSpPr>
        <p:spPr>
          <a:xfrm>
            <a:off x="1221105" y="1301750"/>
            <a:ext cx="9382125" cy="48196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/>
              <a:t>下节课课上例题</a:t>
            </a:r>
            <a:r>
              <a:rPr lang="en-US" altLang="zh-CN"/>
              <a:t>：</a:t>
            </a:r>
            <a:endParaRPr lang="en-US" altLang="zh-CN"/>
          </a:p>
          <a:p>
            <a:r>
              <a:rPr lang="zh-CN" altLang="en-US"/>
              <a:t>洛谷</a:t>
            </a:r>
            <a:r>
              <a:rPr lang="en-US" altLang="zh-CN"/>
              <a:t>：</a:t>
            </a:r>
            <a:r>
              <a:rPr lang="zh-CN" altLang="en-US">
                <a:sym typeface="+mn-ea"/>
              </a:rPr>
              <a:t>P2678</a:t>
            </a:r>
            <a:endParaRPr lang="zh-CN" altLang="en-US"/>
          </a:p>
          <a:p>
            <a:endParaRPr lang="en-US" altLang="zh-CN"/>
          </a:p>
          <a:p>
            <a:endParaRPr lang="en-US" altLang="zh-CN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COMMONDATA" val="eyJoZGlkIjoiMjNhN2QzNzIxYTMxZDA2OTMyYTljMDA5MmRhYmMwNjcifQ=="/>
  <p:tag name="KSO_WPP_MARK_KEY" val="e10f3df0-7aec-4e10-8375-7e7a43a1380f"/>
</p:tagLst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1006</Words>
  <Application>WPS 表格</Application>
  <PresentationFormat>宽屏</PresentationFormat>
  <Paragraphs>54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Arial</vt:lpstr>
      <vt:lpstr>宋体</vt:lpstr>
      <vt:lpstr>Wingdings</vt:lpstr>
      <vt:lpstr>微软雅黑</vt:lpstr>
      <vt:lpstr>汉仪旗黑</vt:lpstr>
      <vt:lpstr>宋体</vt:lpstr>
      <vt:lpstr>Arial Unicode MS</vt:lpstr>
      <vt:lpstr>Calibri</vt:lpstr>
      <vt:lpstr>Helvetica Neue</vt:lpstr>
      <vt:lpstr>汉仪书宋二KW</vt:lpstr>
      <vt:lpstr>微软雅黑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喵~</cp:lastModifiedBy>
  <cp:revision>16</cp:revision>
  <dcterms:created xsi:type="dcterms:W3CDTF">2025-02-22T13:52:52Z</dcterms:created>
  <dcterms:modified xsi:type="dcterms:W3CDTF">2025-02-22T13:52:52Z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66C4BA6E48614F6CB73ADF4382AFE09F_12</vt:lpwstr>
  </property>
  <property fmtid="{D5CDD505-2E9C-101B-9397-08002B2CF9AE}" pid="3" name="KSOProductBuildVer">
    <vt:lpwstr>2052-6.15.2.8936</vt:lpwstr>
  </property>
</Properties>
</file>