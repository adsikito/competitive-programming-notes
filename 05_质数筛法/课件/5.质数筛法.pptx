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7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3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8.xml"/><Relationship Id="rId15" Type="http://schemas.openxmlformats.org/officeDocument/2006/relationships/image" Target="../media/image5.png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image" Target="../media/image4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993265" y="1096645"/>
            <a:ext cx="8101965" cy="4533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质数概念：质数，又称素数，是指在大于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的自然数中，除了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和它本身以外不再有其他因数的自然数。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即约数只有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以及它本身的数。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既不是质数也不是合数。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筛质数：将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1---n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之间的质数筛选出来，并保存到一个数组中或者直接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输出。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方法：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）朴素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方法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）埃氏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筛法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）欧拉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筛法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7355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朴素筛法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643267" y="693504"/>
            <a:ext cx="801542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根据定义，因为质数除了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和本身之外没有其他约数，所以判断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是否为质数，根据定义直接判断从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到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n-1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是否存在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的约数即可。代码如下：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1155" y="1536700"/>
            <a:ext cx="5595620" cy="412813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/>
              <a:t>bool isPrime( int n )</a:t>
            </a:r>
            <a:endParaRPr lang="en-US" altLang="zh-CN" sz="1600"/>
          </a:p>
          <a:p>
            <a:r>
              <a:rPr lang="en-US" altLang="zh-CN" sz="1600"/>
              <a:t>{</a:t>
            </a:r>
            <a:endParaRPr lang="en-US" altLang="zh-CN" sz="1600"/>
          </a:p>
          <a:p>
            <a:r>
              <a:rPr lang="en-US" altLang="zh-CN" sz="1600">
                <a:solidFill>
                  <a:srgbClr val="FF007E"/>
                </a:solidFill>
              </a:rPr>
              <a:t>    </a:t>
            </a:r>
            <a:r>
              <a:rPr lang="en-US" altLang="zh-CN" sz="1600"/>
              <a:t>if(n&lt;2) return 0; //0</a:t>
            </a:r>
            <a:r>
              <a:rPr lang="zh-CN" altLang="en-US" sz="1600"/>
              <a:t>和</a:t>
            </a:r>
            <a:r>
              <a:rPr lang="en-US" altLang="zh-CN" sz="1600"/>
              <a:t>1</a:t>
            </a:r>
            <a:r>
              <a:rPr lang="zh-CN" altLang="en-US" sz="1600"/>
              <a:t>不是质数</a:t>
            </a:r>
            <a:endParaRPr lang="en-US" altLang="zh-CN" sz="1600"/>
          </a:p>
          <a:p>
            <a:r>
              <a:rPr lang="en-US" altLang="zh-CN" sz="1600">
                <a:solidFill>
                  <a:srgbClr val="FF007E"/>
                </a:solidFill>
              </a:rPr>
              <a:t>    int tmp =n- 1;//</a:t>
            </a:r>
            <a:r>
              <a:rPr lang="zh-CN" altLang="en-US" sz="1600">
                <a:solidFill>
                  <a:srgbClr val="FF007E"/>
                </a:solidFill>
              </a:rPr>
              <a:t>判断到</a:t>
            </a:r>
            <a:r>
              <a:rPr lang="en-US" altLang="zh-CN" sz="1600">
                <a:solidFill>
                  <a:srgbClr val="FF007E"/>
                </a:solidFill>
              </a:rPr>
              <a:t>n-1</a:t>
            </a:r>
            <a:endParaRPr lang="en-US" altLang="zh-CN" sz="1600">
              <a:solidFill>
                <a:srgbClr val="FF007E"/>
              </a:solidFill>
            </a:endParaRPr>
          </a:p>
          <a:p>
            <a:r>
              <a:rPr lang="en-US" altLang="zh-CN" sz="1600"/>
              <a:t>    for(int i= 2;i &lt;=tmp; i++)</a:t>
            </a:r>
            <a:endParaRPr lang="en-US" altLang="zh-CN" sz="1600"/>
          </a:p>
          <a:p>
            <a:r>
              <a:rPr lang="en-US" altLang="zh-CN" sz="1600"/>
              <a:t>      if(n %i== 0)</a:t>
            </a:r>
            <a:endParaRPr lang="en-US" altLang="zh-CN" sz="1600"/>
          </a:p>
          <a:p>
            <a:r>
              <a:rPr lang="en-US" altLang="zh-CN" sz="1600"/>
              <a:t>         return 0 ; //n</a:t>
            </a:r>
            <a:r>
              <a:rPr lang="zh-CN" altLang="en-US" sz="1600"/>
              <a:t>与比它小的数相除，除的尽则不是质数</a:t>
            </a:r>
            <a:endParaRPr lang="en-US" altLang="zh-CN" sz="1600"/>
          </a:p>
          <a:p>
            <a:r>
              <a:rPr lang="en-US" altLang="zh-CN" sz="1600"/>
              <a:t>    return 1 ; //</a:t>
            </a:r>
            <a:r>
              <a:rPr lang="zh-CN" altLang="en-US" sz="1600"/>
              <a:t>都除不尽，是质数</a:t>
            </a:r>
            <a:endParaRPr lang="en-US" altLang="zh-CN" sz="1600"/>
          </a:p>
          <a:p>
            <a:r>
              <a:rPr lang="en-US" altLang="zh-CN" sz="1600"/>
              <a:t>}</a:t>
            </a:r>
            <a:endParaRPr lang="en-US" altLang="zh-CN" sz="1600"/>
          </a:p>
          <a:p>
            <a:pPr algn="l">
              <a:buClrTx/>
              <a:buSzTx/>
              <a:buNone/>
            </a:pPr>
            <a:r>
              <a:rPr lang="en-US" altLang="zh-CN" sz="1600"/>
              <a:t>for(int i=2;i&lt;=n;i++)</a:t>
            </a:r>
            <a:endParaRPr lang="en-US" altLang="zh-CN" sz="1600"/>
          </a:p>
          <a:p>
            <a:pPr algn="l">
              <a:buClrTx/>
              <a:buSzTx/>
              <a:buNone/>
            </a:pPr>
            <a:r>
              <a:rPr lang="en-US" altLang="zh-CN" sz="1600"/>
              <a:t>{</a:t>
            </a:r>
            <a:endParaRPr lang="en-US" altLang="zh-CN" sz="1600"/>
          </a:p>
          <a:p>
            <a:pPr indent="457200" algn="l">
              <a:buClrTx/>
              <a:buSzTx/>
              <a:buNone/>
            </a:pPr>
            <a:r>
              <a:rPr lang="en-US" altLang="zh-CN" sz="1600"/>
              <a:t>if(</a:t>
            </a:r>
            <a:r>
              <a:rPr lang="en-US" altLang="zh-CN" sz="1600">
                <a:sym typeface="+mn-ea"/>
              </a:rPr>
              <a:t>isPrime(i)==1)</a:t>
            </a:r>
            <a:endParaRPr lang="en-US" altLang="zh-CN" sz="1600">
              <a:sym typeface="+mn-ea"/>
            </a:endParaRPr>
          </a:p>
          <a:p>
            <a:pPr marL="0" lvl="1" indent="457200" algn="l">
              <a:buClrTx/>
              <a:buSzTx/>
              <a:buNone/>
            </a:pPr>
            <a:r>
              <a:rPr lang="en-US" altLang="zh-CN" sz="1600">
                <a:sym typeface="+mn-ea"/>
              </a:rPr>
              <a:t>printf(“%d ”</a:t>
            </a:r>
            <a:r>
              <a:rPr lang="en-US" altLang="zh-CN" sz="1600">
                <a:sym typeface="+mn-ea"/>
              </a:rPr>
              <a:t>，i);</a:t>
            </a:r>
            <a:endParaRPr lang="en-US" altLang="zh-CN" sz="1600"/>
          </a:p>
          <a:p>
            <a:pPr algn="l">
              <a:buClrTx/>
              <a:buSzTx/>
              <a:buNone/>
            </a:pPr>
            <a:r>
              <a:rPr lang="en-US" altLang="zh-CN" sz="1600"/>
              <a:t>}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2196465" y="5852160"/>
            <a:ext cx="6412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时间复杂度是</a:t>
            </a:r>
            <a:r>
              <a:rPr lang="en-US" altLang="zh-CN">
                <a:sym typeface="+mn-ea"/>
              </a:rPr>
              <a:t>O(n^2)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7355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朴素筛法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835037" y="630639"/>
                <a:ext cx="80154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思考一个数去除以比它的一半还要大的数，一定除不尽的，这还用判断吗？？？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因此，只需要除到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。</a:t>
                </a:r>
                <a:endPara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835037" y="630639"/>
                <a:ext cx="8015428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7" t="-13" r="-954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064385" y="1513840"/>
            <a:ext cx="8235950" cy="421703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>
                <a:latin typeface="+mn-ea"/>
              </a:rPr>
              <a:t>bool isPrime ( int n)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{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</a:t>
            </a:r>
            <a:r>
              <a:rPr lang="en-US" altLang="zh-CN"/>
              <a:t>if(n&lt;2) return 0; //0</a:t>
            </a:r>
            <a:r>
              <a:rPr lang="zh-CN" altLang="en-US"/>
              <a:t>和</a:t>
            </a:r>
            <a:r>
              <a:rPr lang="en-US" altLang="zh-CN"/>
              <a:t>1</a:t>
            </a:r>
            <a:r>
              <a:rPr lang="zh-CN" altLang="en-US"/>
              <a:t>不是质数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</a:t>
            </a:r>
            <a:r>
              <a:rPr lang="en-US" altLang="zh-CN">
                <a:solidFill>
                  <a:srgbClr val="FF007E"/>
                </a:solidFill>
                <a:latin typeface="+mn-ea"/>
              </a:rPr>
              <a:t> int tmp =n/2; //</a:t>
            </a:r>
            <a:r>
              <a:rPr lang="zh-CN" altLang="en-US">
                <a:solidFill>
                  <a:srgbClr val="FF007E"/>
                </a:solidFill>
                <a:latin typeface="+mn-ea"/>
              </a:rPr>
              <a:t>判断到</a:t>
            </a:r>
            <a:r>
              <a:rPr lang="en-US" altLang="zh-CN">
                <a:solidFill>
                  <a:srgbClr val="FF007E"/>
                </a:solidFill>
                <a:latin typeface="+mn-ea"/>
              </a:rPr>
              <a:t>n/2</a:t>
            </a:r>
            <a:endParaRPr lang="en-US" altLang="zh-CN">
              <a:solidFill>
                <a:srgbClr val="FF007E"/>
              </a:solidFill>
              <a:latin typeface="+mn-ea"/>
            </a:endParaRPr>
          </a:p>
          <a:p>
            <a:r>
              <a:rPr lang="en-US" altLang="zh-CN">
                <a:latin typeface="+mn-ea"/>
              </a:rPr>
              <a:t>     for(int i= 2;i &lt;=tmp; i++)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   if(n %i== 0) //</a:t>
            </a:r>
            <a:r>
              <a:rPr lang="zh-CN" altLang="en-US">
                <a:latin typeface="+mn-ea"/>
              </a:rPr>
              <a:t>如果</a:t>
            </a:r>
            <a:r>
              <a:rPr lang="en-US" altLang="zh-CN">
                <a:latin typeface="+mn-ea"/>
              </a:rPr>
              <a:t>n</a:t>
            </a:r>
            <a:r>
              <a:rPr lang="zh-CN" altLang="en-US">
                <a:latin typeface="+mn-ea"/>
              </a:rPr>
              <a:t>与某数相除为</a:t>
            </a:r>
            <a:r>
              <a:rPr lang="en-US" altLang="zh-CN">
                <a:latin typeface="+mn-ea"/>
              </a:rPr>
              <a:t>0</a:t>
            </a:r>
            <a:r>
              <a:rPr lang="zh-CN" altLang="en-US">
                <a:latin typeface="+mn-ea"/>
              </a:rPr>
              <a:t>，则不是质数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     return 0 ;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return 1 ;//</a:t>
            </a:r>
            <a:r>
              <a:rPr lang="zh-CN" altLang="en-US">
                <a:latin typeface="+mn-ea"/>
              </a:rPr>
              <a:t>都除不尽，是质数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}</a:t>
            </a:r>
            <a:endParaRPr lang="en-US" altLang="zh-CN">
              <a:latin typeface="+mn-ea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for(int i=2;i&lt;=n;i++)</a:t>
            </a:r>
            <a:endParaRPr lang="en-US" altLang="zh-CN"/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{</a:t>
            </a:r>
            <a:endParaRPr lang="en-US" altLang="zh-CN"/>
          </a:p>
          <a:p>
            <a:pPr indent="457200" algn="l">
              <a:buClrTx/>
              <a:buSzTx/>
              <a:buNone/>
            </a:pPr>
            <a:r>
              <a:rPr lang="en-US" altLang="zh-CN">
                <a:sym typeface="+mn-ea"/>
              </a:rPr>
              <a:t>if(</a:t>
            </a:r>
            <a:r>
              <a:rPr lang="en-US" altLang="zh-CN">
                <a:sym typeface="+mn-ea"/>
              </a:rPr>
              <a:t>isPrime(i)==1)</a:t>
            </a:r>
            <a:endParaRPr lang="en-US" altLang="zh-CN">
              <a:sym typeface="+mn-ea"/>
            </a:endParaRPr>
          </a:p>
          <a:p>
            <a:pPr marL="0" lvl="1" indent="457200" algn="l">
              <a:buClrTx/>
              <a:buSzTx/>
              <a:buNone/>
            </a:pPr>
            <a:r>
              <a:rPr lang="en-US" altLang="zh-CN">
                <a:sym typeface="+mn-ea"/>
              </a:rPr>
              <a:t>printf(“%d ”，i);</a:t>
            </a:r>
            <a:endParaRPr lang="en-US" altLang="zh-CN"/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endParaRPr lang="en-US" altLang="zh-CN" dirty="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978025" y="5967730"/>
            <a:ext cx="6412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时间复杂度是</a:t>
            </a:r>
            <a:r>
              <a:rPr lang="en-US" altLang="zh-CN">
                <a:sym typeface="+mn-ea"/>
              </a:rPr>
              <a:t>O(n^2)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7355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朴素筛法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196465" y="444500"/>
                <a:ext cx="7747000" cy="11455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</a:bodyPr>
              <a:p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一个数若可以进行因数分解，那么分解时得到的两个数一定是一个小于等于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sqrt(n)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，一个大于等于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sqrt(n)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，据此，上述代码中并不需要遍历到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n-1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，遍历到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sqrt(n)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即可，因为若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sqrt(n)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左侧找不到约数，那么右侧也一定找不到约数。因此只要从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2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枚举到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即可。</a:t>
                </a:r>
                <a:endPara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endPara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196465" y="444500"/>
                <a:ext cx="7747000" cy="1145540"/>
              </a:xfrm>
              <a:prstGeom prst="rect">
                <a:avLst/>
              </a:prstGeom>
              <a:blipFill rotWithShape="1">
                <a:blip r:embed="rId3"/>
                <a:stretch>
                  <a:fillRect b="-29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299335" y="1780540"/>
            <a:ext cx="7644130" cy="412813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>
                <a:latin typeface="+mn-ea"/>
              </a:rPr>
              <a:t>bool isPrime ( int n)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{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</a:t>
            </a:r>
            <a:r>
              <a:rPr lang="en-US" altLang="zh-CN">
                <a:solidFill>
                  <a:srgbClr val="FF007E"/>
                </a:solidFill>
              </a:rPr>
              <a:t> </a:t>
            </a:r>
            <a:r>
              <a:rPr lang="en-US" altLang="zh-CN"/>
              <a:t>if(n&lt;2) return 0; //0</a:t>
            </a:r>
            <a:r>
              <a:rPr lang="zh-CN" altLang="en-US"/>
              <a:t>和</a:t>
            </a:r>
            <a:r>
              <a:rPr lang="en-US" altLang="zh-CN"/>
              <a:t>1</a:t>
            </a:r>
            <a:r>
              <a:rPr lang="zh-CN" altLang="en-US"/>
              <a:t>不是质数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</a:t>
            </a:r>
            <a:r>
              <a:rPr lang="en-US" altLang="zh-CN">
                <a:solidFill>
                  <a:srgbClr val="FF007E"/>
                </a:solidFill>
                <a:latin typeface="+mn-ea"/>
              </a:rPr>
              <a:t>int tmp =sqrt(n); //sqrt()</a:t>
            </a:r>
            <a:r>
              <a:rPr lang="zh-CN" altLang="en-US">
                <a:solidFill>
                  <a:srgbClr val="FF007E"/>
                </a:solidFill>
                <a:latin typeface="+mn-ea"/>
              </a:rPr>
              <a:t>是</a:t>
            </a:r>
            <a:r>
              <a:rPr lang="zh-CN" altLang="en-US">
                <a:solidFill>
                  <a:srgbClr val="FF007E"/>
                </a:solidFill>
              </a:rPr>
              <a:t>计算一个非负实数的平方根</a:t>
            </a:r>
            <a:endParaRPr lang="en-US" altLang="zh-CN">
              <a:solidFill>
                <a:srgbClr val="FF007E"/>
              </a:solidFill>
              <a:latin typeface="+mn-ea"/>
            </a:endParaRPr>
          </a:p>
          <a:p>
            <a:r>
              <a:rPr lang="en-US" altLang="zh-CN">
                <a:latin typeface="+mn-ea"/>
              </a:rPr>
              <a:t>     for(int i= 2;i &lt;=tmp; i++)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   if(n %i== 0)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     return 0 ;//</a:t>
            </a:r>
            <a:r>
              <a:rPr lang="zh-CN" altLang="en-US">
                <a:latin typeface="+mn-ea"/>
              </a:rPr>
              <a:t>能整除，是合数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     return 1 ;//</a:t>
            </a:r>
            <a:r>
              <a:rPr lang="zh-CN" altLang="en-US">
                <a:latin typeface="+mn-ea"/>
              </a:rPr>
              <a:t>都除不尽，是质数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}</a:t>
            </a:r>
            <a:endParaRPr lang="en-US" altLang="zh-CN">
              <a:latin typeface="+mn-ea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for(int i=2;i&lt;=n;i++)</a:t>
            </a:r>
            <a:endParaRPr lang="en-US" altLang="zh-CN"/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{</a:t>
            </a:r>
            <a:endParaRPr lang="en-US" altLang="zh-CN"/>
          </a:p>
          <a:p>
            <a:pPr indent="457200" algn="l">
              <a:buClrTx/>
              <a:buSzTx/>
              <a:buNone/>
            </a:pPr>
            <a:r>
              <a:rPr lang="en-US" altLang="zh-CN">
                <a:sym typeface="+mn-ea"/>
              </a:rPr>
              <a:t>if(</a:t>
            </a:r>
            <a:r>
              <a:rPr lang="en-US" altLang="zh-CN">
                <a:sym typeface="+mn-ea"/>
              </a:rPr>
              <a:t>isPrime(i)==1)</a:t>
            </a:r>
            <a:endParaRPr lang="en-US" altLang="zh-CN">
              <a:sym typeface="+mn-ea"/>
            </a:endParaRPr>
          </a:p>
          <a:p>
            <a:pPr marL="0" lvl="1" indent="457200" algn="l">
              <a:buClrTx/>
              <a:buSzTx/>
              <a:buNone/>
            </a:pPr>
            <a:r>
              <a:rPr lang="en-US" altLang="zh-CN">
                <a:sym typeface="+mn-ea"/>
              </a:rPr>
              <a:t>printf(“%d ”，i);</a:t>
            </a:r>
            <a:endParaRPr lang="en-US" altLang="zh-CN"/>
          </a:p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endParaRPr lang="en-US" altLang="zh-CN" dirty="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299335" y="6099175"/>
            <a:ext cx="6412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时间复杂度是</a:t>
            </a:r>
            <a:r>
              <a:rPr lang="en-US" altLang="zh-CN">
                <a:sym typeface="+mn-ea"/>
              </a:rPr>
              <a:t>O(n^(3/2))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052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埃氏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55800" y="782955"/>
            <a:ext cx="7984490" cy="1992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埃拉托色尼选筛法</a:t>
            </a:r>
            <a:r>
              <a:rPr lang="en-US" altLang="zh-CN"/>
              <a:t>(the Sieve of Eratosthenes)</a:t>
            </a:r>
            <a:r>
              <a:rPr lang="zh-CN" altLang="en-US"/>
              <a:t>简称埃氏筛法，是古希腊数学家埃拉托色尼提出的一种筛选法。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基本原理：算术基本定理</a:t>
            </a:r>
            <a:r>
              <a:rPr lang="en-US" altLang="zh-CN"/>
              <a:t>/</a:t>
            </a:r>
            <a:r>
              <a:rPr lang="zh-CN" altLang="en-US"/>
              <a:t>唯一分解定理</a:t>
            </a:r>
            <a:r>
              <a:rPr lang="en-US" altLang="zh-CN"/>
              <a:t>  </a:t>
            </a:r>
            <a:r>
              <a:rPr lang="zh-CN" altLang="en-US"/>
              <a:t>质数的倍数一定</a:t>
            </a:r>
            <a:r>
              <a:rPr lang="zh-CN" altLang="en-US"/>
              <a:t>是合</a:t>
            </a:r>
            <a:r>
              <a:rPr lang="zh-CN" altLang="en-US"/>
              <a:t>数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一个合数总是可以分解成若干个质数的乘积</a:t>
            </a:r>
            <a:r>
              <a:rPr lang="zh-CN" altLang="en-US"/>
              <a:t>，那么如果把质数（最初只知道</a:t>
            </a:r>
            <a:r>
              <a:rPr lang="en-US" altLang="zh-CN"/>
              <a:t>2</a:t>
            </a:r>
            <a:r>
              <a:rPr lang="zh-CN" altLang="en-US"/>
              <a:t>是质数）的倍数都去掉，那么剩下的就是质数了。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602230" y="3054985"/>
            <a:ext cx="6296660" cy="204597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步骤：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1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）先把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1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删除（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1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既不是质数也不是合数）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2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）读取数组中当前最小的数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2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，然后把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2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的倍数删去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3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）读取数组中当前最小的数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3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，然后把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3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的倍数删去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4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）读取数组中当前最小的数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5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，然后把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5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的倍数删去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en-US" altLang="zh-CN" sz="1600">
                <a:solidFill>
                  <a:srgbClr val="555555"/>
                </a:solidFill>
                <a:latin typeface="+mn-ea"/>
              </a:rPr>
              <a:t>.......</a:t>
            </a:r>
            <a:endParaRPr lang="zh-CN" altLang="en-US" sz="1600">
              <a:solidFill>
                <a:srgbClr val="555555"/>
              </a:solidFill>
              <a:latin typeface="+mn-ea"/>
            </a:endParaRPr>
          </a:p>
          <a:p>
            <a:pPr algn="just"/>
            <a:r>
              <a:rPr lang="zh-CN" altLang="en-US" sz="1600">
                <a:solidFill>
                  <a:srgbClr val="555555"/>
                </a:solidFill>
                <a:latin typeface="+mn-ea"/>
              </a:rPr>
              <a:t>（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n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）读取数组中当前最小的状态为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true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的数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n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，然后把</a:t>
            </a:r>
            <a:r>
              <a:rPr lang="en-US" altLang="zh-CN" sz="1600">
                <a:solidFill>
                  <a:srgbClr val="555555"/>
                </a:solidFill>
                <a:latin typeface="+mn-ea"/>
              </a:rPr>
              <a:t>n</a:t>
            </a:r>
            <a:r>
              <a:rPr lang="zh-CN" altLang="en-US" sz="1600">
                <a:solidFill>
                  <a:srgbClr val="555555"/>
                </a:solidFill>
                <a:latin typeface="+mn-ea"/>
              </a:rPr>
              <a:t>的倍数删去</a:t>
            </a:r>
            <a:endParaRPr lang="zh-CN" altLang="en-US" sz="1600" b="0" i="0">
              <a:solidFill>
                <a:srgbClr val="555555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052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埃氏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文本框 28"/>
          <p:cNvSpPr txBox="1"/>
          <p:nvPr>
            <p:custDataLst>
              <p:tags r:id="rId1"/>
            </p:custDataLst>
          </p:nvPr>
        </p:nvSpPr>
        <p:spPr>
          <a:xfrm>
            <a:off x="2119611" y="305294"/>
            <a:ext cx="7858489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p>
            <a:r>
              <a:rPr lang="zh-CN" altLang="en-US"/>
              <a:t>代码思路：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、状态初始化。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、从</a:t>
            </a:r>
            <a:r>
              <a:rPr lang="en-US" altLang="zh-CN"/>
              <a:t>2</a:t>
            </a:r>
            <a:r>
              <a:rPr lang="zh-CN" altLang="en-US"/>
              <a:t>开始，判断是否是质数，保存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7E"/>
                </a:solidFill>
              </a:rPr>
              <a:t>遍历比</a:t>
            </a:r>
            <a:r>
              <a:rPr lang="en-US" altLang="zh-CN">
                <a:solidFill>
                  <a:srgbClr val="FF007E"/>
                </a:solidFill>
              </a:rPr>
              <a:t>n</a:t>
            </a:r>
            <a:r>
              <a:rPr lang="zh-CN" altLang="en-US">
                <a:solidFill>
                  <a:srgbClr val="FF007E"/>
                </a:solidFill>
              </a:rPr>
              <a:t>小的所有</a:t>
            </a:r>
            <a:r>
              <a:rPr lang="en-US" altLang="zh-CN">
                <a:solidFill>
                  <a:srgbClr val="FF007E"/>
                </a:solidFill>
              </a:rPr>
              <a:t>2</a:t>
            </a:r>
            <a:r>
              <a:rPr lang="zh-CN" altLang="en-US">
                <a:solidFill>
                  <a:srgbClr val="FF007E"/>
                </a:solidFill>
              </a:rPr>
              <a:t>的倍数，状态</a:t>
            </a:r>
            <a:endParaRPr lang="en-US" altLang="zh-CN">
              <a:solidFill>
                <a:srgbClr val="FF007E"/>
              </a:solidFill>
            </a:endParaRPr>
          </a:p>
          <a:p>
            <a:r>
              <a:rPr lang="zh-CN" altLang="en-US">
                <a:solidFill>
                  <a:srgbClr val="FF007E"/>
                </a:solidFill>
              </a:rPr>
              <a:t>置</a:t>
            </a:r>
            <a:r>
              <a:rPr lang="en-US" altLang="zh-CN">
                <a:solidFill>
                  <a:srgbClr val="FF007E"/>
                </a:solidFill>
              </a:rPr>
              <a:t>false</a:t>
            </a:r>
            <a:r>
              <a:rPr lang="zh-CN" altLang="en-US">
                <a:solidFill>
                  <a:srgbClr val="FF007E"/>
                </a:solidFill>
              </a:rPr>
              <a:t>。</a:t>
            </a:r>
            <a:endParaRPr lang="en-US" altLang="zh-CN">
              <a:solidFill>
                <a:srgbClr val="FF007E"/>
              </a:solidFill>
            </a:endParaRPr>
          </a:p>
          <a:p>
            <a:r>
              <a:rPr lang="en-US" altLang="zh-CN"/>
              <a:t>3</a:t>
            </a:r>
            <a:r>
              <a:rPr lang="zh-CN" altLang="en-US"/>
              <a:t>、判断是否是质数，保存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7E"/>
                </a:solidFill>
              </a:rPr>
              <a:t>遍历下一个质数即</a:t>
            </a:r>
            <a:r>
              <a:rPr lang="en-US" altLang="zh-CN">
                <a:solidFill>
                  <a:srgbClr val="FF007E"/>
                </a:solidFill>
              </a:rPr>
              <a:t>3</a:t>
            </a:r>
            <a:r>
              <a:rPr lang="zh-CN" altLang="en-US">
                <a:solidFill>
                  <a:srgbClr val="FF007E"/>
                </a:solidFill>
              </a:rPr>
              <a:t>的倍数，并将状态置</a:t>
            </a:r>
            <a:r>
              <a:rPr lang="en-US" altLang="zh-CN">
                <a:solidFill>
                  <a:srgbClr val="FF007E"/>
                </a:solidFill>
              </a:rPr>
              <a:t>false</a:t>
            </a:r>
            <a:r>
              <a:rPr lang="zh-CN" altLang="en-US">
                <a:solidFill>
                  <a:srgbClr val="FF007E"/>
                </a:solidFill>
              </a:rPr>
              <a:t>。</a:t>
            </a:r>
            <a:endParaRPr lang="en-US" altLang="zh-CN">
              <a:solidFill>
                <a:srgbClr val="FF007E"/>
              </a:solidFill>
            </a:endParaRPr>
          </a:p>
          <a:p>
            <a:r>
              <a:rPr lang="en-US" altLang="zh-CN" b="1"/>
              <a:t>…</a:t>
            </a:r>
            <a:endParaRPr lang="zh-CN" altLang="en-US" b="1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405755" y="2362861"/>
            <a:ext cx="73808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+mn-ea"/>
              </a:rPr>
              <a:t>const int </a:t>
            </a:r>
            <a:r>
              <a:rPr lang="en-US" altLang="zh-CN" sz="1400" dirty="0" err="1">
                <a:latin typeface="+mn-ea"/>
              </a:rPr>
              <a:t>maxn</a:t>
            </a:r>
            <a:r>
              <a:rPr lang="en-US" altLang="zh-CN" sz="1400" dirty="0">
                <a:latin typeface="+mn-ea"/>
              </a:rPr>
              <a:t>= 1e7;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bool </a:t>
            </a:r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[</a:t>
            </a:r>
            <a:r>
              <a:rPr lang="en-US" altLang="zh-CN" sz="1400" dirty="0" err="1">
                <a:latin typeface="+mn-ea"/>
              </a:rPr>
              <a:t>maxn</a:t>
            </a:r>
            <a:r>
              <a:rPr lang="en-US" altLang="zh-CN" sz="1400" dirty="0">
                <a:latin typeface="+mn-ea"/>
              </a:rPr>
              <a:t>]; 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int prime[</a:t>
            </a:r>
            <a:r>
              <a:rPr lang="en-US" altLang="zh-CN" sz="1400" dirty="0" err="1">
                <a:latin typeface="+mn-ea"/>
              </a:rPr>
              <a:t>maxn</a:t>
            </a:r>
            <a:r>
              <a:rPr lang="en-US" altLang="zh-CN" sz="1400" dirty="0">
                <a:latin typeface="+mn-ea"/>
              </a:rPr>
              <a:t>];  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int  </a:t>
            </a:r>
            <a:r>
              <a:rPr lang="en-US" altLang="zh-CN" sz="1400" dirty="0" err="1">
                <a:latin typeface="+mn-ea"/>
              </a:rPr>
              <a:t>Era_prime</a:t>
            </a:r>
            <a:r>
              <a:rPr lang="en-US" altLang="zh-CN" sz="1400" dirty="0">
                <a:latin typeface="+mn-ea"/>
              </a:rPr>
              <a:t>(int n){  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int tot = 0;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 err="1">
                <a:latin typeface="+mn-ea"/>
              </a:rPr>
              <a:t>memset</a:t>
            </a:r>
            <a:r>
              <a:rPr lang="en-US" altLang="zh-CN" sz="1400" dirty="0">
                <a:latin typeface="+mn-ea"/>
              </a:rPr>
              <a:t>(</a:t>
            </a:r>
            <a:r>
              <a:rPr lang="en-US" altLang="zh-CN" sz="1400" dirty="0" err="1">
                <a:latin typeface="+mn-ea"/>
              </a:rPr>
              <a:t>IsPrime,true,sizeof</a:t>
            </a:r>
            <a:r>
              <a:rPr lang="en-US" altLang="zh-CN" sz="1400" dirty="0">
                <a:latin typeface="+mn-ea"/>
              </a:rPr>
              <a:t>(</a:t>
            </a:r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)); //</a:t>
            </a:r>
            <a:r>
              <a:rPr lang="zh-CN" altLang="en-US" sz="1400" dirty="0">
                <a:latin typeface="+mn-ea"/>
              </a:rPr>
              <a:t>初始化</a:t>
            </a:r>
            <a:r>
              <a:rPr lang="en-US" altLang="zh-CN" sz="1400" dirty="0">
                <a:latin typeface="+mn-ea"/>
              </a:rPr>
              <a:t>,</a:t>
            </a:r>
            <a:r>
              <a:rPr lang="zh-CN" altLang="en-US" sz="1400" dirty="0">
                <a:latin typeface="+mn-ea"/>
              </a:rPr>
              <a:t>所有数为质数 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[1]=0, </a:t>
            </a:r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[0]=0;</a:t>
            </a:r>
            <a:endParaRPr lang="zh-CN" altLang="en-US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for (int </a:t>
            </a:r>
            <a:r>
              <a:rPr lang="en-US" altLang="zh-CN" sz="1400" dirty="0" err="1">
                <a:latin typeface="+mn-ea"/>
              </a:rPr>
              <a:t>i</a:t>
            </a:r>
            <a:r>
              <a:rPr lang="en-US" altLang="zh-CN" sz="1400" dirty="0">
                <a:latin typeface="+mn-ea"/>
              </a:rPr>
              <a:t> = 2;i &lt;= </a:t>
            </a:r>
            <a:r>
              <a:rPr lang="en-US" altLang="zh-CN" sz="1400" dirty="0" err="1">
                <a:latin typeface="+mn-ea"/>
              </a:rPr>
              <a:t>n;i</a:t>
            </a:r>
            <a:r>
              <a:rPr lang="en-US" altLang="zh-CN" sz="1400" dirty="0">
                <a:latin typeface="+mn-ea"/>
              </a:rPr>
              <a:t>++)  //</a:t>
            </a:r>
            <a:r>
              <a:rPr lang="zh-CN" altLang="en-US" sz="1400" dirty="0">
                <a:latin typeface="+mn-ea"/>
              </a:rPr>
              <a:t>遍历</a:t>
            </a:r>
            <a:r>
              <a:rPr lang="en-US" altLang="zh-CN" sz="1400" dirty="0">
                <a:latin typeface="+mn-ea"/>
              </a:rPr>
              <a:t>2~n</a:t>
            </a:r>
            <a:r>
              <a:rPr lang="zh-CN" altLang="en-US" sz="1400" dirty="0">
                <a:latin typeface="+mn-ea"/>
              </a:rPr>
              <a:t>之间的所有数 </a:t>
            </a:r>
            <a:endParaRPr lang="zh-CN" altLang="en-US" sz="1400" dirty="0">
              <a:latin typeface="+mn-ea"/>
            </a:endParaRPr>
          </a:p>
          <a:p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if (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IsPrime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[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]){   //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从当前质数开始，筛去它的倍数 </a:t>
            </a:r>
            <a:endParaRPr lang="zh-CN" altLang="en-US" sz="1400" dirty="0">
              <a:solidFill>
                <a:srgbClr val="FF007E"/>
              </a:solidFill>
              <a:latin typeface="+mn-ea"/>
            </a:endParaRPr>
          </a:p>
          <a:p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        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prime[tot++] = 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;</a:t>
            </a:r>
            <a:endParaRPr lang="en-US" altLang="zh-CN" sz="1400" dirty="0">
              <a:solidFill>
                <a:srgbClr val="FF007E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        for (int j = 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*2;j &lt;= 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n;j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 += 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) //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从当前质数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倍，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倍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..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直到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j&gt;n </a:t>
            </a:r>
            <a:endParaRPr lang="en-US" altLang="zh-CN" sz="1400" dirty="0">
              <a:solidFill>
                <a:srgbClr val="FF007E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            </a:t>
            </a:r>
            <a:r>
              <a:rPr lang="en-US" altLang="zh-CN" sz="1400" dirty="0" err="1">
                <a:solidFill>
                  <a:srgbClr val="FF007E"/>
                </a:solidFill>
                <a:latin typeface="+mn-ea"/>
              </a:rPr>
              <a:t>IsPrime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[j] = false;//</a:t>
            </a:r>
            <a:r>
              <a:rPr lang="zh-CN" altLang="en-US" sz="1400" dirty="0">
                <a:solidFill>
                  <a:srgbClr val="FF007E"/>
                </a:solidFill>
                <a:latin typeface="+mn-ea"/>
              </a:rPr>
              <a:t>将状态置为</a:t>
            </a:r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false </a:t>
            </a:r>
            <a:endParaRPr lang="en-US" altLang="zh-CN" sz="1400" dirty="0">
              <a:solidFill>
                <a:srgbClr val="FF007E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FF007E"/>
                </a:solidFill>
                <a:latin typeface="+mn-ea"/>
              </a:rPr>
              <a:t>        }</a:t>
            </a:r>
            <a:endParaRPr lang="en-US" altLang="zh-CN" sz="1400" dirty="0">
              <a:solidFill>
                <a:srgbClr val="FF007E"/>
              </a:solidFill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    return tot; //</a:t>
            </a:r>
            <a:r>
              <a:rPr lang="zh-CN" altLang="en-US" sz="1400" dirty="0">
                <a:latin typeface="+mn-ea"/>
              </a:rPr>
              <a:t>返回总共的质数个数 </a:t>
            </a:r>
            <a:endParaRPr lang="zh-CN" altLang="en-US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}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799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埃氏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562100" y="1395730"/>
            <a:ext cx="8815070" cy="2694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埃氏做了许多无用功，一个数会被筛到好几次，比如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是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的倍数，则被筛到了两次，最后的时间复杂度是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nloglogn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如果我们在筛选时，对每一个数只筛一遍，那么这个时间复杂度将会怎样变化呢？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052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欧拉筛法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463415" y="2029708"/>
            <a:ext cx="585065" cy="557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15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053525" y="2124000"/>
            <a:ext cx="40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=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63415" y="2812650"/>
            <a:ext cx="585065" cy="557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110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463414" y="3710516"/>
            <a:ext cx="585065" cy="557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935</a:t>
            </a:r>
            <a:endParaRPr lang="en-US" altLang="zh-CN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339797" y="2134441"/>
                <a:ext cx="314530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2339797" y="2134441"/>
                <a:ext cx="3145305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15" t="-56" r="19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2037964" y="2917415"/>
            <a:ext cx="40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=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 rot="10800000" flipV="1">
            <a:off x="2048479" y="3777440"/>
            <a:ext cx="29131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=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369437" y="2897644"/>
                <a:ext cx="1135641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369437" y="2897644"/>
                <a:ext cx="1135641" cy="368300"/>
              </a:xfrm>
              <a:prstGeom prst="rect">
                <a:avLst/>
              </a:prstGeom>
              <a:blipFill rotWithShape="1">
                <a:blip r:embed="rId12"/>
                <a:stretch>
                  <a:fillRect l="-22" t="-38" r="4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275412" y="3791281"/>
                <a:ext cx="1323689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2275412" y="3791281"/>
                <a:ext cx="1323689" cy="368300"/>
              </a:xfrm>
              <a:prstGeom prst="rect">
                <a:avLst/>
              </a:prstGeom>
              <a:blipFill rotWithShape="1">
                <a:blip r:embed="rId15"/>
                <a:stretch>
                  <a:fillRect l="-16" t="-90" r="42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5485130" y="1749425"/>
            <a:ext cx="5807710" cy="436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原理：规定每个合数只会被它最小的质因数筛去。（后面的质因数直接跳过），这个最小的质因式必定小于它本身。合数</a:t>
            </a:r>
            <a:r>
              <a:rPr lang="en-US" altLang="zh-CN"/>
              <a:t>x</a:t>
            </a:r>
            <a:r>
              <a:rPr lang="zh-CN" altLang="en-US"/>
              <a:t>的质因数肯定数小于</a:t>
            </a:r>
            <a:r>
              <a:rPr lang="en-US" altLang="zh-CN"/>
              <a:t>x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质数</a:t>
            </a:r>
            <a:r>
              <a:rPr lang="en-US" altLang="zh-CN"/>
              <a:t>a，</a:t>
            </a:r>
            <a:r>
              <a:rPr lang="zh-CN" altLang="en-US"/>
              <a:t>被</a:t>
            </a:r>
            <a:r>
              <a:rPr lang="en-US" altLang="zh-CN"/>
              <a:t>a</a:t>
            </a:r>
            <a:r>
              <a:rPr lang="zh-CN" altLang="en-US"/>
              <a:t>筛掉的合数</a:t>
            </a:r>
            <a:r>
              <a:rPr lang="en-US" altLang="zh-CN"/>
              <a:t>y----&gt; y&gt;=a^2</a:t>
            </a:r>
            <a:endParaRPr lang="en-US" altLang="zh-CN"/>
          </a:p>
          <a:p>
            <a:r>
              <a:rPr lang="en-US" altLang="zh-CN"/>
              <a:t>3----&gt; &gt;=9   6=2*3</a:t>
            </a:r>
            <a:endParaRPr lang="en-US" altLang="zh-CN"/>
          </a:p>
          <a:p>
            <a:r>
              <a:rPr lang="en-US" altLang="zh-CN"/>
              <a:t>7----&gt; &gt;=49  28=2*2*7  21=3*7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y&gt;=a^2=a*a  </a:t>
            </a:r>
            <a:r>
              <a:rPr lang="zh-CN" altLang="en-US"/>
              <a:t>被质数</a:t>
            </a:r>
            <a:r>
              <a:rPr lang="en-US" altLang="zh-CN"/>
              <a:t>a</a:t>
            </a:r>
            <a:r>
              <a:rPr lang="zh-CN" altLang="en-US"/>
              <a:t>筛掉的合数至少得数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en-US" altLang="zh-CN"/>
              <a:t>a</a:t>
            </a:r>
            <a:r>
              <a:rPr lang="zh-CN" altLang="en-US"/>
              <a:t>倍</a:t>
            </a:r>
            <a:r>
              <a:rPr lang="en-US" altLang="zh-CN"/>
              <a:t>，</a:t>
            </a:r>
            <a:r>
              <a:rPr lang="zh-CN" altLang="en-US"/>
              <a:t>不可能是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en-US" altLang="zh-CN"/>
              <a:t>2～～a-1</a:t>
            </a:r>
            <a:r>
              <a:rPr lang="zh-CN" altLang="en-US"/>
              <a:t>倍</a:t>
            </a:r>
            <a:r>
              <a:rPr lang="en-US" altLang="zh-CN"/>
              <a:t>。a</a:t>
            </a:r>
            <a:r>
              <a:rPr lang="zh-CN" altLang="en-US"/>
              <a:t>的</a:t>
            </a:r>
            <a:r>
              <a:rPr lang="en-US" altLang="zh-CN"/>
              <a:t>2～～a-1</a:t>
            </a:r>
            <a:r>
              <a:rPr lang="zh-CN" altLang="en-US"/>
              <a:t>倍肯定会被比</a:t>
            </a:r>
            <a:r>
              <a:rPr lang="en-US" altLang="zh-CN"/>
              <a:t>a</a:t>
            </a:r>
            <a:r>
              <a:rPr lang="zh-CN" altLang="en-US"/>
              <a:t>小的质数筛掉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z=a*k(2&lt;=k&lt;a)</a:t>
            </a:r>
            <a:r>
              <a:rPr lang="zh-CN" altLang="en-US"/>
              <a:t>证明</a:t>
            </a:r>
            <a:r>
              <a:rPr lang="en-US" altLang="zh-CN"/>
              <a:t>z</a:t>
            </a:r>
            <a:r>
              <a:rPr lang="zh-CN" altLang="en-US"/>
              <a:t>会被比</a:t>
            </a:r>
            <a:r>
              <a:rPr lang="en-US" altLang="zh-CN"/>
              <a:t>a</a:t>
            </a:r>
            <a:r>
              <a:rPr lang="zh-CN" altLang="en-US"/>
              <a:t>小的质数</a:t>
            </a:r>
            <a:r>
              <a:rPr lang="zh-CN" altLang="en-US"/>
              <a:t>筛掉</a:t>
            </a:r>
            <a:endParaRPr lang="zh-CN" altLang="en-US"/>
          </a:p>
          <a:p>
            <a:r>
              <a:rPr lang="en-US" altLang="zh-CN"/>
              <a:t>1.k</a:t>
            </a:r>
            <a:r>
              <a:rPr lang="zh-CN" altLang="en-US"/>
              <a:t>是质数</a:t>
            </a:r>
            <a:r>
              <a:rPr lang="en-US" altLang="zh-CN"/>
              <a:t> k</a:t>
            </a:r>
            <a:r>
              <a:rPr lang="zh-CN" altLang="en-US"/>
              <a:t>就是</a:t>
            </a:r>
            <a:r>
              <a:rPr lang="en-US" altLang="zh-CN"/>
              <a:t>z</a:t>
            </a:r>
            <a:r>
              <a:rPr lang="zh-CN" altLang="en-US"/>
              <a:t>的最小的质因数</a:t>
            </a:r>
            <a:r>
              <a:rPr lang="en-US" altLang="zh-CN"/>
              <a:t> </a:t>
            </a:r>
            <a:r>
              <a:rPr lang="zh-CN" altLang="en-US"/>
              <a:t>得</a:t>
            </a:r>
            <a:r>
              <a:rPr lang="zh-CN" altLang="en-US"/>
              <a:t>证</a:t>
            </a:r>
            <a:endParaRPr lang="zh-CN" altLang="en-US"/>
          </a:p>
          <a:p>
            <a:r>
              <a:rPr lang="en-US" altLang="zh-CN"/>
              <a:t>2.k</a:t>
            </a:r>
            <a:r>
              <a:rPr lang="zh-CN" altLang="en-US"/>
              <a:t>是合数</a:t>
            </a:r>
            <a:r>
              <a:rPr lang="en-US" altLang="zh-CN"/>
              <a:t> k</a:t>
            </a:r>
            <a:r>
              <a:rPr lang="zh-CN" altLang="en-US"/>
              <a:t>又可以被分解为若干个质数的乘积</a:t>
            </a:r>
            <a:r>
              <a:rPr lang="en-US" altLang="zh-CN"/>
              <a:t> </a:t>
            </a:r>
            <a:r>
              <a:rPr lang="zh-CN" altLang="en-US"/>
              <a:t>这些质数肯定也是</a:t>
            </a:r>
            <a:r>
              <a:rPr lang="en-US" altLang="zh-CN"/>
              <a:t>z</a:t>
            </a:r>
            <a:r>
              <a:rPr lang="zh-CN" altLang="en-US"/>
              <a:t>的</a:t>
            </a:r>
            <a:r>
              <a:rPr lang="zh-CN" altLang="en-US"/>
              <a:t>质因数并且比</a:t>
            </a:r>
            <a:r>
              <a:rPr lang="en-US" altLang="zh-CN"/>
              <a:t>a</a:t>
            </a:r>
            <a:r>
              <a:rPr lang="zh-CN" altLang="en-US"/>
              <a:t>小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503680" y="817880"/>
            <a:ext cx="7629525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算术基本定理（唯一分解定理）：任何合数都能表示为若干质数的乘积，且该分解因式是唯一的。（不考虑</a:t>
            </a:r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顺序性）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052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欧拉筛法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600780" y="397009"/>
            <a:ext cx="6435715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const int </a:t>
            </a:r>
            <a:r>
              <a:rPr lang="en-US" altLang="zh-CN" sz="1400" dirty="0" err="1"/>
              <a:t>maxn</a:t>
            </a:r>
            <a:r>
              <a:rPr lang="en-US" altLang="zh-CN" sz="1400" dirty="0"/>
              <a:t>= 1e7;</a:t>
            </a:r>
            <a:endParaRPr lang="en-US" altLang="zh-CN" sz="1400" dirty="0"/>
          </a:p>
          <a:p>
            <a:r>
              <a:rPr lang="en-US" altLang="zh-CN" sz="1400" dirty="0"/>
              <a:t>bool </a:t>
            </a:r>
            <a:r>
              <a:rPr lang="en-US" altLang="zh-CN" sz="1400" dirty="0" err="1"/>
              <a:t>IsPrime</a:t>
            </a:r>
            <a:r>
              <a:rPr lang="en-US" altLang="zh-CN" sz="1400" dirty="0"/>
              <a:t>[</a:t>
            </a:r>
            <a:r>
              <a:rPr lang="en-US" altLang="zh-CN" sz="1400" dirty="0" err="1"/>
              <a:t>maxn</a:t>
            </a:r>
            <a:r>
              <a:rPr lang="en-US" altLang="zh-CN" sz="1400" dirty="0"/>
              <a:t>]; </a:t>
            </a:r>
            <a:endParaRPr lang="en-US" altLang="zh-CN" sz="1400" dirty="0"/>
          </a:p>
          <a:p>
            <a:r>
              <a:rPr lang="en-US" altLang="zh-CN" sz="1400" dirty="0"/>
              <a:t>int prime[</a:t>
            </a:r>
            <a:r>
              <a:rPr lang="en-US" altLang="zh-CN" sz="1400" dirty="0" err="1"/>
              <a:t>maxn</a:t>
            </a:r>
            <a:r>
              <a:rPr lang="en-US" altLang="zh-CN" sz="1400" dirty="0"/>
              <a:t>];  </a:t>
            </a:r>
            <a:endParaRPr lang="en-US" altLang="zh-CN" sz="1400" dirty="0"/>
          </a:p>
          <a:p>
            <a:r>
              <a:rPr lang="en-US" altLang="zh-CN" sz="1400" dirty="0"/>
              <a:t>int  </a:t>
            </a:r>
            <a:r>
              <a:rPr lang="en-US" altLang="zh-CN" sz="1400" dirty="0" err="1"/>
              <a:t>Euler_prime</a:t>
            </a:r>
            <a:r>
              <a:rPr lang="en-US" altLang="zh-CN" sz="1400" dirty="0"/>
              <a:t>(int n){  </a:t>
            </a:r>
            <a:endParaRPr lang="en-US" altLang="zh-CN" sz="1400" dirty="0"/>
          </a:p>
          <a:p>
            <a:r>
              <a:rPr lang="en-US" altLang="zh-CN" sz="1400" dirty="0"/>
              <a:t>    int tot = 0;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memset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IsPrime,true,sizeof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IsPrime</a:t>
            </a:r>
            <a:r>
              <a:rPr lang="en-US" altLang="zh-CN" sz="1400" dirty="0"/>
              <a:t>));//</a:t>
            </a:r>
            <a:r>
              <a:rPr lang="zh-CN" altLang="en-US" sz="1400" dirty="0"/>
              <a:t>初始化，默认所有数为质数 </a:t>
            </a:r>
            <a:endParaRPr lang="en-US" altLang="zh-CN" sz="1400" dirty="0"/>
          </a:p>
          <a:p>
            <a:r>
              <a:rPr lang="en-US" altLang="zh-CN" sz="1400" dirty="0">
                <a:latin typeface="+mn-ea"/>
              </a:rPr>
              <a:t>   </a:t>
            </a:r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[1]=0, </a:t>
            </a:r>
            <a:r>
              <a:rPr lang="en-US" altLang="zh-CN" sz="1400" dirty="0" err="1">
                <a:latin typeface="+mn-ea"/>
              </a:rPr>
              <a:t>Isprime</a:t>
            </a:r>
            <a:r>
              <a:rPr lang="en-US" altLang="zh-CN" sz="1400" dirty="0">
                <a:latin typeface="+mn-ea"/>
              </a:rPr>
              <a:t>[0]=0;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for (int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= 2;i &lt;= </a:t>
            </a:r>
            <a:r>
              <a:rPr lang="en-US" altLang="zh-CN" sz="1400" dirty="0" err="1"/>
              <a:t>n;i</a:t>
            </a:r>
            <a:r>
              <a:rPr lang="en-US" altLang="zh-CN" sz="1400" dirty="0"/>
              <a:t>++){  //</a:t>
            </a:r>
            <a:r>
              <a:rPr lang="zh-CN" altLang="en-US" sz="1400" dirty="0"/>
              <a:t>外层循环从</a:t>
            </a:r>
            <a:r>
              <a:rPr lang="en-US" altLang="zh-CN" sz="1400" dirty="0"/>
              <a:t>2~n</a:t>
            </a:r>
            <a:r>
              <a:rPr lang="zh-CN" altLang="en-US" sz="1400" dirty="0"/>
              <a:t>开始遍历 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if (</a:t>
            </a:r>
            <a:r>
              <a:rPr lang="en-US" altLang="zh-CN" sz="1400" dirty="0" err="1"/>
              <a:t>IsPrime</a:t>
            </a:r>
            <a:r>
              <a:rPr lang="en-US" altLang="zh-CN" sz="1400" dirty="0"/>
              <a:t>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]) </a:t>
            </a:r>
            <a:endParaRPr lang="en-US" altLang="zh-CN" sz="1400" dirty="0"/>
          </a:p>
          <a:p>
            <a:r>
              <a:rPr lang="en-US" altLang="zh-CN" sz="1400" dirty="0"/>
              <a:t>    prime[tot++] =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 //</a:t>
            </a:r>
            <a:r>
              <a:rPr lang="zh-CN" altLang="en-US" sz="1400" dirty="0"/>
              <a:t>当前状态是</a:t>
            </a:r>
            <a:r>
              <a:rPr lang="en-US" altLang="zh-CN" sz="1400" dirty="0"/>
              <a:t>true,</a:t>
            </a:r>
            <a:r>
              <a:rPr lang="zh-CN" altLang="en-US" sz="1400" dirty="0"/>
              <a:t>记录</a:t>
            </a:r>
            <a:endParaRPr lang="zh-CN" altLang="en-US" sz="1400" dirty="0"/>
          </a:p>
          <a:p>
            <a:r>
              <a:rPr lang="zh-CN" altLang="en-US" sz="1400" dirty="0">
                <a:solidFill>
                  <a:srgbClr val="FF007E"/>
                </a:solidFill>
              </a:rPr>
              <a:t>    </a:t>
            </a:r>
            <a:r>
              <a:rPr lang="en-US" altLang="zh-CN" sz="1400" dirty="0">
                <a:solidFill>
                  <a:srgbClr val="FF007E"/>
                </a:solidFill>
              </a:rPr>
              <a:t>for (int j = 0;j &lt; </a:t>
            </a:r>
            <a:r>
              <a:rPr lang="en-US" altLang="zh-CN" sz="1400" dirty="0" err="1">
                <a:solidFill>
                  <a:srgbClr val="FF007E"/>
                </a:solidFill>
              </a:rPr>
              <a:t>tot;j</a:t>
            </a:r>
            <a:r>
              <a:rPr lang="en-US" altLang="zh-CN" sz="1400" dirty="0">
                <a:solidFill>
                  <a:srgbClr val="FF007E"/>
                </a:solidFill>
              </a:rPr>
              <a:t>++){ //</a:t>
            </a:r>
            <a:r>
              <a:rPr lang="zh-CN" altLang="en-US" sz="1400" dirty="0">
                <a:solidFill>
                  <a:srgbClr val="FF007E"/>
                </a:solidFill>
              </a:rPr>
              <a:t>遍历素数表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    if (</a:t>
            </a:r>
            <a:r>
              <a:rPr lang="en-US" altLang="zh-CN" sz="1400" dirty="0" err="1">
                <a:solidFill>
                  <a:srgbClr val="FF007E"/>
                </a:solidFill>
              </a:rPr>
              <a:t>i</a:t>
            </a:r>
            <a:r>
              <a:rPr lang="en-US" altLang="zh-CN" sz="1400" dirty="0">
                <a:solidFill>
                  <a:srgbClr val="FF007E"/>
                </a:solidFill>
              </a:rPr>
              <a:t>*prime[j] &gt; n)//</a:t>
            </a:r>
            <a:r>
              <a:rPr lang="zh-CN" altLang="en-US" sz="1400" dirty="0">
                <a:solidFill>
                  <a:srgbClr val="FF007E"/>
                </a:solidFill>
              </a:rPr>
              <a:t>超过最大范围，跳出 </a:t>
            </a:r>
            <a:endParaRPr lang="zh-CN" altLang="en-US" sz="1400" dirty="0">
              <a:solidFill>
                <a:srgbClr val="FF007E"/>
              </a:solidFill>
            </a:endParaRPr>
          </a:p>
          <a:p>
            <a:r>
              <a:rPr lang="zh-CN" altLang="en-US" sz="1400" dirty="0">
                <a:solidFill>
                  <a:srgbClr val="FF007E"/>
                </a:solidFill>
              </a:rPr>
              <a:t>            </a:t>
            </a:r>
            <a:r>
              <a:rPr lang="en-US" altLang="zh-CN" sz="1400" dirty="0">
                <a:solidFill>
                  <a:srgbClr val="FF007E"/>
                </a:solidFill>
              </a:rPr>
              <a:t>break;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    </a:t>
            </a:r>
            <a:r>
              <a:rPr lang="en-US" altLang="zh-CN" sz="1400" dirty="0" err="1">
                <a:solidFill>
                  <a:srgbClr val="FF007E"/>
                </a:solidFill>
              </a:rPr>
              <a:t>IsPrime</a:t>
            </a:r>
            <a:r>
              <a:rPr lang="en-US" altLang="zh-CN" sz="1400" dirty="0">
                <a:solidFill>
                  <a:srgbClr val="FF007E"/>
                </a:solidFill>
              </a:rPr>
              <a:t>[</a:t>
            </a:r>
            <a:r>
              <a:rPr lang="en-US" altLang="zh-CN" sz="1400" dirty="0" err="1">
                <a:solidFill>
                  <a:srgbClr val="FF007E"/>
                </a:solidFill>
              </a:rPr>
              <a:t>i</a:t>
            </a:r>
            <a:r>
              <a:rPr lang="en-US" altLang="zh-CN" sz="1400" dirty="0">
                <a:solidFill>
                  <a:srgbClr val="FF007E"/>
                </a:solidFill>
              </a:rPr>
              <a:t>*prime[j]] = false;//</a:t>
            </a:r>
            <a:r>
              <a:rPr lang="zh-CN" altLang="en-US" sz="1400" dirty="0">
                <a:solidFill>
                  <a:srgbClr val="FF007E"/>
                </a:solidFill>
              </a:rPr>
              <a:t>将倍数</a:t>
            </a:r>
            <a:r>
              <a:rPr lang="en-US" altLang="zh-CN" sz="1400" dirty="0" err="1">
                <a:solidFill>
                  <a:srgbClr val="FF007E"/>
                </a:solidFill>
              </a:rPr>
              <a:t>i</a:t>
            </a:r>
            <a:r>
              <a:rPr lang="zh-CN" altLang="en-US" sz="1400" dirty="0">
                <a:solidFill>
                  <a:srgbClr val="FF007E"/>
                </a:solidFill>
              </a:rPr>
              <a:t>倍*某个质数筛除 </a:t>
            </a:r>
            <a:endParaRPr lang="zh-CN" altLang="en-US" sz="1400" dirty="0">
              <a:solidFill>
                <a:srgbClr val="FF007E"/>
              </a:solidFill>
            </a:endParaRPr>
          </a:p>
          <a:p>
            <a:r>
              <a:rPr lang="zh-CN" altLang="en-US" sz="1400" dirty="0">
                <a:solidFill>
                  <a:srgbClr val="FF007E"/>
                </a:solidFill>
              </a:rPr>
              <a:t>        </a:t>
            </a:r>
            <a:r>
              <a:rPr lang="en-US" altLang="zh-CN" sz="1400" dirty="0">
                <a:solidFill>
                  <a:srgbClr val="FF007E"/>
                </a:solidFill>
              </a:rPr>
              <a:t>if (</a:t>
            </a:r>
            <a:r>
              <a:rPr lang="en-US" altLang="zh-CN" sz="1400" dirty="0" err="1">
                <a:solidFill>
                  <a:srgbClr val="FF007E"/>
                </a:solidFill>
              </a:rPr>
              <a:t>i%prime</a:t>
            </a:r>
            <a:r>
              <a:rPr lang="en-US" altLang="zh-CN" sz="1400" dirty="0">
                <a:solidFill>
                  <a:srgbClr val="FF007E"/>
                </a:solidFill>
              </a:rPr>
              <a:t>[j] == 0)//</a:t>
            </a:r>
            <a:r>
              <a:rPr lang="zh-CN" altLang="en-US" sz="1400" dirty="0">
                <a:solidFill>
                  <a:srgbClr val="FF007E"/>
                </a:solidFill>
              </a:rPr>
              <a:t>保证只筛到以</a:t>
            </a:r>
            <a:r>
              <a:rPr lang="en-US" altLang="zh-CN" sz="1400" dirty="0">
                <a:solidFill>
                  <a:srgbClr val="FF007E"/>
                </a:solidFill>
              </a:rPr>
              <a:t>prime[j]</a:t>
            </a:r>
            <a:r>
              <a:rPr lang="zh-CN" altLang="en-US" sz="1400" dirty="0">
                <a:solidFill>
                  <a:srgbClr val="FF007E"/>
                </a:solidFill>
              </a:rPr>
              <a:t>为最小质因数的数，退出内层循环</a:t>
            </a:r>
            <a:endParaRPr lang="zh-CN" altLang="en-US" sz="1400" dirty="0">
              <a:solidFill>
                <a:srgbClr val="FF007E"/>
              </a:solidFill>
            </a:endParaRPr>
          </a:p>
          <a:p>
            <a:r>
              <a:rPr lang="zh-CN" altLang="en-US" sz="1400" dirty="0">
                <a:solidFill>
                  <a:srgbClr val="FF007E"/>
                </a:solidFill>
              </a:rPr>
              <a:t>            </a:t>
            </a:r>
            <a:r>
              <a:rPr lang="en-US" altLang="zh-CN" sz="1400" dirty="0">
                <a:solidFill>
                  <a:srgbClr val="FF007E"/>
                </a:solidFill>
              </a:rPr>
              <a:t>break;// 换言之，i 之前被 pri[j] 筛过了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    // 由于 pri 里面质数是从小到大的，所以 i乘上其他的质数的结果一定会被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    // pri[j]的倍数筛掉，就不需要在这里先筛一次，所以这里直接 break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    // 掉就好了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>
                <a:solidFill>
                  <a:srgbClr val="FF007E"/>
                </a:solidFill>
              </a:rPr>
              <a:t>    }</a:t>
            </a:r>
            <a:endParaRPr lang="en-US" altLang="zh-CN" sz="1400" dirty="0">
              <a:solidFill>
                <a:srgbClr val="FF007E"/>
              </a:solidFill>
            </a:endParaRPr>
          </a:p>
          <a:p>
            <a:r>
              <a:rPr lang="en-US" altLang="zh-CN" sz="1400" dirty="0"/>
              <a:t>   }</a:t>
            </a:r>
            <a:endParaRPr lang="en-US" altLang="zh-CN" sz="1400" dirty="0"/>
          </a:p>
          <a:p>
            <a:r>
              <a:rPr lang="en-US" altLang="zh-CN" sz="1400" dirty="0"/>
              <a:t>    return tot; 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495550" y="5443220"/>
            <a:ext cx="64122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时间复杂度是</a:t>
            </a:r>
            <a:r>
              <a:rPr lang="en-US" altLang="zh-CN">
                <a:sym typeface="+mn-ea"/>
              </a:rPr>
              <a:t>O(n)</a:t>
            </a:r>
            <a:r>
              <a:rPr lang="zh-CN" altLang="en-US">
                <a:sym typeface="+mn-ea"/>
              </a:rPr>
              <a:t>。线性时间复杂度，</a:t>
            </a:r>
            <a:r>
              <a:rPr lang="zh-CN" altLang="en-US">
                <a:sym typeface="+mn-ea"/>
              </a:rPr>
              <a:t>线性筛。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7E"/>
                </a:solidFill>
                <a:sym typeface="+mn-ea"/>
              </a:rPr>
              <a:t>板子题：</a:t>
            </a:r>
            <a:r>
              <a:rPr lang="en-US" altLang="zh-CN">
                <a:solidFill>
                  <a:srgbClr val="FF007E"/>
                </a:solidFill>
                <a:sym typeface="+mn-ea"/>
              </a:rPr>
              <a:t>https://www.luogu.org/problemnew/show/P3383</a:t>
            </a:r>
            <a:endParaRPr lang="zh-CN" altLang="en-US">
              <a:solidFill>
                <a:srgbClr val="FF007E"/>
              </a:solidFill>
            </a:endParaRPr>
          </a:p>
          <a:p>
            <a:endParaRPr lang="zh-CN" altLang="en-US"/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0520" y="137795"/>
            <a:ext cx="1769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欧拉筛法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40180" y="1151890"/>
          <a:ext cx="835279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380"/>
                <a:gridCol w="1301115"/>
                <a:gridCol w="1663700"/>
                <a:gridCol w="449580"/>
                <a:gridCol w="2449830"/>
                <a:gridCol w="1861185"/>
              </a:tblGrid>
              <a:tr h="327660">
                <a:tc>
                  <a:txBody>
                    <a:bodyPr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i</a:t>
                      </a:r>
                      <a:r>
                        <a:rPr lang="en-US" sz="1200" b="1" u="none" strike="noStrike" dirty="0">
                          <a:effectLst/>
                        </a:rPr>
                        <a:t>=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素数表 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筛除的数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i=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素数表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</a:rPr>
                        <a:t>筛除的数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2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{4}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13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{26,39....}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3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{6,9}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14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{28}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4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{8}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15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{30,45}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5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{10,15,25}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16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{32}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6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{12}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17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{34....}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7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{14,21,35,49}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18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{36}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8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{16}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19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{2,3,5,7,11,13,17,19}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{38....}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9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{18,27}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20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{2,3,5,7,11,13,17,19}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{40}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10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{2,3,5,7}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{20}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21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{2,3,5,7,11,13,17,19}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{42,63}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11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{22,33....}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22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{2,3,5,7,11,13,17,19}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{44}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12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{2,3,5,7,11}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{24}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…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>
                          <a:effectLst/>
                        </a:rPr>
                        <a:t>…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u="none" strike="noStrike" dirty="0">
                          <a:effectLst/>
                        </a:rPr>
                        <a:t>…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820" marR="7820" marT="78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93925" y="341630"/>
            <a:ext cx="254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 </a:t>
            </a:r>
            <a:r>
              <a:rPr lang="zh-CN" altLang="en-US"/>
              <a:t>枚举</a:t>
            </a:r>
            <a:r>
              <a:rPr lang="zh-CN" altLang="en-US"/>
              <a:t>倍数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UNIT_TABLE_BEAUTIFY" val="smartTable{8eacee8a-6581-4ae5-9d9a-6dba8beed900}"/>
  <p:tag name="KSO_WM_BEAUTIFY_FLAG" val=""/>
  <p:tag name="TABLE_ENDDRAG_ORIGIN_RECT" val="657*309"/>
  <p:tag name="TABLE_ENDDRAG_RECT" val="113*90*657*309"/>
</p:tagLst>
</file>

<file path=ppt/tags/tag32.xml><?xml version="1.0" encoding="utf-8"?>
<p:tagLst xmlns:p="http://schemas.openxmlformats.org/presentationml/2006/main">
  <p:tag name="COMMONDATA" val="eyJoZGlkIjoiMjNhN2QzNzIxYTMxZDA2OTMyYTljMDA5MmRhYmMwNjcifQ=="/>
  <p:tag name="KSO_WPP_MARK_KEY" val="6c0390dc-4ee1-4a83-8568-3e015b57229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3690</Words>
  <Application>WPS 表格</Application>
  <PresentationFormat>宽屏</PresentationFormat>
  <Paragraphs>357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Kingsoft Math</vt:lpstr>
      <vt:lpstr>DejaVu Math TeX Gyre</vt:lpstr>
      <vt:lpstr>Tahoma</vt:lpstr>
      <vt:lpstr>汉仪书宋二KW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14</cp:revision>
  <dcterms:created xsi:type="dcterms:W3CDTF">2025-02-27T14:15:19Z</dcterms:created>
  <dcterms:modified xsi:type="dcterms:W3CDTF">2025-02-27T14:15:19Z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6659622294ED44388BFE40BC86E14FE4_12</vt:lpwstr>
  </property>
  <property fmtid="{D5CDD505-2E9C-101B-9397-08002B2CF9AE}" pid="3" name="KSOProductBuildVer">
    <vt:lpwstr>2052-6.15.2.8936</vt:lpwstr>
  </property>
</Properties>
</file>