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98" r:id="rId3"/>
    <p:sldId id="299" r:id="rId4"/>
    <p:sldId id="285" r:id="rId5"/>
    <p:sldId id="308" r:id="rId6"/>
    <p:sldId id="314" r:id="rId7"/>
    <p:sldId id="315" r:id="rId8"/>
    <p:sldId id="316" r:id="rId9"/>
    <p:sldId id="317" r:id="rId10"/>
    <p:sldId id="287" r:id="rId11"/>
    <p:sldId id="294" r:id="rId12"/>
    <p:sldId id="309" r:id="rId13"/>
    <p:sldId id="310" r:id="rId14"/>
    <p:sldId id="313" r:id="rId15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5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2920" y="867410"/>
            <a:ext cx="11433175" cy="4842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最短路</a:t>
            </a:r>
            <a:r>
              <a:rPr lang="zh-CN" altLang="en-US">
                <a:sym typeface="+mn-ea"/>
              </a:rPr>
              <a:t>算法：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pPr indent="457200"/>
            <a:r>
              <a:rPr lang="zh-CN" altLang="en-US" dirty="0">
                <a:sym typeface="+mn-ea"/>
              </a:rPr>
              <a:t>1.Floyd算法：</a:t>
            </a:r>
            <a:r>
              <a:rPr lang="en-US" altLang="zh-CN" dirty="0">
                <a:sym typeface="+mn-ea"/>
              </a:rPr>
              <a:t>O(|V|^3)</a:t>
            </a:r>
            <a:r>
              <a:rPr lang="zh-CN" altLang="en-US" dirty="0">
                <a:sym typeface="+mn-ea"/>
              </a:rPr>
              <a:t>，多源最短路，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适用于出现负边权</a:t>
            </a:r>
            <a:r>
              <a:rPr lang="zh-CN" altLang="en-US" dirty="0">
                <a:sym typeface="+mn-ea"/>
              </a:rPr>
              <a:t>的情况，</a:t>
            </a:r>
            <a:r>
              <a:rPr lang="zh-CN" altLang="en-US" dirty="0">
                <a:sym typeface="宋体" pitchFamily="2" charset="-122"/>
              </a:rPr>
              <a:t>但</a:t>
            </a:r>
            <a:r>
              <a:rPr lang="zh-CN" altLang="en-US" dirty="0">
                <a:solidFill>
                  <a:srgbClr val="FF0000"/>
                </a:solidFill>
                <a:sym typeface="宋体" pitchFamily="2" charset="-122"/>
              </a:rPr>
              <a:t>无法处理存在负权回路</a:t>
            </a:r>
            <a:r>
              <a:rPr lang="zh-CN" altLang="en-US" dirty="0">
                <a:sym typeface="宋体" pitchFamily="2" charset="-122"/>
              </a:rPr>
              <a:t>的情况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>
              <a:sym typeface="+mn-ea"/>
            </a:endParaRPr>
          </a:p>
          <a:p>
            <a:pPr indent="457200"/>
            <a:endParaRPr lang="zh-CN" altLang="en-US" dirty="0">
              <a:sym typeface="+mn-ea"/>
            </a:endParaRPr>
          </a:p>
          <a:p>
            <a:pPr indent="457200"/>
            <a:r>
              <a:rPr lang="zh-CN" altLang="en-US" dirty="0">
                <a:sym typeface="宋体" pitchFamily="2" charset="-122"/>
              </a:rPr>
              <a:t>2.</a:t>
            </a:r>
            <a:r>
              <a:rPr lang="zh-CN" altLang="en-US" dirty="0">
                <a:sym typeface="Times New Roman" panose="02020503050405090304" pitchFamily="18" charset="0"/>
              </a:rPr>
              <a:t>Dijkstra</a:t>
            </a:r>
            <a:r>
              <a:rPr lang="zh-CN" altLang="en-US" dirty="0">
                <a:sym typeface="宋体" pitchFamily="2" charset="-122"/>
              </a:rPr>
              <a:t>算法：</a:t>
            </a:r>
            <a:r>
              <a:rPr lang="zh-CN" altLang="en-US" dirty="0">
                <a:sym typeface="+mn-ea"/>
              </a:rPr>
              <a:t>O(</a:t>
            </a:r>
            <a:r>
              <a:rPr lang="en-US" altLang="zh-CN" dirty="0">
                <a:sym typeface="+mn-ea"/>
              </a:rPr>
              <a:t>|V|^2</a:t>
            </a:r>
            <a:r>
              <a:rPr lang="zh-CN" altLang="en-US" dirty="0">
                <a:sym typeface="+mn-ea"/>
              </a:rPr>
              <a:t>)，单源最短路，</a:t>
            </a:r>
            <a:r>
              <a:rPr lang="zh-CN" altLang="en-US" dirty="0">
                <a:solidFill>
                  <a:srgbClr val="FF0000"/>
                </a:solidFill>
                <a:sym typeface="宋体" pitchFamily="2" charset="-122"/>
              </a:rPr>
              <a:t>不能处理存在负边权</a:t>
            </a:r>
            <a:r>
              <a:rPr lang="zh-CN" altLang="en-US" dirty="0">
                <a:sym typeface="宋体" pitchFamily="2" charset="-122"/>
              </a:rPr>
              <a:t>的情况。</a:t>
            </a:r>
            <a:endParaRPr lang="zh-CN" altLang="en-US" dirty="0">
              <a:solidFill>
                <a:schemeClr val="tx1"/>
              </a:solidFill>
            </a:endParaRPr>
          </a:p>
          <a:p>
            <a:pPr indent="457200"/>
            <a:endParaRPr lang="zh-CN" altLang="en-US" dirty="0">
              <a:sym typeface="宋体" pitchFamily="2" charset="-122"/>
            </a:endParaRPr>
          </a:p>
          <a:p>
            <a:pPr indent="457200" algn="l">
              <a:buClrTx/>
              <a:buSzTx/>
              <a:buNone/>
            </a:pPr>
            <a:r>
              <a:rPr lang="zh-CN" altLang="en-US" dirty="0">
                <a:sym typeface="宋体" pitchFamily="2" charset="-122"/>
              </a:rPr>
              <a:t>3.</a:t>
            </a:r>
            <a:r>
              <a:rPr lang="zh-CN" altLang="en-US" dirty="0">
                <a:sym typeface="Times New Roman" panose="02020503050405090304" pitchFamily="18" charset="0"/>
              </a:rPr>
              <a:t>Bellman-Ford</a:t>
            </a:r>
            <a:r>
              <a:rPr lang="zh-CN" altLang="en-US" dirty="0">
                <a:sym typeface="宋体" pitchFamily="2" charset="-122"/>
              </a:rPr>
              <a:t>算法：</a:t>
            </a:r>
            <a:r>
              <a:rPr lang="zh-CN" altLang="en-US" dirty="0">
                <a:sym typeface="+mn-ea"/>
              </a:rPr>
              <a:t>O(</a:t>
            </a:r>
            <a:r>
              <a:rPr lang="en-US" altLang="zh-CN" dirty="0">
                <a:sym typeface="+mn-ea"/>
              </a:rPr>
              <a:t>|V||E|</a:t>
            </a:r>
            <a:r>
              <a:rPr lang="zh-CN" altLang="en-US" dirty="0">
                <a:sym typeface="+mn-ea"/>
              </a:rPr>
              <a:t>)，单源最短路，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适用于出现负边权</a:t>
            </a:r>
            <a:r>
              <a:rPr lang="zh-CN" altLang="en-US" dirty="0">
                <a:sym typeface="+mn-ea"/>
              </a:rPr>
              <a:t>的情况，</a:t>
            </a:r>
            <a:r>
              <a:rPr lang="zh-CN" altLang="en-US" dirty="0">
                <a:sym typeface="宋体" pitchFamily="2" charset="-122"/>
              </a:rPr>
              <a:t>但</a:t>
            </a:r>
            <a:r>
              <a:rPr lang="zh-CN" altLang="en-US" dirty="0">
                <a:solidFill>
                  <a:srgbClr val="FF0000"/>
                </a:solidFill>
                <a:sym typeface="宋体" pitchFamily="2" charset="-122"/>
              </a:rPr>
              <a:t>无法处理存在负权回路</a:t>
            </a:r>
            <a:r>
              <a:rPr lang="zh-CN" altLang="en-US" dirty="0">
                <a:sym typeface="宋体" pitchFamily="2" charset="-122"/>
              </a:rPr>
              <a:t>的情况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>
              <a:solidFill>
                <a:srgbClr val="FF0000"/>
              </a:solidFill>
              <a:sym typeface="宋体" pitchFamily="2" charset="-122"/>
            </a:endParaRPr>
          </a:p>
          <a:p>
            <a:pPr indent="457200" algn="l">
              <a:buClrTx/>
              <a:buSzTx/>
              <a:buNone/>
            </a:pP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15640" y="1553845"/>
            <a:ext cx="3363595" cy="2143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优化：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pPr indent="457200"/>
            <a:r>
              <a:rPr lang="zh-CN" altLang="en-US" dirty="0">
                <a:sym typeface="+mn-ea"/>
              </a:rPr>
              <a:t>1.</a:t>
            </a:r>
            <a:r>
              <a:rPr lang="zh-CN" altLang="en-US" dirty="0">
                <a:sym typeface="Times New Roman" panose="02020503050405090304" pitchFamily="18" charset="0"/>
              </a:rPr>
              <a:t>Dijkstra</a:t>
            </a:r>
            <a:r>
              <a:rPr lang="zh-CN" altLang="en-US" dirty="0">
                <a:sym typeface="宋体" pitchFamily="2" charset="-122"/>
              </a:rPr>
              <a:t>算法</a:t>
            </a:r>
            <a:endParaRPr lang="zh-CN" altLang="en-US" dirty="0">
              <a:sym typeface="+mn-ea"/>
            </a:endParaRPr>
          </a:p>
          <a:p>
            <a:pPr indent="457200"/>
            <a:endParaRPr lang="zh-CN" altLang="en-US" dirty="0">
              <a:sym typeface="+mn-ea"/>
            </a:endParaRPr>
          </a:p>
          <a:p>
            <a:pPr indent="457200"/>
            <a:r>
              <a:rPr lang="zh-CN" altLang="en-US" dirty="0">
                <a:sym typeface="宋体" pitchFamily="2" charset="-122"/>
              </a:rPr>
              <a:t>2.</a:t>
            </a:r>
            <a:r>
              <a:rPr lang="zh-CN" altLang="en-US" dirty="0">
                <a:sym typeface="Times New Roman" panose="02020503050405090304" pitchFamily="18" charset="0"/>
              </a:rPr>
              <a:t>Bellman-Ford</a:t>
            </a:r>
            <a:r>
              <a:rPr lang="zh-CN" altLang="en-US" dirty="0">
                <a:sym typeface="宋体" pitchFamily="2" charset="-122"/>
              </a:rPr>
              <a:t>算法</a:t>
            </a:r>
            <a:endParaRPr lang="zh-CN" altLang="en-US" dirty="0">
              <a:sym typeface="宋体" pitchFamily="2" charset="-122"/>
            </a:endParaRPr>
          </a:p>
          <a:p>
            <a:pPr indent="457200"/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89000" y="723265"/>
            <a:ext cx="10414635" cy="5275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dirty="0">
                <a:solidFill>
                  <a:schemeClr val="tx1"/>
                </a:solidFill>
                <a:sym typeface="宋体" pitchFamily="2" charset="-122"/>
              </a:rPr>
              <a:t>1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.</a:t>
            </a:r>
            <a:r>
              <a:rPr lang="en-US" altLang="zh-CN" dirty="0">
                <a:solidFill>
                  <a:schemeClr val="tx1"/>
                </a:solidFill>
                <a:sym typeface="宋体" pitchFamily="2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Dijkstra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算法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O (</a:t>
            </a:r>
            <a:r>
              <a:rPr lang="en-US" altLang="zh-CN" dirty="0">
                <a:sym typeface="+mn-ea"/>
              </a:rPr>
              <a:t>|v|^2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)</a:t>
            </a:r>
            <a:endParaRPr lang="zh-CN" altLang="en-US" dirty="0">
              <a:solidFill>
                <a:schemeClr val="tx1"/>
              </a:solidFill>
              <a:sym typeface="宋体" pitchFamily="2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用来计算从一个点到其他所有点的最短路径的算法，是一种单源最短路径算法。也就是说，只能计算起点只有一个的情况。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D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ijkstra的时间复杂度是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O (</a:t>
            </a:r>
            <a:r>
              <a:rPr lang="en-US" altLang="zh-CN" dirty="0">
                <a:sym typeface="+mn-ea"/>
              </a:rPr>
              <a:t>|v|^2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)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，它</a:t>
            </a:r>
            <a:r>
              <a:rPr lang="zh-CN" altLang="en-US" dirty="0">
                <a:solidFill>
                  <a:srgbClr val="FF0000"/>
                </a:solidFill>
                <a:sym typeface="宋体" pitchFamily="2" charset="-122"/>
              </a:rPr>
              <a:t>不能处理存在负边权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的情况。</a:t>
            </a:r>
            <a:endParaRPr lang="zh-CN" altLang="en-US" dirty="0">
              <a:solidFill>
                <a:schemeClr val="tx1"/>
              </a:solidFill>
              <a:sym typeface="宋体" pitchFamily="2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算法描述：</a:t>
            </a:r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       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设起点为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s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，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dis[v]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表示从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s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到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v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的最短路径，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pre[v]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为</a:t>
            </a:r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v</a:t>
            </a:r>
            <a:r>
              <a:rPr lang="zh-CN" altLang="en-US" dirty="0">
                <a:solidFill>
                  <a:schemeClr val="tx1"/>
                </a:solidFill>
                <a:sym typeface="宋体" pitchFamily="2" charset="-122"/>
              </a:rPr>
              <a:t>的前驱节点，用来输出路径。</a:t>
            </a:r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       </a:t>
            </a:r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endParaRPr lang="zh-CN" altLang="en-US" dirty="0">
              <a:solidFill>
                <a:schemeClr val="tx1"/>
              </a:solidFill>
              <a:sym typeface="Times New Roman" panose="02020503050405090304" pitchFamily="18" charset="0"/>
            </a:endParaRPr>
          </a:p>
          <a:p>
            <a:r>
              <a:rPr lang="zh-CN" altLang="en-US" dirty="0">
                <a:solidFill>
                  <a:schemeClr val="tx1"/>
                </a:solidFill>
                <a:sym typeface="Times New Roman" panose="02020503050405090304" pitchFamily="18" charset="0"/>
              </a:rPr>
              <a:t>        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endParaRPr lang="zh-CN" altLang="en-US">
              <a:solidFill>
                <a:schemeClr val="tx1"/>
              </a:solidFill>
              <a:sym typeface="+mn-ea"/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65885" y="2225675"/>
            <a:ext cx="9131300" cy="3646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976880" y="715010"/>
            <a:ext cx="4987290" cy="1602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如何找到</a:t>
            </a:r>
            <a:r>
              <a:rPr lang="en-US" altLang="zh-CN">
                <a:sym typeface="+mn-ea"/>
              </a:rPr>
              <a:t>dis[i]</a:t>
            </a:r>
            <a:r>
              <a:rPr lang="zh-CN" altLang="en-US">
                <a:sym typeface="+mn-ea"/>
              </a:rPr>
              <a:t>值最小的</a:t>
            </a:r>
            <a:r>
              <a:rPr lang="en-US" altLang="zh-CN">
                <a:sym typeface="+mn-ea"/>
              </a:rPr>
              <a:t> i </a:t>
            </a:r>
            <a:r>
              <a:rPr lang="zh-CN" altLang="en-US">
                <a:sym typeface="+mn-ea"/>
              </a:rPr>
              <a:t>？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976880" y="715010"/>
            <a:ext cx="4987290" cy="1602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如何找到</a:t>
            </a:r>
            <a:r>
              <a:rPr lang="en-US" altLang="zh-CN">
                <a:sym typeface="+mn-ea"/>
              </a:rPr>
              <a:t>dis[i]</a:t>
            </a:r>
            <a:r>
              <a:rPr lang="zh-CN" altLang="en-US">
                <a:sym typeface="+mn-ea"/>
              </a:rPr>
              <a:t>值最小的</a:t>
            </a:r>
            <a:r>
              <a:rPr lang="en-US" altLang="zh-CN">
                <a:sym typeface="+mn-ea"/>
              </a:rPr>
              <a:t> i </a:t>
            </a:r>
            <a:r>
              <a:rPr lang="zh-CN" altLang="en-US">
                <a:sym typeface="+mn-ea"/>
              </a:rPr>
              <a:t>？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遍历。</a:t>
            </a:r>
            <a:r>
              <a:rPr lang="en-US" altLang="zh-CN">
                <a:sym typeface="+mn-ea"/>
              </a:rPr>
              <a:t>O</a:t>
            </a:r>
            <a:r>
              <a:rPr lang="en-US">
                <a:sym typeface="+mn-ea"/>
              </a:rPr>
              <a:t>(n)</a:t>
            </a:r>
            <a:endParaRPr lang="zh-CN" altLang="en-US">
              <a:sym typeface="+mn-ea"/>
            </a:endParaRPr>
          </a:p>
          <a:p>
            <a:pPr marL="0" lvl="0" indent="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976880" y="715010"/>
            <a:ext cx="4987290" cy="1602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如何找到</a:t>
            </a:r>
            <a:r>
              <a:rPr lang="en-US" altLang="zh-CN">
                <a:sym typeface="+mn-ea"/>
              </a:rPr>
              <a:t>dis[i]</a:t>
            </a:r>
            <a:r>
              <a:rPr lang="zh-CN" altLang="en-US">
                <a:sym typeface="+mn-ea"/>
              </a:rPr>
              <a:t>值最小的</a:t>
            </a:r>
            <a:r>
              <a:rPr lang="en-US" altLang="zh-CN">
                <a:sym typeface="+mn-ea"/>
              </a:rPr>
              <a:t> i </a:t>
            </a:r>
            <a:r>
              <a:rPr lang="zh-CN" altLang="en-US">
                <a:sym typeface="+mn-ea"/>
              </a:rPr>
              <a:t>？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遍历。</a:t>
            </a:r>
            <a:r>
              <a:rPr lang="en-US" altLang="zh-CN">
                <a:sym typeface="+mn-ea"/>
              </a:rPr>
              <a:t>O</a:t>
            </a:r>
            <a:r>
              <a:rPr lang="en-US">
                <a:sym typeface="+mn-ea"/>
              </a:rPr>
              <a:t>(n)</a:t>
            </a:r>
            <a:endParaRPr lang="zh-CN" altLang="en-US">
              <a:sym typeface="+mn-ea"/>
            </a:endParaRPr>
          </a:p>
          <a:p>
            <a:pPr marL="0" lvl="0" indent="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如何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快速</a:t>
            </a:r>
            <a:r>
              <a:rPr lang="zh-CN" altLang="en-US">
                <a:sym typeface="+mn-ea"/>
              </a:rPr>
              <a:t>找到</a:t>
            </a:r>
            <a:r>
              <a:rPr lang="en-US" altLang="zh-CN">
                <a:sym typeface="+mn-ea"/>
              </a:rPr>
              <a:t>dis[i]</a:t>
            </a:r>
            <a:r>
              <a:rPr lang="zh-CN" altLang="en-US">
                <a:sym typeface="+mn-ea"/>
              </a:rPr>
              <a:t>值最小的</a:t>
            </a:r>
            <a:r>
              <a:rPr lang="en-US" altLang="zh-CN">
                <a:sym typeface="+mn-ea"/>
              </a:rPr>
              <a:t> i </a:t>
            </a:r>
            <a:r>
              <a:rPr lang="zh-CN" altLang="en-US">
                <a:sym typeface="+mn-ea"/>
              </a:rPr>
              <a:t>？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976880" y="715010"/>
            <a:ext cx="5777865" cy="1646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如何找到</a:t>
            </a:r>
            <a:r>
              <a:rPr lang="en-US" altLang="zh-CN">
                <a:sym typeface="+mn-ea"/>
              </a:rPr>
              <a:t>dis[i]</a:t>
            </a:r>
            <a:r>
              <a:rPr lang="zh-CN" altLang="en-US">
                <a:sym typeface="+mn-ea"/>
              </a:rPr>
              <a:t>值最小的</a:t>
            </a:r>
            <a:r>
              <a:rPr lang="en-US" altLang="zh-CN">
                <a:sym typeface="+mn-ea"/>
              </a:rPr>
              <a:t> i </a:t>
            </a:r>
            <a:r>
              <a:rPr lang="zh-CN" altLang="en-US">
                <a:sym typeface="+mn-ea"/>
              </a:rPr>
              <a:t>？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遍历。</a:t>
            </a:r>
            <a:r>
              <a:rPr lang="en-US" altLang="zh-CN">
                <a:sym typeface="+mn-ea"/>
              </a:rPr>
              <a:t>O</a:t>
            </a:r>
            <a:r>
              <a:rPr lang="en-US">
                <a:sym typeface="+mn-ea"/>
              </a:rPr>
              <a:t>(n)</a:t>
            </a:r>
            <a:endParaRPr lang="zh-CN" altLang="en-US">
              <a:sym typeface="+mn-ea"/>
            </a:endParaRPr>
          </a:p>
          <a:p>
            <a:pPr marL="0" lvl="0" indent="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如何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快速</a:t>
            </a:r>
            <a:r>
              <a:rPr lang="zh-CN" altLang="en-US">
                <a:sym typeface="+mn-ea"/>
              </a:rPr>
              <a:t>找到</a:t>
            </a:r>
            <a:r>
              <a:rPr lang="en-US" altLang="zh-CN">
                <a:sym typeface="+mn-ea"/>
              </a:rPr>
              <a:t>dis[i]</a:t>
            </a:r>
            <a:r>
              <a:rPr lang="zh-CN" altLang="en-US">
                <a:sym typeface="+mn-ea"/>
              </a:rPr>
              <a:t>值最小的</a:t>
            </a:r>
            <a:r>
              <a:rPr lang="en-US" altLang="zh-CN">
                <a:sym typeface="+mn-ea"/>
              </a:rPr>
              <a:t> i </a:t>
            </a:r>
            <a:r>
              <a:rPr lang="zh-CN" altLang="en-US">
                <a:sym typeface="+mn-ea"/>
              </a:rPr>
              <a:t>？</a:t>
            </a:r>
            <a:endParaRPr lang="zh-CN" altLang="en-US">
              <a:sym typeface="+mn-ea"/>
            </a:endParaRPr>
          </a:p>
          <a:p>
            <a:pPr marL="457200" lvl="1" indent="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用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小根堆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进行优化，即用优先队列。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O(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log n)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976880" y="715010"/>
            <a:ext cx="5833745" cy="1602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如何找到</a:t>
            </a:r>
            <a:r>
              <a:rPr lang="en-US" altLang="zh-CN">
                <a:sym typeface="+mn-ea"/>
              </a:rPr>
              <a:t>dis[i]</a:t>
            </a:r>
            <a:r>
              <a:rPr lang="zh-CN" altLang="en-US">
                <a:sym typeface="+mn-ea"/>
              </a:rPr>
              <a:t>值最小的</a:t>
            </a:r>
            <a:r>
              <a:rPr lang="en-US" altLang="zh-CN">
                <a:sym typeface="+mn-ea"/>
              </a:rPr>
              <a:t> i </a:t>
            </a:r>
            <a:r>
              <a:rPr lang="zh-CN" altLang="en-US">
                <a:sym typeface="+mn-ea"/>
              </a:rPr>
              <a:t>？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遍历。</a:t>
            </a:r>
            <a:r>
              <a:rPr lang="en-US" altLang="zh-CN">
                <a:sym typeface="+mn-ea"/>
              </a:rPr>
              <a:t>O</a:t>
            </a:r>
            <a:r>
              <a:rPr lang="en-US">
                <a:sym typeface="+mn-ea"/>
              </a:rPr>
              <a:t>(n)</a:t>
            </a:r>
            <a:endParaRPr lang="zh-CN" altLang="en-US">
              <a:sym typeface="+mn-ea"/>
            </a:endParaRPr>
          </a:p>
          <a:p>
            <a:pPr marL="0" lvl="0" indent="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如何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快速</a:t>
            </a:r>
            <a:r>
              <a:rPr lang="zh-CN" altLang="en-US">
                <a:sym typeface="+mn-ea"/>
              </a:rPr>
              <a:t>找到</a:t>
            </a:r>
            <a:r>
              <a:rPr lang="en-US" altLang="zh-CN">
                <a:sym typeface="+mn-ea"/>
              </a:rPr>
              <a:t>dis[i]</a:t>
            </a:r>
            <a:r>
              <a:rPr lang="zh-CN" altLang="en-US">
                <a:sym typeface="+mn-ea"/>
              </a:rPr>
              <a:t>值最小的</a:t>
            </a:r>
            <a:r>
              <a:rPr lang="en-US" altLang="zh-CN">
                <a:sym typeface="+mn-ea"/>
              </a:rPr>
              <a:t> i </a:t>
            </a:r>
            <a:r>
              <a:rPr lang="zh-CN" altLang="en-US">
                <a:sym typeface="+mn-ea"/>
              </a:rPr>
              <a:t>？</a:t>
            </a:r>
            <a:endParaRPr lang="zh-CN" altLang="en-US">
              <a:sym typeface="+mn-ea"/>
            </a:endParaRPr>
          </a:p>
          <a:p>
            <a:pPr marL="457200" lvl="1" indent="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用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小根堆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进行优化，即用优先队列。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O(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log n)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2976880" y="2758440"/>
            <a:ext cx="7433945" cy="2671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如何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快速</a:t>
            </a:r>
            <a:r>
              <a:rPr lang="zh-CN" altLang="en-US">
                <a:sym typeface="+mn-ea"/>
              </a:rPr>
              <a:t>遍历</a:t>
            </a:r>
            <a:r>
              <a:rPr lang="en-US" altLang="zh-CN">
                <a:sym typeface="+mn-ea"/>
              </a:rPr>
              <a:t> i </a:t>
            </a:r>
            <a:r>
              <a:rPr lang="zh-CN" altLang="en-US">
                <a:sym typeface="+mn-ea"/>
              </a:rPr>
              <a:t>点的</a:t>
            </a:r>
            <a:r>
              <a:rPr lang="zh-CN" altLang="en-US">
                <a:sym typeface="+mn-ea"/>
              </a:rPr>
              <a:t>邻接点？</a:t>
            </a:r>
            <a:endParaRPr lang="zh-CN" altLang="en-US">
              <a:sym typeface="+mn-ea"/>
            </a:endParaRPr>
          </a:p>
          <a:p>
            <a:pPr marL="457200" lvl="1" indent="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链式前向星（邻接表）存图。小于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O(n)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因为在完全图的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情况下，一个点最多有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n-1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条边，但是大部分情况不可能是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完全图。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4.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需要注意，点可能重复入队。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注意一个点可能会被更新多次而入堆多次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但是只有最后一次入堆才是正确的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dis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同时也一定是在所有入堆操作结束后才会出堆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所以直接开个数组判断有没有出堆过就好了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当然也可以根据堆中元素的距离大小和点的最短路大小直接判断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  <p:sp>
        <p:nvSpPr>
          <p:cNvPr id="4" name="文本框 3"/>
          <p:cNvSpPr txBox="1"/>
          <p:nvPr/>
        </p:nvSpPr>
        <p:spPr>
          <a:xfrm>
            <a:off x="1810385" y="5560060"/>
            <a:ext cx="8367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得到</a:t>
            </a:r>
            <a:r>
              <a:rPr lang="en-US" altLang="zh-CN"/>
              <a:t> </a:t>
            </a:r>
            <a:r>
              <a:rPr lang="zh-CN" altLang="en-US"/>
              <a:t>链式前向星存图的</a:t>
            </a:r>
            <a:r>
              <a:rPr lang="en-US" altLang="zh-CN"/>
              <a:t> </a:t>
            </a:r>
            <a:r>
              <a:rPr lang="zh-CN" altLang="en-US"/>
              <a:t>堆优化版</a:t>
            </a:r>
            <a:r>
              <a:rPr lang="zh-CN" altLang="en-US" dirty="0">
                <a:sym typeface="Times New Roman" panose="02020503050405090304" pitchFamily="18" charset="0"/>
              </a:rPr>
              <a:t>Dijkstra</a:t>
            </a:r>
            <a:r>
              <a:rPr lang="zh-CN" altLang="en-US" dirty="0">
                <a:sym typeface="宋体" pitchFamily="2" charset="-122"/>
              </a:rPr>
              <a:t>算法时间复杂度</a:t>
            </a:r>
            <a:r>
              <a:rPr lang="en-US" altLang="zh-CN" dirty="0">
                <a:sym typeface="宋体" pitchFamily="2" charset="-122"/>
              </a:rPr>
              <a:t>O(</a:t>
            </a:r>
            <a:r>
              <a:rPr lang="zh-CN" altLang="en-US" dirty="0">
                <a:sym typeface="宋体" pitchFamily="2" charset="-122"/>
              </a:rPr>
              <a:t>（</a:t>
            </a:r>
            <a:r>
              <a:rPr lang="en-US" altLang="zh-CN" dirty="0">
                <a:sym typeface="宋体" pitchFamily="2" charset="-122"/>
              </a:rPr>
              <a:t>|V|+|E|)*log|V|)</a:t>
            </a:r>
            <a:r>
              <a:rPr lang="zh-CN" altLang="en-US" dirty="0">
                <a:sym typeface="宋体" pitchFamily="2" charset="-122"/>
              </a:rPr>
              <a:t>。</a:t>
            </a:r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36905" y="520065"/>
            <a:ext cx="11075670" cy="5361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dirty="0">
                <a:sym typeface="宋体" pitchFamily="2" charset="-122"/>
              </a:rPr>
              <a:t>2. </a:t>
            </a:r>
            <a:r>
              <a:rPr lang="zh-CN" altLang="en-US" dirty="0">
                <a:sym typeface="宋体" pitchFamily="2" charset="-122"/>
              </a:rPr>
              <a:t>Bellman–Ford 算法所做的，就是不断尝试对图中的每一条边进行松弛。我们每进行一轮循环，就对图上所有的边都尝试进行一次松弛操作，当一次循环中没有成功的松弛操作时，算法停止：暴力遍历，无脑松驰。</a:t>
            </a:r>
            <a:endParaRPr lang="zh-CN" altLang="en-US" dirty="0">
              <a:sym typeface="宋体" pitchFamily="2" charset="-122"/>
            </a:endParaRPr>
          </a:p>
          <a:p>
            <a:endParaRPr lang="zh-CN" altLang="en-US"/>
          </a:p>
          <a:p>
            <a:r>
              <a:rPr lang="zh-CN" altLang="en-US"/>
              <a:t>显然：每次循环是 O(</a:t>
            </a:r>
            <a:r>
              <a:rPr lang="en-US" altLang="zh-CN"/>
              <a:t>|E|</a:t>
            </a:r>
            <a:r>
              <a:rPr lang="zh-CN" altLang="en-US"/>
              <a:t>) 的，那么最多会循环多少次呢？</a:t>
            </a:r>
            <a:endParaRPr lang="zh-CN" altLang="en-US"/>
          </a:p>
          <a:p>
            <a:pPr indent="457200"/>
            <a:r>
              <a:rPr lang="zh-CN" altLang="en-US"/>
              <a:t>在最短路存在的情况下，由于一次松弛操作会使最短路的边数至少 +1，而最短路的边数最多为 </a:t>
            </a:r>
            <a:r>
              <a:rPr lang="en-US" altLang="zh-CN"/>
              <a:t>|v|</a:t>
            </a:r>
            <a:r>
              <a:rPr lang="zh-CN" altLang="en-US"/>
              <a:t>-1，因此整个算法</a:t>
            </a:r>
            <a:r>
              <a:rPr lang="zh-CN" altLang="en-US">
                <a:solidFill>
                  <a:srgbClr val="FF0000"/>
                </a:solidFill>
              </a:rPr>
              <a:t>最多执行 </a:t>
            </a:r>
            <a:r>
              <a:rPr lang="en-US" altLang="zh-CN">
                <a:solidFill>
                  <a:srgbClr val="FF0000"/>
                </a:solidFill>
              </a:rPr>
              <a:t>|v|</a:t>
            </a:r>
            <a:r>
              <a:rPr lang="zh-CN" altLang="en-US">
                <a:solidFill>
                  <a:srgbClr val="FF0000"/>
                </a:solidFill>
              </a:rPr>
              <a:t>-1 轮松弛操作</a:t>
            </a:r>
            <a:r>
              <a:rPr lang="zh-CN" altLang="en-US"/>
              <a:t>。故总时间复杂度为 O(</a:t>
            </a:r>
            <a:r>
              <a:rPr lang="en-US" altLang="zh-CN"/>
              <a:t>|</a:t>
            </a:r>
            <a:r>
              <a:rPr lang="en-US" altLang="zh-CN"/>
              <a:t>v||e|</a:t>
            </a:r>
            <a:r>
              <a:rPr lang="zh-CN" altLang="en-US"/>
              <a:t>)。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78685" y="2720975"/>
            <a:ext cx="7515225" cy="3409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7905" y="1385570"/>
            <a:ext cx="10379710" cy="2699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  <p:sp>
        <p:nvSpPr>
          <p:cNvPr id="3" name="文本框 2"/>
          <p:cNvSpPr txBox="1"/>
          <p:nvPr/>
        </p:nvSpPr>
        <p:spPr>
          <a:xfrm>
            <a:off x="2455545" y="1207770"/>
            <a:ext cx="7854315" cy="2000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可以发现，每一轮遍历</a:t>
            </a:r>
            <a:r>
              <a:rPr lang="en-US" altLang="zh-CN">
                <a:highlight>
                  <a:srgbClr val="FFFF00"/>
                </a:highlight>
              </a:rPr>
              <a:t>dis</a:t>
            </a:r>
            <a:r>
              <a:rPr lang="zh-CN" altLang="en-US">
                <a:highlight>
                  <a:srgbClr val="FFFF00"/>
                </a:highlight>
              </a:rPr>
              <a:t>值减小的点</a:t>
            </a:r>
            <a:r>
              <a:rPr lang="zh-CN" altLang="en-US"/>
              <a:t>，是上一轮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dis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值减小的</a:t>
            </a:r>
            <a:r>
              <a:rPr lang="zh-CN" altLang="en-US">
                <a:solidFill>
                  <a:srgbClr val="FF0000"/>
                </a:solidFill>
              </a:rPr>
              <a:t>点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邻接点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所以每一轮没必要遍历所有的边了，只遍历上一轮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dis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值减小的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点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出边</a:t>
            </a:r>
            <a:r>
              <a:rPr lang="zh-CN" altLang="en-US"/>
              <a:t>即</a:t>
            </a:r>
            <a:r>
              <a:rPr lang="zh-CN" altLang="en-US"/>
              <a:t>可，</a:t>
            </a:r>
            <a:endParaRPr lang="zh-CN" altLang="en-US"/>
          </a:p>
          <a:p>
            <a:r>
              <a:rPr lang="zh-CN" altLang="en-US"/>
              <a:t>即只找上一轮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dis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值减小的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点</a:t>
            </a:r>
            <a:r>
              <a:rPr lang="zh-CN" altLang="en-US">
                <a:sym typeface="+mn-ea"/>
              </a:rPr>
              <a:t>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邻接点</a:t>
            </a:r>
            <a:r>
              <a:rPr lang="zh-CN" altLang="en-US"/>
              <a:t>。则，采用</a:t>
            </a: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</a:rPr>
              <a:t>队列</a:t>
            </a:r>
            <a:r>
              <a:rPr lang="zh-CN" altLang="en-US"/>
              <a:t>进行优化，将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dis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值减小的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点</a:t>
            </a:r>
            <a:r>
              <a:rPr lang="zh-CN" altLang="en-US"/>
              <a:t>入队，每次只找队列中点的邻接点进行</a:t>
            </a:r>
            <a:r>
              <a:rPr lang="zh-CN" altLang="en-US"/>
              <a:t>更新。</a:t>
            </a:r>
            <a:endParaRPr lang="zh-CN" altLang="en-US"/>
          </a:p>
          <a:p>
            <a:pPr marL="3657600" lvl="8" indent="457200"/>
            <a:r>
              <a:rPr lang="en-US" altLang="zh-CN"/>
              <a:t>--------SPFA</a:t>
            </a:r>
            <a:r>
              <a:rPr lang="zh-CN" altLang="en-US"/>
              <a:t>算法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7905" y="1385570"/>
            <a:ext cx="10379710" cy="2699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  <p:sp>
        <p:nvSpPr>
          <p:cNvPr id="3" name="文本框 2"/>
          <p:cNvSpPr txBox="1"/>
          <p:nvPr/>
        </p:nvSpPr>
        <p:spPr>
          <a:xfrm>
            <a:off x="2455545" y="1896745"/>
            <a:ext cx="7280910" cy="2000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68780" y="458470"/>
            <a:ext cx="9729470" cy="4550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拓展（小八卦）：</a:t>
            </a:r>
            <a:r>
              <a:rPr lang="en-US" altLang="zh-CN"/>
              <a:t>“SPFA</a:t>
            </a:r>
            <a:r>
              <a:rPr lang="zh-CN" altLang="en-US"/>
              <a:t>已经死</a:t>
            </a:r>
            <a:r>
              <a:rPr lang="en-US" altLang="zh-CN"/>
              <a:t>”</a:t>
            </a:r>
            <a:endParaRPr lang="zh-CN" altLang="en-US"/>
          </a:p>
          <a:p>
            <a:endParaRPr lang="zh-CN" altLang="en-US"/>
          </a:p>
          <a:p>
            <a:pPr indent="457200"/>
            <a:r>
              <a:rPr lang="zh-CN" altLang="en-US"/>
              <a:t>SPFA算法的全称是：Shortest Path Faster Algorithm，是西南交通大学段同学于 1994 年发表的论文中的名字。不过，段同学的证明是错误的，且在 Bellman-Ford 算法提出后不久（1957 年）已有队列优化内容，所以国际上不承认 SPFA 算法是段</a:t>
            </a:r>
            <a:r>
              <a:rPr lang="zh-CN" altLang="en-US"/>
              <a:t>同学提出的。</a:t>
            </a:r>
            <a:endParaRPr lang="zh-CN" altLang="en-US"/>
          </a:p>
          <a:p>
            <a:pPr indent="457200"/>
            <a:r>
              <a:rPr lang="zh-CN" altLang="en-US"/>
              <a:t>段</a:t>
            </a:r>
            <a:r>
              <a:rPr lang="zh-CN" altLang="en-US"/>
              <a:t>同学论文中的复杂度证明 （O(kE)，k 是小常数）是错误的。该算法的最坏时间复杂度仍然为 O(VE)。最好时间复杂度为</a:t>
            </a:r>
            <a:r>
              <a:rPr lang="en-US" altLang="zh-CN"/>
              <a:t>O(E)</a:t>
            </a:r>
            <a:r>
              <a:rPr lang="zh-CN" altLang="en-US"/>
              <a:t>。显然</a:t>
            </a:r>
            <a:r>
              <a:rPr lang="en-US" altLang="zh-CN"/>
              <a:t>SPFA</a:t>
            </a:r>
            <a:r>
              <a:rPr lang="zh-CN" altLang="en-US"/>
              <a:t>算法不稳定，时间复杂度</a:t>
            </a:r>
            <a:r>
              <a:rPr lang="zh-CN" altLang="en-US"/>
              <a:t>玄学。优化了个</a:t>
            </a:r>
            <a:r>
              <a:rPr lang="zh-CN" altLang="en-US"/>
              <a:t>寂寞。</a:t>
            </a:r>
            <a:endParaRPr lang="zh-CN" altLang="en-US"/>
          </a:p>
          <a:p>
            <a:pPr indent="457200"/>
            <a:endParaRPr lang="zh-CN" altLang="en-US"/>
          </a:p>
          <a:p>
            <a:pPr indent="457200"/>
            <a:r>
              <a:rPr lang="zh-CN" altLang="en-US"/>
              <a:t>在题目所设图中不出现负边权时，各大比赛的出题人均会卡</a:t>
            </a:r>
            <a:r>
              <a:rPr lang="en-US" altLang="zh-CN"/>
              <a:t>SPFA</a:t>
            </a:r>
            <a:r>
              <a:rPr lang="zh-CN" altLang="en-US"/>
              <a:t>算法，因为</a:t>
            </a:r>
            <a:r>
              <a:rPr lang="en-US" altLang="zh-CN"/>
              <a:t>SPFA</a:t>
            </a:r>
            <a:r>
              <a:rPr lang="zh-CN" altLang="en-US"/>
              <a:t>算法玄学的时间复杂度，给人一种骗分的感觉，所以为了尊重选手，尊重</a:t>
            </a:r>
            <a:r>
              <a:rPr lang="en-US" altLang="zh-CN">
                <a:sym typeface="+mn-ea"/>
              </a:rPr>
              <a:t>Dijkstra</a:t>
            </a:r>
            <a:r>
              <a:rPr lang="zh-CN" altLang="en-US">
                <a:sym typeface="+mn-ea"/>
              </a:rPr>
              <a:t>算法，会卡</a:t>
            </a:r>
            <a:r>
              <a:rPr lang="en-US" altLang="zh-CN">
                <a:sym typeface="+mn-ea"/>
              </a:rPr>
              <a:t>SPFA</a:t>
            </a:r>
            <a:r>
              <a:rPr lang="zh-CN" altLang="en-US">
                <a:sym typeface="+mn-ea"/>
              </a:rPr>
              <a:t>，即</a:t>
            </a:r>
            <a:r>
              <a:rPr lang="en-US" altLang="zh-CN">
                <a:sym typeface="+mn-ea"/>
              </a:rPr>
              <a:t>SPFA</a:t>
            </a:r>
            <a:r>
              <a:rPr lang="zh-CN" altLang="en-US">
                <a:sym typeface="+mn-ea"/>
              </a:rPr>
              <a:t>已经死。</a:t>
            </a:r>
            <a:endParaRPr lang="zh-CN" altLang="en-US"/>
          </a:p>
          <a:p>
            <a:pPr indent="457200"/>
            <a:endParaRPr lang="zh-CN" altLang="en-US"/>
          </a:p>
          <a:p>
            <a:pPr indent="457200"/>
            <a:r>
              <a:rPr lang="zh-CN" altLang="en-US"/>
              <a:t>不过！虽然堆优化过的</a:t>
            </a:r>
            <a:r>
              <a:rPr lang="en-US" altLang="zh-CN"/>
              <a:t>Dijkstra</a:t>
            </a:r>
            <a:r>
              <a:rPr lang="zh-CN" altLang="en-US"/>
              <a:t>算法的时间复杂度显然好于</a:t>
            </a:r>
            <a:r>
              <a:rPr lang="en-US" altLang="zh-CN"/>
              <a:t>SPFA , </a:t>
            </a:r>
            <a:r>
              <a:rPr lang="zh-CN" altLang="en-US"/>
              <a:t>但是由于</a:t>
            </a:r>
            <a:r>
              <a:rPr lang="en-US" altLang="zh-CN">
                <a:sym typeface="+mn-ea"/>
              </a:rPr>
              <a:t>Dijkstra</a:t>
            </a:r>
            <a:r>
              <a:rPr lang="zh-CN" altLang="en-US">
                <a:sym typeface="+mn-ea"/>
              </a:rPr>
              <a:t>算法不能处理负边权，所以遇到带负边权时还是要考虑用</a:t>
            </a:r>
            <a:r>
              <a:rPr lang="en-US" altLang="zh-CN">
                <a:sym typeface="+mn-ea"/>
              </a:rPr>
              <a:t>SPFA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pPr indent="457200"/>
            <a:endParaRPr lang="zh-CN" altLang="en-US"/>
          </a:p>
          <a:p>
            <a:pPr indent="457200"/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2920" y="867410"/>
            <a:ext cx="11433175" cy="4842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最短路</a:t>
            </a:r>
            <a:r>
              <a:rPr lang="zh-CN" altLang="en-US">
                <a:sym typeface="+mn-ea"/>
              </a:rPr>
              <a:t>算法：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pPr indent="457200"/>
            <a:r>
              <a:rPr lang="zh-CN" altLang="en-US" dirty="0">
                <a:sym typeface="+mn-ea"/>
              </a:rPr>
              <a:t>1.Floyed算法：</a:t>
            </a:r>
            <a:r>
              <a:rPr lang="en-US" altLang="zh-CN" dirty="0">
                <a:sym typeface="+mn-ea"/>
              </a:rPr>
              <a:t>O(|V|^3)</a:t>
            </a:r>
            <a:r>
              <a:rPr lang="zh-CN" altLang="en-US" dirty="0">
                <a:sym typeface="+mn-ea"/>
              </a:rPr>
              <a:t>，多源最短路，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适用于出现负边权</a:t>
            </a:r>
            <a:r>
              <a:rPr lang="zh-CN" altLang="en-US" dirty="0">
                <a:sym typeface="+mn-ea"/>
              </a:rPr>
              <a:t>的情况，</a:t>
            </a:r>
            <a:r>
              <a:rPr lang="zh-CN" altLang="en-US" dirty="0">
                <a:sym typeface="宋体" pitchFamily="2" charset="-122"/>
              </a:rPr>
              <a:t>但</a:t>
            </a:r>
            <a:r>
              <a:rPr lang="zh-CN" altLang="en-US" dirty="0">
                <a:solidFill>
                  <a:srgbClr val="FF0000"/>
                </a:solidFill>
                <a:sym typeface="宋体" pitchFamily="2" charset="-122"/>
              </a:rPr>
              <a:t>无法处理存在负权回路</a:t>
            </a:r>
            <a:r>
              <a:rPr lang="zh-CN" altLang="en-US" dirty="0">
                <a:sym typeface="宋体" pitchFamily="2" charset="-122"/>
              </a:rPr>
              <a:t>的情况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>
              <a:sym typeface="+mn-ea"/>
            </a:endParaRPr>
          </a:p>
          <a:p>
            <a:pPr indent="457200"/>
            <a:endParaRPr lang="zh-CN" altLang="en-US" dirty="0">
              <a:sym typeface="+mn-ea"/>
            </a:endParaRPr>
          </a:p>
          <a:p>
            <a:pPr indent="457200"/>
            <a:r>
              <a:rPr lang="zh-CN" altLang="en-US" dirty="0">
                <a:sym typeface="宋体" pitchFamily="2" charset="-122"/>
              </a:rPr>
              <a:t>2.</a:t>
            </a:r>
            <a:r>
              <a:rPr lang="zh-CN" altLang="en-US" dirty="0">
                <a:sym typeface="Times New Roman" panose="02020503050405090304" pitchFamily="18" charset="0"/>
              </a:rPr>
              <a:t>Dijkstra</a:t>
            </a:r>
            <a:r>
              <a:rPr lang="zh-CN" altLang="en-US" dirty="0">
                <a:sym typeface="宋体" pitchFamily="2" charset="-122"/>
              </a:rPr>
              <a:t>算法：</a:t>
            </a:r>
            <a:r>
              <a:rPr lang="zh-CN" altLang="en-US" dirty="0">
                <a:sym typeface="+mn-ea"/>
              </a:rPr>
              <a:t>O(</a:t>
            </a:r>
            <a:r>
              <a:rPr lang="en-US" altLang="zh-CN" dirty="0">
                <a:sym typeface="+mn-ea"/>
              </a:rPr>
              <a:t>|V|^2</a:t>
            </a:r>
            <a:r>
              <a:rPr lang="zh-CN" altLang="en-US" dirty="0">
                <a:sym typeface="+mn-ea"/>
              </a:rPr>
              <a:t>)，单源最短路，</a:t>
            </a:r>
            <a:r>
              <a:rPr lang="zh-CN" altLang="en-US" dirty="0">
                <a:solidFill>
                  <a:srgbClr val="FF0000"/>
                </a:solidFill>
                <a:sym typeface="宋体" pitchFamily="2" charset="-122"/>
              </a:rPr>
              <a:t>不能处理存在负边权</a:t>
            </a:r>
            <a:r>
              <a:rPr lang="zh-CN" altLang="en-US" dirty="0">
                <a:sym typeface="宋体" pitchFamily="2" charset="-122"/>
              </a:rPr>
              <a:t>的情况。</a:t>
            </a:r>
            <a:endParaRPr lang="zh-CN" altLang="en-US" dirty="0">
              <a:solidFill>
                <a:schemeClr val="tx1"/>
              </a:solidFill>
            </a:endParaRPr>
          </a:p>
          <a:p>
            <a:pPr indent="457200"/>
            <a:endParaRPr lang="zh-CN" altLang="en-US" dirty="0">
              <a:sym typeface="宋体" pitchFamily="2" charset="-122"/>
            </a:endParaRPr>
          </a:p>
          <a:p>
            <a:pPr indent="457200" algn="l">
              <a:buClrTx/>
              <a:buSzTx/>
              <a:buNone/>
            </a:pPr>
            <a:r>
              <a:rPr lang="zh-CN" altLang="en-US" dirty="0">
                <a:sym typeface="宋体" pitchFamily="2" charset="-122"/>
              </a:rPr>
              <a:t>3.</a:t>
            </a:r>
            <a:r>
              <a:rPr lang="zh-CN" altLang="en-US" dirty="0">
                <a:sym typeface="Times New Roman" panose="02020503050405090304" pitchFamily="18" charset="0"/>
              </a:rPr>
              <a:t>Bellman-Ford</a:t>
            </a:r>
            <a:r>
              <a:rPr lang="zh-CN" altLang="en-US" dirty="0">
                <a:sym typeface="宋体" pitchFamily="2" charset="-122"/>
              </a:rPr>
              <a:t>算法：</a:t>
            </a:r>
            <a:r>
              <a:rPr lang="zh-CN" altLang="en-US" dirty="0">
                <a:sym typeface="+mn-ea"/>
              </a:rPr>
              <a:t>O(</a:t>
            </a:r>
            <a:r>
              <a:rPr lang="en-US" altLang="zh-CN" dirty="0">
                <a:sym typeface="+mn-ea"/>
              </a:rPr>
              <a:t>|V||E|</a:t>
            </a:r>
            <a:r>
              <a:rPr lang="zh-CN" altLang="en-US" dirty="0">
                <a:sym typeface="+mn-ea"/>
              </a:rPr>
              <a:t>)，单源最短路，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适用于出现负边权</a:t>
            </a:r>
            <a:r>
              <a:rPr lang="zh-CN" altLang="en-US" dirty="0">
                <a:sym typeface="+mn-ea"/>
              </a:rPr>
              <a:t>的情况，</a:t>
            </a:r>
            <a:r>
              <a:rPr lang="zh-CN" altLang="en-US" dirty="0">
                <a:sym typeface="宋体" pitchFamily="2" charset="-122"/>
              </a:rPr>
              <a:t>但</a:t>
            </a:r>
            <a:r>
              <a:rPr lang="zh-CN" altLang="en-US" dirty="0">
                <a:solidFill>
                  <a:srgbClr val="FF0000"/>
                </a:solidFill>
                <a:sym typeface="宋体" pitchFamily="2" charset="-122"/>
              </a:rPr>
              <a:t>无法处理存在负权回路</a:t>
            </a:r>
            <a:r>
              <a:rPr lang="zh-CN" altLang="en-US" dirty="0">
                <a:sym typeface="宋体" pitchFamily="2" charset="-122"/>
              </a:rPr>
              <a:t>的情况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>
              <a:solidFill>
                <a:srgbClr val="FF0000"/>
              </a:solidFill>
              <a:sym typeface="宋体" pitchFamily="2" charset="-122"/>
            </a:endParaRPr>
          </a:p>
          <a:p>
            <a:pPr indent="457200" algn="l">
              <a:buClrTx/>
              <a:buSzTx/>
              <a:buNone/>
            </a:pP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indent="457200"/>
            <a:r>
              <a:rPr lang="en-US" altLang="zh-CN" dirty="0">
                <a:solidFill>
                  <a:schemeClr val="tx1"/>
                </a:solidFill>
                <a:sym typeface="+mn-ea"/>
              </a:rPr>
              <a:t>4.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堆优化</a:t>
            </a:r>
            <a:r>
              <a:rPr lang="zh-CN" altLang="en-US" dirty="0">
                <a:sym typeface="Times New Roman" panose="02020503050405090304" pitchFamily="18" charset="0"/>
              </a:rPr>
              <a:t>Dijkstra</a:t>
            </a:r>
            <a:r>
              <a:rPr lang="zh-CN" altLang="en-US" dirty="0">
                <a:sym typeface="宋体" pitchFamily="2" charset="-122"/>
              </a:rPr>
              <a:t>算法：</a:t>
            </a:r>
            <a:r>
              <a:rPr lang="en-US" altLang="zh-CN" dirty="0">
                <a:sym typeface="宋体" pitchFamily="2" charset="-122"/>
              </a:rPr>
              <a:t>O((|V|+|E|)*log|V|)</a:t>
            </a:r>
            <a:r>
              <a:rPr lang="zh-CN" altLang="en-US" dirty="0">
                <a:sym typeface="宋体" pitchFamily="2" charset="-122"/>
              </a:rPr>
              <a:t>，</a:t>
            </a:r>
            <a:r>
              <a:rPr lang="zh-CN" altLang="en-US" dirty="0">
                <a:sym typeface="+mn-ea"/>
              </a:rPr>
              <a:t>单源最短路，</a:t>
            </a:r>
            <a:r>
              <a:rPr lang="zh-CN" altLang="en-US" dirty="0">
                <a:solidFill>
                  <a:srgbClr val="FF0000"/>
                </a:solidFill>
                <a:sym typeface="宋体" pitchFamily="2" charset="-122"/>
              </a:rPr>
              <a:t>不能处理存在负边权</a:t>
            </a:r>
            <a:r>
              <a:rPr lang="zh-CN" altLang="en-US" dirty="0">
                <a:sym typeface="宋体" pitchFamily="2" charset="-122"/>
              </a:rPr>
              <a:t>的情况。</a:t>
            </a:r>
            <a:endParaRPr lang="zh-CN" altLang="en-US" dirty="0">
              <a:solidFill>
                <a:schemeClr val="tx1"/>
              </a:solidFill>
            </a:endParaRPr>
          </a:p>
          <a:p>
            <a:pPr indent="457200"/>
            <a:endParaRPr lang="zh-CN" altLang="en-US" dirty="0">
              <a:sym typeface="宋体" pitchFamily="2" charset="-122"/>
            </a:endParaRPr>
          </a:p>
          <a:p>
            <a:pPr indent="457200" algn="l">
              <a:buClrTx/>
              <a:buSzTx/>
              <a:buNone/>
            </a:pPr>
            <a:r>
              <a:rPr lang="en-US" altLang="zh-CN" dirty="0">
                <a:solidFill>
                  <a:schemeClr val="tx1"/>
                </a:solidFill>
                <a:sym typeface="+mn-ea"/>
              </a:rPr>
              <a:t>5.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队列优化</a:t>
            </a:r>
            <a:r>
              <a:rPr lang="zh-CN" altLang="en-US" dirty="0">
                <a:sym typeface="Times New Roman" panose="02020503050405090304" pitchFamily="18" charset="0"/>
              </a:rPr>
              <a:t>Bellman-Ford</a:t>
            </a:r>
            <a:r>
              <a:rPr lang="zh-CN" altLang="en-US" dirty="0">
                <a:sym typeface="宋体" pitchFamily="2" charset="-122"/>
              </a:rPr>
              <a:t>算法（</a:t>
            </a:r>
            <a:r>
              <a:rPr lang="en-US" altLang="zh-CN" dirty="0">
                <a:sym typeface="宋体" pitchFamily="2" charset="-122"/>
              </a:rPr>
              <a:t>SPFA</a:t>
            </a:r>
            <a:r>
              <a:rPr lang="zh-CN" altLang="en-US" dirty="0">
                <a:sym typeface="宋体" pitchFamily="2" charset="-122"/>
              </a:rPr>
              <a:t>）：时间复杂度玄学，</a:t>
            </a:r>
            <a:r>
              <a:rPr lang="zh-CN" altLang="en-US" dirty="0">
                <a:sym typeface="+mn-ea"/>
              </a:rPr>
              <a:t>单源最短路，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适用于出现负边权</a:t>
            </a:r>
            <a:r>
              <a:rPr lang="zh-CN" altLang="en-US" dirty="0">
                <a:sym typeface="+mn-ea"/>
              </a:rPr>
              <a:t>的情况，</a:t>
            </a:r>
            <a:r>
              <a:rPr lang="zh-CN" altLang="en-US" dirty="0">
                <a:sym typeface="宋体" pitchFamily="2" charset="-122"/>
              </a:rPr>
              <a:t>但</a:t>
            </a:r>
            <a:r>
              <a:rPr lang="zh-CN" altLang="en-US" dirty="0">
                <a:solidFill>
                  <a:srgbClr val="FF0000"/>
                </a:solidFill>
                <a:sym typeface="宋体" pitchFamily="2" charset="-122"/>
              </a:rPr>
              <a:t>无法处理存在负权回路</a:t>
            </a:r>
            <a:r>
              <a:rPr lang="zh-CN" altLang="en-US" dirty="0">
                <a:sym typeface="宋体" pitchFamily="2" charset="-122"/>
              </a:rPr>
              <a:t>的情况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7905" y="1385570"/>
            <a:ext cx="10379710" cy="2699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/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274695" y="2884170"/>
            <a:ext cx="5276850" cy="12007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COMMONDATA" val="eyJoZGlkIjoiMjNhN2QzNzIxYTMxZDA2OTMyYTljMDA5MmRhYmMwNj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1959</Words>
  <Application>WPS 演示</Application>
  <PresentationFormat>宽屏</PresentationFormat>
  <Paragraphs>153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汉仪书宋二KW</vt:lpstr>
      <vt:lpstr>Times New Roman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47</cp:revision>
  <dcterms:created xsi:type="dcterms:W3CDTF">2025-04-10T12:53:49Z</dcterms:created>
  <dcterms:modified xsi:type="dcterms:W3CDTF">2025-04-10T12:53:49Z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39D95B3D507C44309E7C251695CCA2D4_12</vt:lpwstr>
  </property>
  <property fmtid="{D5CDD505-2E9C-101B-9397-08002B2CF9AE}" pid="3" name="KSOProductBuildVer">
    <vt:lpwstr>2052-6.15.2.8936</vt:lpwstr>
  </property>
</Properties>
</file>