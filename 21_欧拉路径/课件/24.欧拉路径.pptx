
<file path=[Content_Types].xml><?xml version="1.0" encoding="utf-8"?>
<Types xmlns="http://schemas.openxmlformats.org/package/2006/content-types">
  <Default Extension="jpeg" ContentType="image/jpeg"/>
  <Default Extension="JPG" ContentType="image/.jp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tags/tag14.xml" ContentType="application/vnd.openxmlformats-officedocument.presentationml.tags+xml"/>
  <Override PartName="/ppt/tags/tag15.xml" ContentType="application/vnd.openxmlformats-officedocument.presentationml.tags+xml"/>
  <Override PartName="/ppt/tags/tag16.xml" ContentType="application/vnd.openxmlformats-officedocument.presentationml.tags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tags/tag5.xml" ContentType="application/vnd.openxmlformats-officedocument.presentationml.tags+xml"/>
  <Override PartName="/ppt/tags/tag6.xml" ContentType="application/vnd.openxmlformats-officedocument.presentationml.tags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16"/>
  </p:notesMasterIdLst>
  <p:sldIdLst>
    <p:sldId id="265" r:id="rId3"/>
    <p:sldId id="311" r:id="rId4"/>
    <p:sldId id="313" r:id="rId5"/>
    <p:sldId id="314" r:id="rId6"/>
    <p:sldId id="315" r:id="rId7"/>
    <p:sldId id="316" r:id="rId8"/>
    <p:sldId id="319" r:id="rId9"/>
    <p:sldId id="317" r:id="rId10"/>
    <p:sldId id="325" r:id="rId11"/>
    <p:sldId id="323" r:id="rId12"/>
    <p:sldId id="324" r:id="rId13"/>
    <p:sldId id="326" r:id="rId14"/>
    <p:sldId id="318" r:id="rId15"/>
  </p:sldIdLst>
  <p:sldSz cx="12192000" cy="6858000"/>
  <p:notesSz cx="6858000" cy="9144000"/>
  <p:custDataLst>
    <p:tags r:id="rId20"/>
  </p:custDataLst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987" autoAdjust="0"/>
    <p:restoredTop sz="94660"/>
  </p:normalViewPr>
  <p:slideViewPr>
    <p:cSldViewPr snapToGrid="0">
      <p:cViewPr varScale="1">
        <p:scale>
          <a:sx n="116" d="100"/>
          <a:sy n="116" d="100"/>
        </p:scale>
        <p:origin x="336" y="10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7.xml"/><Relationship Id="rId8" Type="http://schemas.openxmlformats.org/officeDocument/2006/relationships/slide" Target="slides/slide6.xml"/><Relationship Id="rId7" Type="http://schemas.openxmlformats.org/officeDocument/2006/relationships/slide" Target="slides/slide5.xml"/><Relationship Id="rId6" Type="http://schemas.openxmlformats.org/officeDocument/2006/relationships/slide" Target="slides/slide4.xml"/><Relationship Id="rId5" Type="http://schemas.openxmlformats.org/officeDocument/2006/relationships/slide" Target="slides/slide3.xml"/><Relationship Id="rId4" Type="http://schemas.openxmlformats.org/officeDocument/2006/relationships/slide" Target="slides/slide2.xml"/><Relationship Id="rId3" Type="http://schemas.openxmlformats.org/officeDocument/2006/relationships/slide" Target="slides/slide1.xml"/><Relationship Id="rId20" Type="http://schemas.openxmlformats.org/officeDocument/2006/relationships/tags" Target="tags/tag16.xml"/><Relationship Id="rId2" Type="http://schemas.openxmlformats.org/officeDocument/2006/relationships/theme" Target="theme/theme1.xml"/><Relationship Id="rId19" Type="http://schemas.openxmlformats.org/officeDocument/2006/relationships/tableStyles" Target="tableStyles.xml"/><Relationship Id="rId18" Type="http://schemas.openxmlformats.org/officeDocument/2006/relationships/viewProps" Target="viewProps.xml"/><Relationship Id="rId17" Type="http://schemas.openxmlformats.org/officeDocument/2006/relationships/presProps" Target="presProps.xml"/><Relationship Id="rId16" Type="http://schemas.openxmlformats.org/officeDocument/2006/relationships/notesMaster" Target="notesMasters/notesMaster1.xml"/><Relationship Id="rId15" Type="http://schemas.openxmlformats.org/officeDocument/2006/relationships/slide" Target="slides/slide13.xml"/><Relationship Id="rId14" Type="http://schemas.openxmlformats.org/officeDocument/2006/relationships/slide" Target="slides/slide12.xml"/><Relationship Id="rId13" Type="http://schemas.openxmlformats.org/officeDocument/2006/relationships/slide" Target="slides/slide11.xml"/><Relationship Id="rId12" Type="http://schemas.openxmlformats.org/officeDocument/2006/relationships/slide" Target="slides/slide10.xml"/><Relationship Id="rId11" Type="http://schemas.openxmlformats.org/officeDocument/2006/relationships/slide" Target="slides/slide9.xml"/><Relationship Id="rId10" Type="http://schemas.openxmlformats.org/officeDocument/2006/relationships/slide" Target="slides/slide8.xml"/><Relationship Id="rId1" Type="http://schemas.openxmlformats.org/officeDocument/2006/relationships/slideMaster" Target="slideMasters/slide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2A48B96-639E-45A3-A0BA-2464DFDB1FAA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6837353-30EB-4A48-80EB-173D804AEFBD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 smtClean="0"/>
              <a:t>单击此处编辑母版副标题样式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&#10;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2" Type="http://schemas.openxmlformats.org/officeDocument/2006/relationships/theme" Target="../theme/theme1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9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.xml"/><Relationship Id="rId1" Type="http://schemas.openxmlformats.org/officeDocument/2006/relationships/tags" Target="../tags/tag1.xml"/></Relationships>
</file>

<file path=ppt/slides/_rels/slide2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1.xml"/><Relationship Id="rId3" Type="http://schemas.openxmlformats.org/officeDocument/2006/relationships/image" Target="../media/image1.png"/><Relationship Id="rId2" Type="http://schemas.openxmlformats.org/officeDocument/2006/relationships/tags" Target="../tags/tag3.xml"/><Relationship Id="rId1" Type="http://schemas.openxmlformats.org/officeDocument/2006/relationships/tags" Target="../tags/tag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.xml"/><Relationship Id="rId1" Type="http://schemas.openxmlformats.org/officeDocument/2006/relationships/tags" Target="../tags/tag4.xml"/></Relationships>
</file>

<file path=ppt/slides/_rels/slide4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1.xml"/><Relationship Id="rId3" Type="http://schemas.openxmlformats.org/officeDocument/2006/relationships/image" Target="../media/image2.png"/><Relationship Id="rId2" Type="http://schemas.openxmlformats.org/officeDocument/2006/relationships/tags" Target="../tags/tag6.xml"/><Relationship Id="rId1" Type="http://schemas.openxmlformats.org/officeDocument/2006/relationships/tags" Target="../tags/tag5.xml"/></Relationships>
</file>

<file path=ppt/slides/_rels/slide5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1.xml"/><Relationship Id="rId3" Type="http://schemas.openxmlformats.org/officeDocument/2006/relationships/image" Target="../media/image3.png"/><Relationship Id="rId2" Type="http://schemas.openxmlformats.org/officeDocument/2006/relationships/tags" Target="../tags/tag8.xml"/><Relationship Id="rId1" Type="http://schemas.openxmlformats.org/officeDocument/2006/relationships/tags" Target="../tags/tag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.xml"/><Relationship Id="rId1" Type="http://schemas.openxmlformats.org/officeDocument/2006/relationships/tags" Target="../tags/tag9.xml"/></Relationships>
</file>

<file path=ppt/slides/_rels/slide7.xml.rels><?xml version="1.0" encoding="UTF-8" standalone="yes"?>
<Relationships xmlns="http://schemas.openxmlformats.org/package/2006/relationships"><Relationship Id="rId6" Type="http://schemas.openxmlformats.org/officeDocument/2006/relationships/slideLayout" Target="../slideLayouts/slideLayout1.xml"/><Relationship Id="rId5" Type="http://schemas.openxmlformats.org/officeDocument/2006/relationships/image" Target="../media/image5.png"/><Relationship Id="rId4" Type="http://schemas.openxmlformats.org/officeDocument/2006/relationships/tags" Target="../tags/tag12.xml"/><Relationship Id="rId3" Type="http://schemas.openxmlformats.org/officeDocument/2006/relationships/image" Target="../media/image4.png"/><Relationship Id="rId2" Type="http://schemas.openxmlformats.org/officeDocument/2006/relationships/tags" Target="../tags/tag11.xml"/><Relationship Id="rId1" Type="http://schemas.openxmlformats.org/officeDocument/2006/relationships/tags" Target="../tags/tag10.xml"/></Relationships>
</file>

<file path=ppt/slides/_rels/slide8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1.xml"/><Relationship Id="rId3" Type="http://schemas.openxmlformats.org/officeDocument/2006/relationships/image" Target="../media/image6.png"/><Relationship Id="rId2" Type="http://schemas.openxmlformats.org/officeDocument/2006/relationships/tags" Target="../tags/tag14.xml"/><Relationship Id="rId1" Type="http://schemas.openxmlformats.org/officeDocument/2006/relationships/tags" Target="../tags/tag13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.xml"/><Relationship Id="rId1" Type="http://schemas.openxmlformats.org/officeDocument/2006/relationships/tags" Target="../tags/tag1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3" name="文本框 2"/>
          <p:cNvSpPr txBox="1"/>
          <p:nvPr>
            <p:custDataLst>
              <p:tags r:id="rId1"/>
            </p:custDataLst>
          </p:nvPr>
        </p:nvSpPr>
        <p:spPr>
          <a:xfrm>
            <a:off x="3169285" y="161925"/>
            <a:ext cx="4479290" cy="1021715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endParaRPr lang="zh-CN" altLang="en-US">
              <a:sym typeface="+mn-ea"/>
            </a:endParaRPr>
          </a:p>
          <a:p>
            <a:endParaRPr lang="zh-CN" altLang="en-US">
              <a:sym typeface="+mn-ea"/>
            </a:endParaRPr>
          </a:p>
          <a:p>
            <a:pPr algn="ctr"/>
            <a:r>
              <a:rPr lang="zh-CN" altLang="en-US">
                <a:sym typeface="+mn-ea"/>
              </a:rPr>
              <a:t>欧拉图</a:t>
            </a:r>
            <a:endParaRPr lang="zh-CN" altLang="en-US"/>
          </a:p>
          <a:p/>
        </p:txBody>
      </p:sp>
      <p:sp>
        <p:nvSpPr>
          <p:cNvPr id="2" name="文本框 1"/>
          <p:cNvSpPr txBox="1"/>
          <p:nvPr/>
        </p:nvSpPr>
        <p:spPr>
          <a:xfrm>
            <a:off x="1201420" y="1447165"/>
            <a:ext cx="9787890" cy="313817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/>
              <a:t>对于一个连通的图G，有：</a:t>
            </a:r>
            <a:endParaRPr lang="zh-CN" altLang="en-US"/>
          </a:p>
          <a:p>
            <a:endParaRPr lang="zh-CN" altLang="en-US"/>
          </a:p>
          <a:p>
            <a:r>
              <a:rPr lang="zh-CN" altLang="en-US">
                <a:solidFill>
                  <a:srgbClr val="FF0000"/>
                </a:solidFill>
              </a:rPr>
              <a:t>欧拉路径</a:t>
            </a:r>
            <a:r>
              <a:rPr lang="zh-CN" altLang="en-US"/>
              <a:t>: 一条路径，它能够不重复地遍历完所有的边。这个性质很像不重复地一笔画完所有边，所以有些涉及到欧拉路径的问题叫做</a:t>
            </a:r>
            <a:r>
              <a:rPr lang="zh-CN" altLang="en-US">
                <a:solidFill>
                  <a:srgbClr val="FF0000"/>
                </a:solidFill>
              </a:rPr>
              <a:t>一笔画</a:t>
            </a:r>
            <a:r>
              <a:rPr lang="zh-CN" altLang="en-US"/>
              <a:t>问题。</a:t>
            </a:r>
            <a:endParaRPr lang="zh-CN" altLang="en-US"/>
          </a:p>
          <a:p>
            <a:endParaRPr lang="zh-CN" altLang="en-US"/>
          </a:p>
          <a:p>
            <a:r>
              <a:rPr lang="zh-CN" altLang="en-US">
                <a:solidFill>
                  <a:srgbClr val="FF0000"/>
                </a:solidFill>
              </a:rPr>
              <a:t>欧拉回路</a:t>
            </a:r>
            <a:r>
              <a:rPr lang="zh-CN" altLang="en-US"/>
              <a:t>： 一条路径，它能够不重复地遍历完所有的边，并且回到起点。可以看出欧拉回路也是欧拉路径。</a:t>
            </a:r>
            <a:endParaRPr lang="zh-CN" altLang="en-US"/>
          </a:p>
          <a:p>
            <a:endParaRPr lang="zh-CN" altLang="en-US"/>
          </a:p>
          <a:p>
            <a:r>
              <a:rPr lang="zh-CN" altLang="en-US">
                <a:solidFill>
                  <a:srgbClr val="FF0000"/>
                </a:solidFill>
              </a:rPr>
              <a:t>半欧拉图</a:t>
            </a:r>
            <a:r>
              <a:rPr lang="zh-CN" altLang="en-US"/>
              <a:t>： 一个图，图中存在欧拉路径。</a:t>
            </a:r>
            <a:endParaRPr lang="zh-CN" altLang="en-US"/>
          </a:p>
          <a:p>
            <a:endParaRPr lang="zh-CN" altLang="en-US"/>
          </a:p>
          <a:p>
            <a:r>
              <a:rPr lang="zh-CN" altLang="en-US">
                <a:solidFill>
                  <a:srgbClr val="FF0000"/>
                </a:solidFill>
              </a:rPr>
              <a:t>欧拉图</a:t>
            </a:r>
            <a:r>
              <a:rPr lang="zh-CN" altLang="en-US"/>
              <a:t>： 一个图，图中存在欧拉回路。可以看出欧拉图也是半欧拉图。</a:t>
            </a:r>
            <a:endParaRPr lang="zh-CN" altLang="en-US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3" name="文本框 2"/>
          <p:cNvSpPr txBox="1"/>
          <p:nvPr>
            <p:custDataLst>
              <p:tags r:id="rId1"/>
            </p:custDataLst>
          </p:nvPr>
        </p:nvSpPr>
        <p:spPr>
          <a:xfrm>
            <a:off x="847090" y="381635"/>
            <a:ext cx="6614795" cy="6377940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pPr marL="457200" lvl="1" indent="457200">
              <a:buNone/>
            </a:pPr>
            <a:r>
              <a:rPr lang="zh-CN" altLang="en-US">
                <a:solidFill>
                  <a:schemeClr val="tx1"/>
                </a:solidFill>
                <a:sym typeface="+mn-ea"/>
              </a:rPr>
              <a:t> </a:t>
            </a:r>
            <a:r>
              <a:rPr lang="en-US" altLang="zh-CN">
                <a:solidFill>
                  <a:schemeClr val="tx1"/>
                </a:solidFill>
                <a:sym typeface="+mn-ea"/>
              </a:rPr>
              <a:t>              </a:t>
            </a:r>
            <a:endParaRPr lang="zh-CN" altLang="en-US">
              <a:sym typeface="+mn-ea"/>
            </a:endParaRPr>
          </a:p>
          <a:p>
            <a:pPr indent="457200"/>
            <a:endParaRPr lang="zh-CN" altLang="en-US">
              <a:sym typeface="+mn-ea"/>
            </a:endParaRPr>
          </a:p>
          <a:p>
            <a:pPr indent="457200"/>
            <a:r>
              <a:rPr lang="zh-CN" altLang="en-US">
                <a:solidFill>
                  <a:srgbClr val="FF0000"/>
                </a:solidFill>
                <a:sym typeface="+mn-ea"/>
              </a:rPr>
              <a:t>给定一张无向图，问是否存在一条从某个节点出发，并最终回到该节点的路径，使得该路径恰好经过每条边一次。</a:t>
            </a:r>
            <a:endParaRPr lang="zh-CN" altLang="en-US">
              <a:solidFill>
                <a:srgbClr val="FF0000"/>
              </a:solidFill>
              <a:sym typeface="+mn-ea"/>
            </a:endParaRPr>
          </a:p>
          <a:p>
            <a:pPr indent="457200"/>
            <a:endParaRPr lang="zh-CN" altLang="en-US">
              <a:sym typeface="+mn-ea"/>
            </a:endParaRPr>
          </a:p>
          <a:p>
            <a:pPr indent="457200"/>
            <a:r>
              <a:rPr lang="zh-CN" altLang="en-US">
                <a:sym typeface="+mn-ea"/>
              </a:rPr>
              <a:t>对于任意一个与起点不同的节点，进入该节点需要“消耗”一条边，而离开该节点需要“消耗”另一条边。因此，该</a:t>
            </a:r>
            <a:r>
              <a:rPr lang="zh-CN" altLang="en-US">
                <a:solidFill>
                  <a:srgbClr val="FF0000"/>
                </a:solidFill>
                <a:sym typeface="+mn-ea"/>
              </a:rPr>
              <a:t>节点的度数</a:t>
            </a:r>
            <a:r>
              <a:rPr lang="zh-CN" altLang="en-US">
                <a:sym typeface="+mn-ea"/>
              </a:rPr>
              <a:t>（连接该节点的边的数量，若一条边的两端是同一个节点则需计算两次）必须为</a:t>
            </a:r>
            <a:r>
              <a:rPr lang="zh-CN" altLang="en-US">
                <a:solidFill>
                  <a:srgbClr val="FF0000"/>
                </a:solidFill>
                <a:sym typeface="+mn-ea"/>
              </a:rPr>
              <a:t>偶数</a:t>
            </a:r>
            <a:r>
              <a:rPr lang="zh-CN" altLang="en-US">
                <a:sym typeface="+mn-ea"/>
              </a:rPr>
              <a:t>，才能保证我们不被“困在”该节点中。</a:t>
            </a:r>
            <a:endParaRPr lang="zh-CN" altLang="en-US">
              <a:sym typeface="+mn-ea"/>
            </a:endParaRPr>
          </a:p>
          <a:p>
            <a:pPr indent="457200"/>
            <a:endParaRPr lang="zh-CN" altLang="en-US">
              <a:sym typeface="+mn-ea"/>
            </a:endParaRPr>
          </a:p>
          <a:p>
            <a:pPr indent="457200"/>
            <a:r>
              <a:rPr lang="zh-CN" altLang="en-US">
                <a:sym typeface="+mn-ea"/>
              </a:rPr>
              <a:t>同样地，对于起点而言，离开起点需要“消耗”一条边，而回到起点需要“消耗”另一条边。因此，</a:t>
            </a:r>
            <a:r>
              <a:rPr lang="zh-CN" altLang="en-US">
                <a:solidFill>
                  <a:srgbClr val="FF0000"/>
                </a:solidFill>
                <a:sym typeface="+mn-ea"/>
              </a:rPr>
              <a:t>起点的度数</a:t>
            </a:r>
            <a:r>
              <a:rPr lang="zh-CN" altLang="en-US">
                <a:sym typeface="+mn-ea"/>
              </a:rPr>
              <a:t>也必须为</a:t>
            </a:r>
            <a:r>
              <a:rPr lang="zh-CN" altLang="en-US">
                <a:solidFill>
                  <a:srgbClr val="FF0000"/>
                </a:solidFill>
                <a:sym typeface="+mn-ea"/>
              </a:rPr>
              <a:t>偶数</a:t>
            </a:r>
            <a:r>
              <a:rPr lang="zh-CN" altLang="en-US">
                <a:sym typeface="+mn-ea"/>
              </a:rPr>
              <a:t>，才能保证我们最终能回到起点。</a:t>
            </a:r>
            <a:endParaRPr lang="zh-CN" altLang="en-US">
              <a:sym typeface="+mn-ea"/>
            </a:endParaRPr>
          </a:p>
          <a:p>
            <a:pPr indent="457200"/>
            <a:endParaRPr lang="zh-CN" altLang="en-US">
              <a:sym typeface="+mn-ea"/>
            </a:endParaRPr>
          </a:p>
          <a:p>
            <a:pPr indent="457200"/>
            <a:r>
              <a:rPr lang="zh-CN" altLang="en-US">
                <a:sym typeface="+mn-ea"/>
              </a:rPr>
              <a:t>我们依此得到无向图中存在欧拉回路的判定条件：</a:t>
            </a:r>
            <a:endParaRPr lang="zh-CN" altLang="en-US">
              <a:sym typeface="+mn-ea"/>
            </a:endParaRPr>
          </a:p>
          <a:p>
            <a:pPr indent="457200"/>
            <a:endParaRPr lang="zh-CN" altLang="en-US">
              <a:sym typeface="+mn-ea"/>
            </a:endParaRPr>
          </a:p>
          <a:p>
            <a:pPr indent="457200"/>
            <a:r>
              <a:rPr lang="zh-CN" altLang="en-US">
                <a:solidFill>
                  <a:srgbClr val="FF0000"/>
                </a:solidFill>
                <a:sym typeface="+mn-ea"/>
              </a:rPr>
              <a:t>一张无向图中存在欧拉回路，当且仅当所有非零度节点（有边连接的节点）是连通的，且每个节点的度数均为偶数。</a:t>
            </a:r>
            <a:endParaRPr lang="zh-CN" altLang="en-US">
              <a:solidFill>
                <a:srgbClr val="FF0000"/>
              </a:solidFill>
              <a:sym typeface="+mn-ea"/>
            </a:endParaRPr>
          </a:p>
          <a:p>
            <a:endParaRPr lang="zh-CN" altLang="en-US">
              <a:sym typeface="+mn-ea"/>
            </a:endParaRPr>
          </a:p>
          <a:p>
            <a:endParaRPr lang="zh-CN" altLang="en-US"/>
          </a:p>
          <a:p/>
        </p:txBody>
      </p:sp>
      <p:pic>
        <p:nvPicPr>
          <p:cNvPr id="2" name="图片 1"/>
          <p:cNvPicPr>
            <a:picLocks noChangeAspect="1"/>
          </p:cNvPicPr>
          <p:nvPr>
            <p:custDataLst>
              <p:tags r:id="rId2"/>
            </p:custDataLst>
          </p:nvPr>
        </p:nvPicPr>
        <p:blipFill>
          <a:blip r:embed="rId3"/>
          <a:stretch>
            <a:fillRect/>
          </a:stretch>
        </p:blipFill>
        <p:spPr>
          <a:xfrm>
            <a:off x="8492490" y="1385570"/>
            <a:ext cx="3204210" cy="391160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3" name="文本框 2"/>
          <p:cNvSpPr txBox="1"/>
          <p:nvPr>
            <p:custDataLst>
              <p:tags r:id="rId1"/>
            </p:custDataLst>
          </p:nvPr>
        </p:nvSpPr>
        <p:spPr>
          <a:xfrm>
            <a:off x="847090" y="381635"/>
            <a:ext cx="11097895" cy="6219190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pPr marL="0" lvl="0" indent="457200">
              <a:buNone/>
            </a:pPr>
            <a:r>
              <a:rPr lang="zh-CN" altLang="en-US">
                <a:sym typeface="+mn-ea"/>
              </a:rPr>
              <a:t>如何判断有没有</a:t>
            </a:r>
            <a:r>
              <a:rPr lang="zh-CN" altLang="en-US">
                <a:solidFill>
                  <a:srgbClr val="FF0000"/>
                </a:solidFill>
                <a:sym typeface="+mn-ea"/>
              </a:rPr>
              <a:t>欧拉路径</a:t>
            </a:r>
            <a:r>
              <a:rPr lang="en-US" altLang="zh-CN">
                <a:sym typeface="+mn-ea"/>
              </a:rPr>
              <a:t>/</a:t>
            </a:r>
            <a:r>
              <a:rPr lang="zh-CN" altLang="en-US">
                <a:solidFill>
                  <a:srgbClr val="FF0000"/>
                </a:solidFill>
                <a:sym typeface="+mn-ea"/>
              </a:rPr>
              <a:t>欧拉回路</a:t>
            </a:r>
            <a:r>
              <a:rPr lang="zh-CN" altLang="en-US">
                <a:sym typeface="+mn-ea"/>
              </a:rPr>
              <a:t>？</a:t>
            </a:r>
            <a:endParaRPr lang="zh-CN" altLang="en-US">
              <a:solidFill>
                <a:schemeClr val="tx1"/>
              </a:solidFill>
              <a:sym typeface="+mn-ea"/>
            </a:endParaRPr>
          </a:p>
          <a:p>
            <a:pPr marL="457200" lvl="1" indent="457200">
              <a:buNone/>
            </a:pPr>
            <a:endParaRPr lang="zh-CN" altLang="en-US">
              <a:sym typeface="+mn-ea"/>
            </a:endParaRPr>
          </a:p>
          <a:p>
            <a:pPr marL="457200" lvl="1" indent="457200">
              <a:buNone/>
            </a:pPr>
            <a:r>
              <a:rPr lang="zh-CN" altLang="en-US">
                <a:sym typeface="+mn-ea"/>
              </a:rPr>
              <a:t>无向图中：</a:t>
            </a:r>
            <a:endParaRPr lang="zh-CN" altLang="en-US">
              <a:sym typeface="+mn-ea"/>
            </a:endParaRPr>
          </a:p>
          <a:p>
            <a:pPr marL="457200" lvl="1" indent="457200">
              <a:buNone/>
            </a:pPr>
            <a:endParaRPr lang="zh-CN" altLang="en-US">
              <a:solidFill>
                <a:schemeClr val="tx1"/>
              </a:solidFill>
              <a:sym typeface="+mn-ea"/>
            </a:endParaRPr>
          </a:p>
          <a:p>
            <a:pPr marL="457200" lvl="1" indent="457200">
              <a:buNone/>
            </a:pPr>
            <a:r>
              <a:rPr lang="zh-CN" altLang="en-US">
                <a:sym typeface="+mn-ea"/>
              </a:rPr>
              <a:t>1 存在欧拉路径的充要条件 : 度数为奇数的点只能有0或2个</a:t>
            </a:r>
            <a:endParaRPr lang="zh-CN" altLang="en-US">
              <a:solidFill>
                <a:schemeClr val="tx1"/>
              </a:solidFill>
              <a:sym typeface="+mn-ea"/>
            </a:endParaRPr>
          </a:p>
          <a:p>
            <a:pPr marL="457200" lvl="1" indent="457200">
              <a:buNone/>
            </a:pPr>
            <a:r>
              <a:rPr lang="zh-CN" altLang="en-US">
                <a:sym typeface="+mn-ea"/>
              </a:rPr>
              <a:t>2 存在欧拉回路的充要条件 : 度数为奇数的点只能有0个</a:t>
            </a:r>
            <a:endParaRPr lang="zh-CN" altLang="en-US">
              <a:sym typeface="+mn-ea"/>
            </a:endParaRPr>
          </a:p>
          <a:p>
            <a:pPr marL="457200" lvl="1" indent="457200">
              <a:buNone/>
            </a:pPr>
            <a:endParaRPr lang="zh-CN" altLang="en-US">
              <a:solidFill>
                <a:schemeClr val="tx1"/>
              </a:solidFill>
              <a:sym typeface="+mn-ea"/>
            </a:endParaRPr>
          </a:p>
          <a:p>
            <a:pPr marL="457200" lvl="1" indent="457200">
              <a:buNone/>
            </a:pPr>
            <a:r>
              <a:rPr lang="zh-CN" altLang="en-US">
                <a:sym typeface="+mn-ea"/>
              </a:rPr>
              <a:t>有向图中：</a:t>
            </a:r>
            <a:endParaRPr lang="zh-CN" altLang="en-US">
              <a:sym typeface="+mn-ea"/>
            </a:endParaRPr>
          </a:p>
          <a:p>
            <a:pPr marL="457200" lvl="1" indent="457200">
              <a:buNone/>
            </a:pPr>
            <a:endParaRPr lang="zh-CN" altLang="en-US">
              <a:solidFill>
                <a:schemeClr val="tx1"/>
              </a:solidFill>
              <a:sym typeface="+mn-ea"/>
            </a:endParaRPr>
          </a:p>
          <a:p>
            <a:pPr marL="457200" lvl="1" indent="457200">
              <a:buNone/>
            </a:pPr>
            <a:r>
              <a:rPr lang="zh-CN" altLang="en-US">
                <a:sym typeface="+mn-ea"/>
              </a:rPr>
              <a:t>1 存在欧拉路径的充要条件 : </a:t>
            </a:r>
            <a:endParaRPr lang="zh-CN" altLang="en-US">
              <a:sym typeface="+mn-ea"/>
            </a:endParaRPr>
          </a:p>
          <a:p>
            <a:pPr marL="457200" lvl="1" indent="457200">
              <a:buNone/>
            </a:pPr>
            <a:r>
              <a:rPr lang="zh-CN" altLang="en-US">
                <a:sym typeface="+mn-ea"/>
              </a:rPr>
              <a:t> （</a:t>
            </a:r>
            <a:r>
              <a:rPr lang="en-US" altLang="zh-CN">
                <a:sym typeface="+mn-ea"/>
              </a:rPr>
              <a:t>1</a:t>
            </a:r>
            <a:r>
              <a:rPr lang="zh-CN" altLang="en-US">
                <a:sym typeface="+mn-ea"/>
              </a:rPr>
              <a:t>）要么所有点的出度均=入度；</a:t>
            </a:r>
            <a:endParaRPr lang="zh-CN" altLang="en-US">
              <a:solidFill>
                <a:schemeClr val="tx1"/>
              </a:solidFill>
              <a:sym typeface="+mn-ea"/>
            </a:endParaRPr>
          </a:p>
          <a:p>
            <a:pPr marL="457200" lvl="1" indent="457200">
              <a:buNone/>
            </a:pPr>
            <a:r>
              <a:rPr lang="en-US" altLang="zh-CN">
                <a:sym typeface="+mn-ea"/>
              </a:rPr>
              <a:t> </a:t>
            </a:r>
            <a:r>
              <a:rPr lang="zh-CN" altLang="en-US">
                <a:sym typeface="+mn-ea"/>
              </a:rPr>
              <a:t>（</a:t>
            </a:r>
            <a:r>
              <a:rPr lang="en-US" altLang="zh-CN">
                <a:sym typeface="+mn-ea"/>
              </a:rPr>
              <a:t>2</a:t>
            </a:r>
            <a:r>
              <a:rPr lang="zh-CN" altLang="en-US">
                <a:sym typeface="+mn-ea"/>
              </a:rPr>
              <a:t>）要么除了两个点之外，其余所有点的出度=入度 剩余的两个点:</a:t>
            </a:r>
            <a:endParaRPr lang="zh-CN" altLang="en-US">
              <a:sym typeface="+mn-ea"/>
            </a:endParaRPr>
          </a:p>
          <a:p>
            <a:pPr marL="457200" lvl="1" indent="457200">
              <a:buNone/>
            </a:pPr>
            <a:r>
              <a:rPr lang="en-US" altLang="zh-CN">
                <a:sym typeface="+mn-ea"/>
              </a:rPr>
              <a:t>    </a:t>
            </a:r>
            <a:r>
              <a:rPr lang="zh-CN" altLang="en-US">
                <a:sym typeface="+mn-ea"/>
              </a:rPr>
              <a:t>一个满足出度-入度=1(起点) </a:t>
            </a:r>
            <a:r>
              <a:rPr lang="en-US" altLang="zh-CN">
                <a:sym typeface="+mn-ea"/>
              </a:rPr>
              <a:t>    </a:t>
            </a:r>
            <a:r>
              <a:rPr lang="zh-CN" altLang="en-US">
                <a:sym typeface="+mn-ea"/>
              </a:rPr>
              <a:t>一个满足入度-出度=1(终点)</a:t>
            </a:r>
            <a:endParaRPr lang="zh-CN" altLang="en-US">
              <a:sym typeface="+mn-ea"/>
            </a:endParaRPr>
          </a:p>
          <a:p>
            <a:pPr marL="457200" lvl="1" indent="457200">
              <a:buNone/>
            </a:pPr>
            <a:endParaRPr lang="zh-CN" altLang="en-US">
              <a:solidFill>
                <a:schemeClr val="tx1"/>
              </a:solidFill>
              <a:sym typeface="+mn-ea"/>
            </a:endParaRPr>
          </a:p>
          <a:p>
            <a:pPr marL="457200" lvl="1" indent="457200">
              <a:buNone/>
            </a:pPr>
            <a:r>
              <a:rPr lang="zh-CN" altLang="en-US">
                <a:sym typeface="+mn-ea"/>
              </a:rPr>
              <a:t>2 存在欧拉回路的充要条件 : 所有点的出度均等于入度</a:t>
            </a:r>
            <a:r>
              <a:rPr lang="en-US" altLang="zh-CN">
                <a:sym typeface="+mn-ea"/>
              </a:rPr>
              <a:t>       </a:t>
            </a:r>
            <a:endParaRPr lang="zh-CN" altLang="en-US">
              <a:sym typeface="+mn-ea"/>
            </a:endParaRPr>
          </a:p>
          <a:p>
            <a:pPr marL="457200" lvl="1" indent="457200">
              <a:buNone/>
            </a:pPr>
            <a:r>
              <a:rPr lang="zh-CN" altLang="en-US">
                <a:solidFill>
                  <a:schemeClr val="tx1"/>
                </a:solidFill>
                <a:sym typeface="+mn-ea"/>
              </a:rPr>
              <a:t> </a:t>
            </a:r>
            <a:r>
              <a:rPr lang="en-US" altLang="zh-CN">
                <a:solidFill>
                  <a:schemeClr val="tx1"/>
                </a:solidFill>
                <a:sym typeface="+mn-ea"/>
              </a:rPr>
              <a:t>              </a:t>
            </a:r>
            <a:endParaRPr lang="en-US" altLang="zh-CN">
              <a:solidFill>
                <a:schemeClr val="tx1"/>
              </a:solidFill>
              <a:sym typeface="+mn-ea"/>
            </a:endParaRPr>
          </a:p>
          <a:p>
            <a:pPr indent="457200"/>
            <a:endParaRPr lang="zh-CN" altLang="en-US">
              <a:sym typeface="+mn-ea"/>
            </a:endParaRPr>
          </a:p>
          <a:p>
            <a:endParaRPr lang="zh-CN" altLang="en-US">
              <a:sym typeface="+mn-ea"/>
            </a:endParaRPr>
          </a:p>
          <a:p>
            <a:endParaRPr lang="zh-CN" altLang="en-US"/>
          </a:p>
          <a:p/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3" name="文本框 2"/>
          <p:cNvSpPr txBox="1"/>
          <p:nvPr>
            <p:custDataLst>
              <p:tags r:id="rId1"/>
            </p:custDataLst>
          </p:nvPr>
        </p:nvSpPr>
        <p:spPr>
          <a:xfrm>
            <a:off x="847090" y="381635"/>
            <a:ext cx="11097895" cy="6219190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pPr marL="0" lvl="0" indent="457200">
              <a:buNone/>
            </a:pPr>
            <a:r>
              <a:rPr lang="zh-CN" altLang="en-US">
                <a:sym typeface="+mn-ea"/>
              </a:rPr>
              <a:t>如何找到</a:t>
            </a:r>
            <a:r>
              <a:rPr lang="zh-CN" altLang="en-US">
                <a:solidFill>
                  <a:srgbClr val="FF0000"/>
                </a:solidFill>
                <a:sym typeface="+mn-ea"/>
              </a:rPr>
              <a:t>欧拉路径</a:t>
            </a:r>
            <a:r>
              <a:rPr lang="en-US" altLang="zh-CN">
                <a:sym typeface="+mn-ea"/>
              </a:rPr>
              <a:t>/</a:t>
            </a:r>
            <a:r>
              <a:rPr lang="zh-CN" altLang="en-US">
                <a:solidFill>
                  <a:srgbClr val="FF0000"/>
                </a:solidFill>
                <a:sym typeface="+mn-ea"/>
              </a:rPr>
              <a:t>欧拉回路</a:t>
            </a:r>
            <a:r>
              <a:rPr lang="zh-CN" altLang="en-US">
                <a:sym typeface="+mn-ea"/>
              </a:rPr>
              <a:t>？</a:t>
            </a:r>
            <a:endParaRPr lang="zh-CN" altLang="en-US">
              <a:sym typeface="+mn-ea"/>
            </a:endParaRPr>
          </a:p>
          <a:p>
            <a:pPr marL="0" lvl="0" indent="457200">
              <a:buNone/>
            </a:pPr>
            <a:r>
              <a:rPr lang="zh-CN" altLang="en-US">
                <a:sym typeface="+mn-ea"/>
              </a:rPr>
              <a:t>首先通过</a:t>
            </a:r>
            <a:r>
              <a:rPr lang="zh-CN" altLang="en-US">
                <a:solidFill>
                  <a:srgbClr val="FF0000"/>
                </a:solidFill>
                <a:sym typeface="+mn-ea"/>
              </a:rPr>
              <a:t>度</a:t>
            </a:r>
            <a:r>
              <a:rPr lang="zh-CN" altLang="en-US">
                <a:sym typeface="+mn-ea"/>
              </a:rPr>
              <a:t>判断是</a:t>
            </a:r>
            <a:r>
              <a:rPr lang="zh-CN" altLang="en-US">
                <a:sym typeface="+mn-ea"/>
              </a:rPr>
              <a:t>半欧拉图</a:t>
            </a:r>
            <a:r>
              <a:rPr lang="en-US" altLang="zh-CN">
                <a:sym typeface="+mn-ea"/>
              </a:rPr>
              <a:t>/</a:t>
            </a:r>
            <a:r>
              <a:rPr lang="zh-CN" altLang="en-US">
                <a:sym typeface="+mn-ea"/>
              </a:rPr>
              <a:t>欧拉图，然后用希尔霍尔策（Hierholzer）算法（基于</a:t>
            </a:r>
            <a:r>
              <a:rPr lang="en-US" altLang="zh-CN">
                <a:sym typeface="+mn-ea"/>
              </a:rPr>
              <a:t>DFS</a:t>
            </a:r>
            <a:r>
              <a:rPr lang="zh-CN" altLang="en-US">
                <a:sym typeface="+mn-ea"/>
              </a:rPr>
              <a:t>）找</a:t>
            </a:r>
            <a:r>
              <a:rPr lang="zh-CN" altLang="en-US">
                <a:solidFill>
                  <a:srgbClr val="FF0000"/>
                </a:solidFill>
                <a:sym typeface="+mn-ea"/>
              </a:rPr>
              <a:t>欧拉路径</a:t>
            </a:r>
            <a:r>
              <a:rPr lang="en-US" altLang="zh-CN">
                <a:sym typeface="+mn-ea"/>
              </a:rPr>
              <a:t>/</a:t>
            </a:r>
            <a:r>
              <a:rPr lang="zh-CN" altLang="en-US">
                <a:solidFill>
                  <a:srgbClr val="FF0000"/>
                </a:solidFill>
                <a:sym typeface="+mn-ea"/>
              </a:rPr>
              <a:t>欧拉回路</a:t>
            </a:r>
            <a:endParaRPr lang="zh-CN" altLang="en-US">
              <a:solidFill>
                <a:srgbClr val="FF0000"/>
              </a:solidFill>
              <a:sym typeface="+mn-ea"/>
            </a:endParaRPr>
          </a:p>
          <a:p>
            <a:pPr marL="0" lvl="0" indent="457200">
              <a:buNone/>
            </a:pPr>
            <a:endParaRPr lang="zh-CN" altLang="en-US">
              <a:solidFill>
                <a:srgbClr val="FF0000"/>
              </a:solidFill>
              <a:sym typeface="+mn-ea"/>
            </a:endParaRPr>
          </a:p>
          <a:p>
            <a:pPr marL="0" lvl="0" indent="457200">
              <a:buNone/>
            </a:pPr>
            <a:r>
              <a:rPr lang="zh-CN" altLang="en-US">
                <a:sym typeface="+mn-ea"/>
              </a:rPr>
              <a:t>以找欧拉回路为例：</a:t>
            </a:r>
            <a:endParaRPr lang="zh-CN" altLang="en-US">
              <a:sym typeface="+mn-ea"/>
            </a:endParaRPr>
          </a:p>
          <a:p>
            <a:pPr marL="0" lvl="0" indent="457200">
              <a:buNone/>
            </a:pPr>
            <a:r>
              <a:rPr lang="zh-CN" altLang="en-US">
                <a:sym typeface="+mn-ea"/>
              </a:rPr>
              <a:t>Hierholzer的</a:t>
            </a:r>
            <a:r>
              <a:rPr lang="zh-CN" altLang="en-US">
                <a:sym typeface="+mn-ea"/>
              </a:rPr>
              <a:t>基本思想是首先找到一个子回路，并逐步将其他回路合并到该子回路中，最终形成完整的欧拉回路。</a:t>
            </a:r>
            <a:endParaRPr lang="zh-CN" altLang="en-US">
              <a:sym typeface="+mn-ea"/>
            </a:endParaRPr>
          </a:p>
          <a:p>
            <a:pPr marL="457200" lvl="1" indent="457200">
              <a:buNone/>
            </a:pPr>
            <a:r>
              <a:rPr lang="en-US" altLang="zh-CN">
                <a:solidFill>
                  <a:schemeClr val="tx1"/>
                </a:solidFill>
                <a:sym typeface="+mn-ea"/>
              </a:rPr>
              <a:t>            </a:t>
            </a:r>
            <a:endParaRPr lang="en-US" altLang="zh-CN">
              <a:solidFill>
                <a:schemeClr val="tx1"/>
              </a:solidFill>
              <a:sym typeface="+mn-ea"/>
            </a:endParaRPr>
          </a:p>
          <a:p>
            <a:pPr indent="457200"/>
            <a:endParaRPr lang="zh-CN" altLang="en-US">
              <a:sym typeface="+mn-ea"/>
            </a:endParaRPr>
          </a:p>
          <a:p>
            <a:endParaRPr lang="zh-CN" altLang="en-US">
              <a:sym typeface="+mn-ea"/>
            </a:endParaRPr>
          </a:p>
          <a:p>
            <a:endParaRPr lang="zh-CN" altLang="en-US"/>
          </a:p>
          <a:p/>
        </p:txBody>
      </p:sp>
      <p:pic>
        <p:nvPicPr>
          <p:cNvPr id="2" name="图片 1"/>
          <p:cNvPicPr>
            <a:picLocks noChangeAspect="1"/>
          </p:cNvPicPr>
          <p:nvPr>
            <p:custDataLst>
              <p:tags r:id="rId2"/>
            </p:custDataLst>
          </p:nvPr>
        </p:nvPicPr>
        <p:blipFill>
          <a:blip r:embed="rId3"/>
          <a:stretch>
            <a:fillRect/>
          </a:stretch>
        </p:blipFill>
        <p:spPr>
          <a:xfrm>
            <a:off x="2303145" y="2295525"/>
            <a:ext cx="7201535" cy="249682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3" name="文本框 2"/>
          <p:cNvSpPr txBox="1"/>
          <p:nvPr>
            <p:custDataLst>
              <p:tags r:id="rId1"/>
            </p:custDataLst>
          </p:nvPr>
        </p:nvSpPr>
        <p:spPr>
          <a:xfrm>
            <a:off x="847090" y="381635"/>
            <a:ext cx="11097895" cy="6219190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pPr marL="457200" lvl="1" indent="457200">
              <a:buNone/>
            </a:pPr>
            <a:r>
              <a:rPr lang="zh-CN" altLang="en-US">
                <a:solidFill>
                  <a:schemeClr val="tx1"/>
                </a:solidFill>
                <a:sym typeface="+mn-ea"/>
              </a:rPr>
              <a:t>演示： </a:t>
            </a:r>
            <a:r>
              <a:rPr lang="en-US" altLang="zh-CN">
                <a:solidFill>
                  <a:schemeClr val="tx1"/>
                </a:solidFill>
                <a:sym typeface="+mn-ea"/>
              </a:rPr>
              <a:t>       </a:t>
            </a:r>
            <a:r>
              <a:rPr lang="zh-CN" altLang="en-US">
                <a:solidFill>
                  <a:schemeClr val="tx1"/>
                </a:solidFill>
                <a:sym typeface="+mn-ea"/>
              </a:rPr>
              <a:t>有向图</a:t>
            </a:r>
            <a:r>
              <a:rPr lang="en-US" altLang="zh-CN">
                <a:solidFill>
                  <a:schemeClr val="tx1"/>
                </a:solidFill>
                <a:sym typeface="+mn-ea"/>
              </a:rPr>
              <a:t>/</a:t>
            </a:r>
            <a:r>
              <a:rPr lang="zh-CN" altLang="en-US">
                <a:solidFill>
                  <a:schemeClr val="tx1"/>
                </a:solidFill>
                <a:sym typeface="+mn-ea"/>
              </a:rPr>
              <a:t>无向图的欧拉路径</a:t>
            </a:r>
            <a:r>
              <a:rPr lang="en-US" altLang="zh-CN">
                <a:solidFill>
                  <a:schemeClr val="tx1"/>
                </a:solidFill>
                <a:sym typeface="+mn-ea"/>
              </a:rPr>
              <a:t> </a:t>
            </a:r>
            <a:r>
              <a:rPr lang="zh-CN" altLang="en-US">
                <a:solidFill>
                  <a:schemeClr val="tx1"/>
                </a:solidFill>
                <a:sym typeface="+mn-ea"/>
              </a:rPr>
              <a:t>拆成一条起点到终点的直线</a:t>
            </a:r>
            <a:r>
              <a:rPr lang="en-US" altLang="zh-CN">
                <a:solidFill>
                  <a:schemeClr val="tx1"/>
                </a:solidFill>
                <a:sym typeface="+mn-ea"/>
              </a:rPr>
              <a:t>  </a:t>
            </a:r>
            <a:endParaRPr lang="en-US" altLang="zh-CN">
              <a:solidFill>
                <a:schemeClr val="tx1"/>
              </a:solidFill>
              <a:sym typeface="+mn-ea"/>
            </a:endParaRPr>
          </a:p>
          <a:p>
            <a:pPr marL="457200" lvl="1" indent="457200">
              <a:buNone/>
            </a:pPr>
            <a:r>
              <a:rPr lang="en-US" altLang="zh-CN">
                <a:solidFill>
                  <a:schemeClr val="tx1"/>
                </a:solidFill>
                <a:sym typeface="+mn-ea"/>
              </a:rPr>
              <a:t>                                             </a:t>
            </a:r>
            <a:r>
              <a:rPr lang="zh-CN" altLang="en-US">
                <a:solidFill>
                  <a:schemeClr val="tx1"/>
                </a:solidFill>
                <a:sym typeface="+mn-ea"/>
              </a:rPr>
              <a:t>欧拉回路</a:t>
            </a:r>
            <a:r>
              <a:rPr lang="en-US" altLang="zh-CN">
                <a:solidFill>
                  <a:schemeClr val="tx1"/>
                </a:solidFill>
                <a:sym typeface="+mn-ea"/>
              </a:rPr>
              <a:t>  </a:t>
            </a:r>
            <a:r>
              <a:rPr lang="zh-CN" altLang="en-US">
                <a:sym typeface="+mn-ea"/>
              </a:rPr>
              <a:t>拆成一条起点到终点的直线</a:t>
            </a:r>
            <a:endParaRPr lang="en-US" altLang="zh-CN">
              <a:solidFill>
                <a:schemeClr val="tx1"/>
              </a:solidFill>
              <a:sym typeface="+mn-ea"/>
            </a:endParaRPr>
          </a:p>
          <a:p>
            <a:pPr indent="457200"/>
            <a:endParaRPr lang="zh-CN" altLang="en-US">
              <a:sym typeface="+mn-ea"/>
            </a:endParaRPr>
          </a:p>
          <a:p/>
        </p:txBody>
      </p:sp>
      <p:pic>
        <p:nvPicPr>
          <p:cNvPr id="2" name="图片 1"/>
          <p:cNvPicPr>
            <a:picLocks noChangeAspect="1"/>
          </p:cNvPicPr>
          <p:nvPr>
            <p:custDataLst>
              <p:tags r:id="rId2"/>
            </p:custDataLst>
          </p:nvPr>
        </p:nvPicPr>
        <p:blipFill>
          <a:blip r:embed="rId3"/>
          <a:stretch>
            <a:fillRect/>
          </a:stretch>
        </p:blipFill>
        <p:spPr>
          <a:xfrm>
            <a:off x="2642870" y="2232025"/>
            <a:ext cx="6553200" cy="207645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3" name="文本框 2"/>
          <p:cNvSpPr txBox="1"/>
          <p:nvPr>
            <p:custDataLst>
              <p:tags r:id="rId1"/>
            </p:custDataLst>
          </p:nvPr>
        </p:nvSpPr>
        <p:spPr>
          <a:xfrm>
            <a:off x="847090" y="381635"/>
            <a:ext cx="11097895" cy="6219190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pPr marL="457200" lvl="1" indent="457200">
              <a:buNone/>
            </a:pPr>
            <a:r>
              <a:rPr lang="zh-CN" altLang="en-US">
                <a:solidFill>
                  <a:schemeClr val="tx1"/>
                </a:solidFill>
                <a:sym typeface="+mn-ea"/>
              </a:rPr>
              <a:t>虽然 Hierholzer 算法的流程看起来较为复杂，但我们可以通过一段精妙的代码，将算法流程中的两个步骤合并到同一个深度优先搜索（</a:t>
            </a:r>
            <a:r>
              <a:rPr lang="en-US" altLang="zh-CN">
                <a:solidFill>
                  <a:schemeClr val="tx1"/>
                </a:solidFill>
                <a:sym typeface="+mn-ea"/>
              </a:rPr>
              <a:t>DFS</a:t>
            </a:r>
            <a:r>
              <a:rPr lang="zh-CN" altLang="en-US">
                <a:solidFill>
                  <a:schemeClr val="tx1"/>
                </a:solidFill>
                <a:sym typeface="+mn-ea"/>
              </a:rPr>
              <a:t>）过程中。 </a:t>
            </a:r>
            <a:endParaRPr lang="zh-CN" altLang="en-US">
              <a:solidFill>
                <a:schemeClr val="tx1"/>
              </a:solidFill>
              <a:sym typeface="+mn-ea"/>
            </a:endParaRPr>
          </a:p>
          <a:p>
            <a:pPr marL="457200" lvl="1" indent="457200">
              <a:buNone/>
            </a:pPr>
            <a:endParaRPr lang="zh-CN" altLang="en-US">
              <a:solidFill>
                <a:schemeClr val="tx1"/>
              </a:solidFill>
              <a:sym typeface="+mn-ea"/>
            </a:endParaRPr>
          </a:p>
          <a:p>
            <a:pPr marL="457200" lvl="1" indent="457200">
              <a:buNone/>
            </a:pPr>
            <a:r>
              <a:rPr lang="zh-CN" altLang="en-US">
                <a:solidFill>
                  <a:schemeClr val="tx1"/>
                </a:solidFill>
                <a:sym typeface="+mn-ea"/>
              </a:rPr>
              <a:t>（</a:t>
            </a:r>
            <a:r>
              <a:rPr lang="en-US" altLang="zh-CN">
                <a:solidFill>
                  <a:schemeClr val="tx1"/>
                </a:solidFill>
                <a:sym typeface="+mn-ea"/>
              </a:rPr>
              <a:t>1</a:t>
            </a:r>
            <a:r>
              <a:rPr lang="zh-CN" altLang="en-US">
                <a:solidFill>
                  <a:schemeClr val="tx1"/>
                </a:solidFill>
                <a:sym typeface="+mn-ea"/>
              </a:rPr>
              <a:t>）</a:t>
            </a:r>
            <a:r>
              <a:rPr lang="en-US" altLang="zh-CN">
                <a:solidFill>
                  <a:schemeClr val="tx1"/>
                </a:solidFill>
                <a:sym typeface="+mn-ea"/>
              </a:rPr>
              <a:t>选择一个合理的点作为起始点，遍历所有相邻边。</a:t>
            </a:r>
            <a:endParaRPr lang="en-US" altLang="zh-CN">
              <a:solidFill>
                <a:schemeClr val="tx1"/>
              </a:solidFill>
              <a:sym typeface="+mn-ea"/>
            </a:endParaRPr>
          </a:p>
          <a:p>
            <a:pPr marL="457200" lvl="1" indent="457200">
              <a:buNone/>
            </a:pPr>
            <a:r>
              <a:rPr lang="zh-CN" altLang="en-US">
                <a:solidFill>
                  <a:schemeClr val="tx1"/>
                </a:solidFill>
                <a:sym typeface="+mn-ea"/>
              </a:rPr>
              <a:t>（</a:t>
            </a:r>
            <a:r>
              <a:rPr lang="en-US" altLang="zh-CN">
                <a:solidFill>
                  <a:schemeClr val="tx1"/>
                </a:solidFill>
                <a:sym typeface="+mn-ea"/>
              </a:rPr>
              <a:t>2</a:t>
            </a:r>
            <a:r>
              <a:rPr lang="zh-CN" altLang="en-US">
                <a:solidFill>
                  <a:schemeClr val="tx1"/>
                </a:solidFill>
                <a:sym typeface="+mn-ea"/>
              </a:rPr>
              <a:t>）</a:t>
            </a:r>
            <a:r>
              <a:rPr lang="en-US" altLang="zh-CN">
                <a:solidFill>
                  <a:schemeClr val="tx1"/>
                </a:solidFill>
                <a:sym typeface="+mn-ea"/>
              </a:rPr>
              <a:t>深度优先搜索DFS，访问相邻顶点。将经过的边都不能再访问。</a:t>
            </a:r>
            <a:endParaRPr lang="en-US" altLang="zh-CN">
              <a:solidFill>
                <a:schemeClr val="tx1"/>
              </a:solidFill>
              <a:sym typeface="+mn-ea"/>
            </a:endParaRPr>
          </a:p>
          <a:p>
            <a:pPr marL="457200" lvl="1" indent="457200">
              <a:buNone/>
            </a:pPr>
            <a:r>
              <a:rPr lang="zh-CN" altLang="en-US">
                <a:solidFill>
                  <a:schemeClr val="tx1"/>
                </a:solidFill>
                <a:sym typeface="+mn-ea"/>
              </a:rPr>
              <a:t>（</a:t>
            </a:r>
            <a:r>
              <a:rPr lang="en-US" altLang="zh-CN">
                <a:solidFill>
                  <a:schemeClr val="tx1"/>
                </a:solidFill>
                <a:sym typeface="+mn-ea"/>
              </a:rPr>
              <a:t>3</a:t>
            </a:r>
            <a:r>
              <a:rPr lang="zh-CN" altLang="en-US">
                <a:solidFill>
                  <a:schemeClr val="tx1"/>
                </a:solidFill>
                <a:sym typeface="+mn-ea"/>
              </a:rPr>
              <a:t>）</a:t>
            </a:r>
            <a:r>
              <a:rPr lang="en-US" altLang="zh-CN">
                <a:solidFill>
                  <a:schemeClr val="tx1"/>
                </a:solidFill>
                <a:sym typeface="+mn-ea"/>
              </a:rPr>
              <a:t>如果当前顶点没有相邻边，则</a:t>
            </a:r>
            <a:r>
              <a:rPr lang="zh-CN" altLang="en-US">
                <a:solidFill>
                  <a:schemeClr val="tx1"/>
                </a:solidFill>
                <a:sym typeface="+mn-ea"/>
              </a:rPr>
              <a:t>返回上层</a:t>
            </a:r>
            <a:r>
              <a:rPr lang="zh-CN" altLang="en-US">
                <a:solidFill>
                  <a:schemeClr val="tx1"/>
                </a:solidFill>
                <a:sym typeface="+mn-ea"/>
              </a:rPr>
              <a:t>调用时</a:t>
            </a:r>
            <a:r>
              <a:rPr lang="en-US" altLang="zh-CN">
                <a:solidFill>
                  <a:schemeClr val="tx1"/>
                </a:solidFill>
                <a:sym typeface="+mn-ea"/>
              </a:rPr>
              <a:t>将顶点入</a:t>
            </a:r>
            <a:r>
              <a:rPr lang="zh-CN" altLang="en-US">
                <a:solidFill>
                  <a:schemeClr val="tx1"/>
                </a:solidFill>
                <a:sym typeface="+mn-ea"/>
              </a:rPr>
              <a:t>栈</a:t>
            </a:r>
            <a:r>
              <a:rPr lang="en-US" altLang="zh-CN">
                <a:solidFill>
                  <a:schemeClr val="tx1"/>
                </a:solidFill>
                <a:sym typeface="+mn-ea"/>
              </a:rPr>
              <a:t>。</a:t>
            </a:r>
            <a:endParaRPr lang="en-US" altLang="zh-CN">
              <a:solidFill>
                <a:schemeClr val="tx1"/>
              </a:solidFill>
              <a:sym typeface="+mn-ea"/>
            </a:endParaRPr>
          </a:p>
          <a:p>
            <a:pPr marL="457200" lvl="1" indent="457200">
              <a:buNone/>
            </a:pPr>
            <a:r>
              <a:rPr lang="zh-CN" altLang="en-US">
                <a:solidFill>
                  <a:schemeClr val="tx1"/>
                </a:solidFill>
                <a:sym typeface="+mn-ea"/>
              </a:rPr>
              <a:t>（</a:t>
            </a:r>
            <a:r>
              <a:rPr lang="en-US" altLang="zh-CN">
                <a:solidFill>
                  <a:schemeClr val="tx1"/>
                </a:solidFill>
                <a:sym typeface="+mn-ea"/>
              </a:rPr>
              <a:t>4</a:t>
            </a:r>
            <a:r>
              <a:rPr lang="zh-CN" altLang="en-US">
                <a:solidFill>
                  <a:schemeClr val="tx1"/>
                </a:solidFill>
                <a:sym typeface="+mn-ea"/>
              </a:rPr>
              <a:t>）</a:t>
            </a:r>
            <a:r>
              <a:rPr lang="en-US" altLang="zh-CN">
                <a:solidFill>
                  <a:schemeClr val="tx1"/>
                </a:solidFill>
                <a:sym typeface="+mn-ea"/>
              </a:rPr>
              <a:t>最后将</a:t>
            </a:r>
            <a:r>
              <a:rPr lang="zh-CN" altLang="en-US">
                <a:solidFill>
                  <a:schemeClr val="tx1"/>
                </a:solidFill>
                <a:sym typeface="+mn-ea"/>
              </a:rPr>
              <a:t>栈自顶向下</a:t>
            </a:r>
            <a:r>
              <a:rPr lang="en-US" altLang="zh-CN">
                <a:solidFill>
                  <a:schemeClr val="tx1"/>
                </a:solidFill>
                <a:sym typeface="+mn-ea"/>
              </a:rPr>
              <a:t>输出，就是从起点出发的欧拉</a:t>
            </a:r>
            <a:r>
              <a:rPr lang="zh-CN" altLang="en-US">
                <a:solidFill>
                  <a:schemeClr val="tx1"/>
                </a:solidFill>
                <a:sym typeface="+mn-ea"/>
              </a:rPr>
              <a:t>路径</a:t>
            </a:r>
            <a:r>
              <a:rPr lang="en-US" altLang="zh-CN">
                <a:solidFill>
                  <a:schemeClr val="tx1"/>
                </a:solidFill>
                <a:sym typeface="+mn-ea"/>
              </a:rPr>
              <a:t>。</a:t>
            </a:r>
            <a:endParaRPr lang="en-US" altLang="zh-CN">
              <a:solidFill>
                <a:schemeClr val="tx1"/>
              </a:solidFill>
              <a:sym typeface="+mn-ea"/>
            </a:endParaRPr>
          </a:p>
          <a:p>
            <a:pPr marL="457200" lvl="1" indent="457200">
              <a:buNone/>
            </a:pPr>
            <a:endParaRPr lang="en-US" altLang="zh-CN">
              <a:solidFill>
                <a:schemeClr val="tx1"/>
              </a:solidFill>
              <a:sym typeface="+mn-ea"/>
            </a:endParaRPr>
          </a:p>
          <a:p>
            <a:pPr marL="457200" lvl="1" indent="457200">
              <a:buNone/>
            </a:pPr>
            <a:endParaRPr lang="zh-CN" altLang="en-US">
              <a:solidFill>
                <a:schemeClr val="tx1"/>
              </a:solidFill>
              <a:sym typeface="+mn-ea"/>
            </a:endParaRPr>
          </a:p>
          <a:p>
            <a:pPr marL="0" lvl="0" indent="457200">
              <a:buNone/>
            </a:pPr>
            <a:r>
              <a:rPr lang="zh-CN" altLang="en-US">
                <a:solidFill>
                  <a:schemeClr val="tx1"/>
                </a:solidFill>
                <a:sym typeface="+mn-ea"/>
              </a:rPr>
              <a:t>什么是合理的点做起点？</a:t>
            </a:r>
            <a:endParaRPr lang="zh-CN" altLang="en-US">
              <a:solidFill>
                <a:schemeClr val="tx1"/>
              </a:solidFill>
              <a:sym typeface="+mn-ea"/>
            </a:endParaRPr>
          </a:p>
          <a:p>
            <a:pPr marL="457200" lvl="1" indent="457200">
              <a:buNone/>
            </a:pPr>
            <a:r>
              <a:rPr lang="zh-CN" altLang="en-US">
                <a:solidFill>
                  <a:schemeClr val="tx1"/>
                </a:solidFill>
                <a:sym typeface="+mn-ea"/>
              </a:rPr>
              <a:t>当图为</a:t>
            </a:r>
            <a:r>
              <a:rPr lang="zh-CN" altLang="en-US">
                <a:solidFill>
                  <a:srgbClr val="FF0000"/>
                </a:solidFill>
                <a:sym typeface="+mn-ea"/>
              </a:rPr>
              <a:t>欧拉图</a:t>
            </a:r>
            <a:r>
              <a:rPr lang="zh-CN" altLang="en-US">
                <a:solidFill>
                  <a:schemeClr val="tx1"/>
                </a:solidFill>
                <a:sym typeface="+mn-ea"/>
              </a:rPr>
              <a:t>时，能够找到从任意点出发的欧拉回路，此时从任一点出发，都能找到欧拉回路，因此</a:t>
            </a:r>
            <a:r>
              <a:rPr lang="zh-CN" altLang="en-US">
                <a:solidFill>
                  <a:srgbClr val="FF0000"/>
                </a:solidFill>
                <a:sym typeface="+mn-ea"/>
              </a:rPr>
              <a:t>任何一点</a:t>
            </a:r>
            <a:r>
              <a:rPr lang="zh-CN" altLang="en-US">
                <a:solidFill>
                  <a:schemeClr val="tx1"/>
                </a:solidFill>
                <a:sym typeface="+mn-ea"/>
              </a:rPr>
              <a:t>都是合理的；</a:t>
            </a:r>
            <a:endParaRPr lang="zh-CN" altLang="en-US">
              <a:solidFill>
                <a:schemeClr val="tx1"/>
              </a:solidFill>
              <a:sym typeface="+mn-ea"/>
            </a:endParaRPr>
          </a:p>
          <a:p>
            <a:pPr marL="457200" lvl="1" indent="457200">
              <a:buNone/>
            </a:pPr>
            <a:r>
              <a:rPr lang="zh-CN" altLang="en-US">
                <a:solidFill>
                  <a:schemeClr val="tx1"/>
                </a:solidFill>
                <a:sym typeface="+mn-ea"/>
              </a:rPr>
              <a:t>当图为</a:t>
            </a:r>
            <a:r>
              <a:rPr lang="zh-CN" altLang="en-US">
                <a:solidFill>
                  <a:srgbClr val="FF0000"/>
                </a:solidFill>
                <a:sym typeface="+mn-ea"/>
              </a:rPr>
              <a:t>半欧拉图</a:t>
            </a:r>
            <a:r>
              <a:rPr lang="zh-CN" altLang="en-US">
                <a:solidFill>
                  <a:schemeClr val="tx1"/>
                </a:solidFill>
                <a:sym typeface="+mn-ea"/>
              </a:rPr>
              <a:t>时，有且仅有2个顶点的</a:t>
            </a:r>
            <a:r>
              <a:rPr lang="zh-CN" altLang="en-US">
                <a:solidFill>
                  <a:srgbClr val="FF0000"/>
                </a:solidFill>
                <a:sym typeface="+mn-ea"/>
              </a:rPr>
              <a:t>度数为奇数</a:t>
            </a:r>
            <a:r>
              <a:rPr lang="zh-CN" altLang="en-US">
                <a:solidFill>
                  <a:schemeClr val="tx1"/>
                </a:solidFill>
                <a:sym typeface="+mn-ea"/>
              </a:rPr>
              <a:t>，只能够找到欧拉路径（路径从这两点中的任一点出发，到另一点结束），此时只有从这两点之一出发，才能找到欧拉路径，因此只有这两点是合理的。</a:t>
            </a:r>
            <a:endParaRPr lang="zh-CN" altLang="en-US">
              <a:solidFill>
                <a:schemeClr val="tx1"/>
              </a:solidFill>
              <a:sym typeface="+mn-ea"/>
            </a:endParaRPr>
          </a:p>
          <a:p>
            <a:pPr indent="457200"/>
            <a:endParaRPr lang="zh-CN" altLang="en-US">
              <a:sym typeface="+mn-ea"/>
            </a:endParaRPr>
          </a:p>
          <a:p>
            <a:endParaRPr lang="zh-CN" altLang="en-US">
              <a:sym typeface="+mn-ea"/>
            </a:endParaRPr>
          </a:p>
          <a:p>
            <a:endParaRPr lang="zh-CN" altLang="en-US"/>
          </a:p>
          <a:p/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3" name="文本框 2"/>
          <p:cNvSpPr txBox="1"/>
          <p:nvPr>
            <p:custDataLst>
              <p:tags r:id="rId1"/>
            </p:custDataLst>
          </p:nvPr>
        </p:nvSpPr>
        <p:spPr>
          <a:xfrm>
            <a:off x="455930" y="462915"/>
            <a:ext cx="4264660" cy="5163820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pPr marL="457200" lvl="1" indent="457200">
              <a:buNone/>
            </a:pPr>
            <a:r>
              <a:rPr lang="zh-CN" altLang="en-US">
                <a:sym typeface="+mn-ea"/>
              </a:rPr>
              <a:t>如果是欧拉路径，</a:t>
            </a:r>
            <a:r>
              <a:rPr lang="zh-CN" altLang="en-US">
                <a:solidFill>
                  <a:schemeClr val="tx1"/>
                </a:solidFill>
                <a:sym typeface="+mn-ea"/>
              </a:rPr>
              <a:t>不能先输出</a:t>
            </a:r>
            <a:r>
              <a:rPr lang="en-US" altLang="zh-CN">
                <a:solidFill>
                  <a:schemeClr val="tx1"/>
                </a:solidFill>
                <a:sym typeface="+mn-ea"/>
              </a:rPr>
              <a:t>x</a:t>
            </a:r>
            <a:r>
              <a:rPr lang="zh-CN" altLang="en-US">
                <a:solidFill>
                  <a:schemeClr val="tx1"/>
                </a:solidFill>
                <a:sym typeface="+mn-ea"/>
              </a:rPr>
              <a:t>后</a:t>
            </a:r>
            <a:r>
              <a:rPr lang="en-US" altLang="zh-CN">
                <a:solidFill>
                  <a:schemeClr val="tx1"/>
                </a:solidFill>
                <a:sym typeface="+mn-ea"/>
              </a:rPr>
              <a:t>dfs(v)/</a:t>
            </a:r>
            <a:r>
              <a:rPr lang="zh-CN" altLang="en-US">
                <a:solidFill>
                  <a:schemeClr val="tx1"/>
                </a:solidFill>
                <a:sym typeface="+mn-ea"/>
              </a:rPr>
              <a:t>不能正着输出。</a:t>
            </a:r>
            <a:r>
              <a:rPr lang="en-US" altLang="zh-CN">
                <a:solidFill>
                  <a:schemeClr val="tx1"/>
                </a:solidFill>
                <a:sym typeface="+mn-ea"/>
              </a:rPr>
              <a:t>why</a:t>
            </a:r>
            <a:r>
              <a:rPr lang="zh-CN" altLang="en-US">
                <a:solidFill>
                  <a:schemeClr val="tx1"/>
                </a:solidFill>
                <a:sym typeface="+mn-ea"/>
              </a:rPr>
              <a:t>？</a:t>
            </a:r>
            <a:endParaRPr lang="zh-CN" altLang="en-US">
              <a:solidFill>
                <a:schemeClr val="tx1"/>
              </a:solidFill>
              <a:sym typeface="+mn-ea"/>
            </a:endParaRPr>
          </a:p>
          <a:p>
            <a:pPr marL="457200" lvl="1" indent="457200">
              <a:buNone/>
            </a:pPr>
            <a:endParaRPr lang="zh-CN" altLang="en-US">
              <a:solidFill>
                <a:schemeClr val="tx1"/>
              </a:solidFill>
              <a:sym typeface="+mn-ea"/>
            </a:endParaRPr>
          </a:p>
          <a:p>
            <a:pPr marL="457200" lvl="1" indent="457200">
              <a:buNone/>
            </a:pPr>
            <a:r>
              <a:rPr lang="zh-CN" altLang="en-US">
                <a:solidFill>
                  <a:schemeClr val="tx1"/>
                </a:solidFill>
                <a:sym typeface="+mn-ea"/>
              </a:rPr>
              <a:t>因为存在死胡同：运行过程中先遍历某个点，这个点通过入边遍历后</a:t>
            </a:r>
            <a:r>
              <a:rPr lang="en-US" altLang="zh-CN">
                <a:solidFill>
                  <a:schemeClr val="tx1"/>
                </a:solidFill>
                <a:sym typeface="+mn-ea"/>
              </a:rPr>
              <a:t> </a:t>
            </a:r>
            <a:r>
              <a:rPr lang="zh-CN" altLang="en-US">
                <a:solidFill>
                  <a:schemeClr val="tx1"/>
                </a:solidFill>
                <a:sym typeface="+mn-ea"/>
              </a:rPr>
              <a:t>删除入边</a:t>
            </a:r>
            <a:r>
              <a:rPr lang="en-US" altLang="zh-CN">
                <a:solidFill>
                  <a:schemeClr val="tx1"/>
                </a:solidFill>
                <a:sym typeface="+mn-ea"/>
              </a:rPr>
              <a:t> </a:t>
            </a:r>
            <a:r>
              <a:rPr lang="zh-CN" altLang="en-US">
                <a:solidFill>
                  <a:schemeClr val="tx1"/>
                </a:solidFill>
                <a:sym typeface="+mn-ea"/>
              </a:rPr>
              <a:t>没有出边了，但是图中还有边没有遍历</a:t>
            </a:r>
            <a:r>
              <a:rPr lang="en-US" altLang="zh-CN">
                <a:solidFill>
                  <a:schemeClr val="tx1"/>
                </a:solidFill>
                <a:sym typeface="+mn-ea"/>
              </a:rPr>
              <a:t>    </a:t>
            </a:r>
            <a:endParaRPr lang="en-US" altLang="zh-CN">
              <a:solidFill>
                <a:schemeClr val="tx1"/>
              </a:solidFill>
              <a:sym typeface="+mn-ea"/>
            </a:endParaRPr>
          </a:p>
          <a:p>
            <a:pPr marL="457200" lvl="1" indent="457200">
              <a:buNone/>
            </a:pPr>
            <a:endParaRPr lang="en-US" altLang="zh-CN">
              <a:solidFill>
                <a:schemeClr val="tx1"/>
              </a:solidFill>
              <a:sym typeface="+mn-ea"/>
            </a:endParaRPr>
          </a:p>
          <a:p>
            <a:pPr marL="457200" lvl="1" indent="457200">
              <a:buNone/>
            </a:pPr>
            <a:r>
              <a:rPr lang="zh-CN" altLang="en-US">
                <a:sym typeface="+mn-ea"/>
              </a:rPr>
              <a:t>如果是欧拉路径，一定存在一个终点（死胡同）所以要先</a:t>
            </a:r>
            <a:r>
              <a:rPr lang="en-US" altLang="zh-CN">
                <a:sym typeface="+mn-ea"/>
              </a:rPr>
              <a:t>DFS</a:t>
            </a:r>
            <a:r>
              <a:rPr lang="zh-CN" altLang="en-US">
                <a:sym typeface="+mn-ea"/>
              </a:rPr>
              <a:t>，后记录答案（入栈），此时可以保证记录答案时，该点</a:t>
            </a:r>
            <a:r>
              <a:rPr lang="en-US" altLang="zh-CN">
                <a:sym typeface="+mn-ea"/>
              </a:rPr>
              <a:t>x</a:t>
            </a:r>
            <a:r>
              <a:rPr lang="zh-CN" altLang="en-US">
                <a:sym typeface="+mn-ea"/>
              </a:rPr>
              <a:t>的出边全部找完，相当于从终点到起点记录答案，可以保证 </a:t>
            </a:r>
            <a:r>
              <a:rPr lang="en-US" altLang="zh-CN">
                <a:sym typeface="+mn-ea"/>
              </a:rPr>
              <a:t>x</a:t>
            </a:r>
            <a:r>
              <a:rPr lang="zh-CN" altLang="en-US">
                <a:sym typeface="+mn-ea"/>
              </a:rPr>
              <a:t>到终点的路径已经记录，此时</a:t>
            </a:r>
            <a:r>
              <a:rPr lang="en-US" altLang="zh-CN">
                <a:sym typeface="+mn-ea"/>
              </a:rPr>
              <a:t>x</a:t>
            </a:r>
            <a:r>
              <a:rPr lang="zh-CN" altLang="en-US">
                <a:sym typeface="+mn-ea"/>
              </a:rPr>
              <a:t>是未记录路径中的终点，避免出错</a:t>
            </a:r>
            <a:r>
              <a:rPr lang="en-US" altLang="zh-CN">
                <a:sym typeface="+mn-ea"/>
              </a:rPr>
              <a:t> </a:t>
            </a:r>
            <a:r>
              <a:rPr lang="zh-CN" altLang="en-US">
                <a:sym typeface="+mn-ea"/>
              </a:rPr>
              <a:t>。</a:t>
            </a:r>
            <a:r>
              <a:rPr lang="en-US" altLang="zh-CN">
                <a:sym typeface="+mn-ea"/>
              </a:rPr>
              <a:t> </a:t>
            </a:r>
            <a:endParaRPr lang="en-US" altLang="zh-CN">
              <a:solidFill>
                <a:schemeClr val="tx1"/>
              </a:solidFill>
              <a:sym typeface="+mn-ea"/>
            </a:endParaRPr>
          </a:p>
          <a:p>
            <a:pPr indent="457200"/>
            <a:endParaRPr lang="zh-CN" altLang="en-US">
              <a:sym typeface="+mn-ea"/>
            </a:endParaRPr>
          </a:p>
          <a:p>
            <a:endParaRPr lang="zh-CN" altLang="en-US">
              <a:sym typeface="+mn-ea"/>
            </a:endParaRPr>
          </a:p>
          <a:p>
            <a:endParaRPr lang="zh-CN" altLang="en-US">
              <a:sym typeface="+mn-ea"/>
            </a:endParaRPr>
          </a:p>
          <a:p>
            <a:endParaRPr lang="zh-CN" altLang="en-US"/>
          </a:p>
          <a:p/>
        </p:txBody>
      </p:sp>
      <p:pic>
        <p:nvPicPr>
          <p:cNvPr id="4" name="图片 3"/>
          <p:cNvPicPr>
            <a:picLocks noChangeAspect="1"/>
          </p:cNvPicPr>
          <p:nvPr>
            <p:custDataLst>
              <p:tags r:id="rId2"/>
            </p:custDataLst>
          </p:nvPr>
        </p:nvPicPr>
        <p:blipFill>
          <a:blip r:embed="rId3"/>
          <a:stretch>
            <a:fillRect/>
          </a:stretch>
        </p:blipFill>
        <p:spPr>
          <a:xfrm>
            <a:off x="7291705" y="462915"/>
            <a:ext cx="2324100" cy="2428875"/>
          </a:xfrm>
          <a:prstGeom prst="rect">
            <a:avLst/>
          </a:prstGeom>
        </p:spPr>
      </p:pic>
      <p:pic>
        <p:nvPicPr>
          <p:cNvPr id="5" name="图片 4"/>
          <p:cNvPicPr>
            <a:picLocks noChangeAspect="1"/>
          </p:cNvPicPr>
          <p:nvPr>
            <p:custDataLst>
              <p:tags r:id="rId4"/>
            </p:custDataLst>
          </p:nvPr>
        </p:nvPicPr>
        <p:blipFill>
          <a:blip r:embed="rId5"/>
          <a:stretch>
            <a:fillRect/>
          </a:stretch>
        </p:blipFill>
        <p:spPr>
          <a:xfrm>
            <a:off x="5000625" y="4046855"/>
            <a:ext cx="6905625" cy="1704975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3" name="文本框 2"/>
          <p:cNvSpPr txBox="1"/>
          <p:nvPr>
            <p:custDataLst>
              <p:tags r:id="rId1"/>
            </p:custDataLst>
          </p:nvPr>
        </p:nvSpPr>
        <p:spPr>
          <a:xfrm>
            <a:off x="847090" y="381635"/>
            <a:ext cx="11097895" cy="6219190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pPr marL="457200" lvl="1" indent="457200">
              <a:buNone/>
            </a:pPr>
            <a:r>
              <a:rPr lang="zh-CN" altLang="en-US">
                <a:solidFill>
                  <a:schemeClr val="tx1"/>
                </a:solidFill>
                <a:sym typeface="+mn-ea"/>
              </a:rPr>
              <a:t> </a:t>
            </a:r>
            <a:r>
              <a:rPr lang="en-US" altLang="zh-CN">
                <a:solidFill>
                  <a:schemeClr val="tx1"/>
                </a:solidFill>
                <a:sym typeface="+mn-ea"/>
              </a:rPr>
              <a:t>              </a:t>
            </a:r>
            <a:endParaRPr lang="en-US" altLang="zh-CN">
              <a:solidFill>
                <a:schemeClr val="tx1"/>
              </a:solidFill>
              <a:sym typeface="+mn-ea"/>
            </a:endParaRPr>
          </a:p>
          <a:p>
            <a:pPr indent="457200"/>
            <a:endParaRPr lang="zh-CN" altLang="en-US">
              <a:sym typeface="+mn-ea"/>
            </a:endParaRPr>
          </a:p>
          <a:p>
            <a:endParaRPr lang="zh-CN" altLang="en-US">
              <a:sym typeface="+mn-ea"/>
            </a:endParaRPr>
          </a:p>
          <a:p>
            <a:endParaRPr lang="zh-CN" altLang="en-US"/>
          </a:p>
          <a:p/>
        </p:txBody>
      </p:sp>
      <p:pic>
        <p:nvPicPr>
          <p:cNvPr id="4" name="图片 3"/>
          <p:cNvPicPr>
            <a:picLocks noChangeAspect="1"/>
          </p:cNvPicPr>
          <p:nvPr>
            <p:custDataLst>
              <p:tags r:id="rId2"/>
            </p:custDataLst>
          </p:nvPr>
        </p:nvPicPr>
        <p:blipFill>
          <a:blip r:embed="rId3"/>
          <a:stretch>
            <a:fillRect/>
          </a:stretch>
        </p:blipFill>
        <p:spPr>
          <a:xfrm>
            <a:off x="556895" y="542925"/>
            <a:ext cx="11077575" cy="577215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文本框 1"/>
          <p:cNvSpPr txBox="1"/>
          <p:nvPr/>
        </p:nvSpPr>
        <p:spPr>
          <a:xfrm>
            <a:off x="1221105" y="325755"/>
            <a:ext cx="8776970" cy="894715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r>
              <a:rPr>
                <a:sym typeface="+mn-ea"/>
              </a:rPr>
              <a:t>https://www.luogu.com.cn/problem/P7771</a:t>
            </a:r>
            <a:endParaRPr lang="en-US" altLang="zh-CN"/>
          </a:p>
        </p:txBody>
      </p:sp>
      <p:sp>
        <p:nvSpPr>
          <p:cNvPr id="3" name="文本框 2"/>
          <p:cNvSpPr txBox="1"/>
          <p:nvPr/>
        </p:nvSpPr>
        <p:spPr>
          <a:xfrm>
            <a:off x="1221105" y="1301750"/>
            <a:ext cx="9987280" cy="4732655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r>
              <a:rPr lang="zh-CN" altLang="en-US"/>
              <a:t>思路：</a:t>
            </a:r>
            <a:endParaRPr lang="zh-CN" alt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文本框 1"/>
          <p:cNvSpPr txBox="1"/>
          <p:nvPr/>
        </p:nvSpPr>
        <p:spPr>
          <a:xfrm>
            <a:off x="1221105" y="325755"/>
            <a:ext cx="8776970" cy="894715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r>
              <a:t>https://www.luogu.com.cn/problem/P7771</a:t>
            </a:r>
          </a:p>
        </p:txBody>
      </p:sp>
      <p:sp>
        <p:nvSpPr>
          <p:cNvPr id="3" name="文本框 2"/>
          <p:cNvSpPr txBox="1"/>
          <p:nvPr/>
        </p:nvSpPr>
        <p:spPr>
          <a:xfrm>
            <a:off x="1221105" y="1301750"/>
            <a:ext cx="8996045" cy="4163060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r>
              <a:rPr lang="zh-CN" altLang="en-US"/>
              <a:t>思路：</a:t>
            </a:r>
            <a:r>
              <a:rPr lang="zh-CN" altLang="en-US">
                <a:sym typeface="+mn-ea"/>
              </a:rPr>
              <a:t>关键字：有向图</a:t>
            </a:r>
            <a:r>
              <a:rPr lang="en-US" altLang="zh-CN">
                <a:sym typeface="+mn-ea"/>
              </a:rPr>
              <a:t>  </a:t>
            </a:r>
            <a:r>
              <a:rPr lang="zh-CN" altLang="en-US">
                <a:sym typeface="+mn-ea"/>
              </a:rPr>
              <a:t>字典序最小</a:t>
            </a:r>
            <a:endParaRPr lang="zh-CN" altLang="en-US"/>
          </a:p>
          <a:p>
            <a:endParaRPr lang="zh-CN" altLang="en-US"/>
          </a:p>
          <a:p>
            <a:r>
              <a:rPr lang="en-US" altLang="zh-CN">
                <a:sym typeface="+mn-ea"/>
              </a:rPr>
              <a:t>1.</a:t>
            </a:r>
            <a:r>
              <a:rPr lang="zh-CN" altLang="en-US">
                <a:sym typeface="+mn-ea"/>
              </a:rPr>
              <a:t>题目不保证一定是半欧拉图，即欧拉路径不一定存在，所所以第一步要先根据度，判断是否为半欧拉图。不是则输出</a:t>
            </a:r>
            <a:r>
              <a:rPr lang="en-US" altLang="zh-CN">
                <a:sym typeface="+mn-ea"/>
              </a:rPr>
              <a:t>NO</a:t>
            </a:r>
            <a:r>
              <a:rPr lang="zh-CN" altLang="en-US">
                <a:sym typeface="+mn-ea"/>
              </a:rPr>
              <a:t>，结束。</a:t>
            </a:r>
            <a:endParaRPr lang="zh-CN" altLang="en-US"/>
          </a:p>
          <a:p>
            <a:endParaRPr lang="en-US" altLang="zh-CN"/>
          </a:p>
          <a:p>
            <a:r>
              <a:rPr lang="en-US" altLang="zh-CN">
                <a:sym typeface="+mn-ea"/>
              </a:rPr>
              <a:t>2.</a:t>
            </a:r>
            <a:r>
              <a:rPr lang="zh-CN" altLang="en-US">
                <a:sym typeface="+mn-ea"/>
              </a:rPr>
              <a:t>判断是半欧拉图，则找欧拉回路：</a:t>
            </a:r>
            <a:endParaRPr lang="zh-CN" altLang="en-US"/>
          </a:p>
          <a:p>
            <a:pPr marL="457200" lvl="1" indent="0">
              <a:buNone/>
            </a:pPr>
            <a:r>
              <a:rPr lang="zh-CN" altLang="en-US">
                <a:sym typeface="+mn-ea"/>
              </a:rPr>
              <a:t>（</a:t>
            </a:r>
            <a:r>
              <a:rPr lang="en-US" altLang="zh-CN">
                <a:sym typeface="+mn-ea"/>
              </a:rPr>
              <a:t>1</a:t>
            </a:r>
            <a:r>
              <a:rPr lang="zh-CN" altLang="en-US">
                <a:sym typeface="+mn-ea"/>
              </a:rPr>
              <a:t>）如何让</a:t>
            </a:r>
            <a:r>
              <a:rPr lang="zh-CN" altLang="en-US">
                <a:sym typeface="+mn-ea"/>
              </a:rPr>
              <a:t>字典序最小？</a:t>
            </a:r>
            <a:endParaRPr lang="zh-CN" altLang="en-US">
              <a:sym typeface="+mn-ea"/>
            </a:endParaRPr>
          </a:p>
          <a:p>
            <a:pPr marL="457200" lvl="1" indent="0">
              <a:buNone/>
            </a:pPr>
            <a:r>
              <a:rPr lang="zh-CN" altLang="en-US">
                <a:sym typeface="+mn-ea"/>
              </a:rPr>
              <a:t> 靠前的位置应尽可能小，使每次转移的点尽量小即可，可以将每个点的</a:t>
            </a:r>
            <a:r>
              <a:rPr lang="zh-CN" altLang="en-US">
                <a:sym typeface="+mn-ea"/>
              </a:rPr>
              <a:t>出边按照终点的编号排序。但是链式前向星不方便排序，可以改用</a:t>
            </a:r>
            <a:r>
              <a:rPr lang="en-US" altLang="zh-CN">
                <a:sym typeface="+mn-ea"/>
              </a:rPr>
              <a:t>vector</a:t>
            </a:r>
            <a:r>
              <a:rPr lang="zh-CN" altLang="en-US">
                <a:sym typeface="+mn-ea"/>
              </a:rPr>
              <a:t>模拟邻接表存图。</a:t>
            </a:r>
            <a:endParaRPr lang="zh-CN" altLang="en-US">
              <a:sym typeface="+mn-ea"/>
            </a:endParaRPr>
          </a:p>
          <a:p>
            <a:pPr marL="457200" lvl="1" indent="0">
              <a:buNone/>
            </a:pPr>
            <a:r>
              <a:rPr lang="zh-CN" altLang="en-US">
                <a:sym typeface="+mn-ea"/>
              </a:rPr>
              <a:t>（</a:t>
            </a:r>
            <a:r>
              <a:rPr lang="en-US" altLang="zh-CN">
                <a:sym typeface="+mn-ea"/>
              </a:rPr>
              <a:t>2</a:t>
            </a:r>
            <a:r>
              <a:rPr lang="zh-CN" altLang="en-US">
                <a:sym typeface="+mn-ea"/>
              </a:rPr>
              <a:t>）根据数据范围，需要选用弧优化过的Hierholzer 算法。对于任意一个点 </a:t>
            </a:r>
            <a:r>
              <a:rPr lang="zh-CN" altLang="en-US">
                <a:sym typeface="+mn-ea"/>
              </a:rPr>
              <a:t>u 来说，建完图之后访问边是有顺序的，我们新开一个数组 st</a:t>
            </a:r>
            <a:r>
              <a:rPr lang="en-US" altLang="zh-CN">
                <a:sym typeface="+mn-ea"/>
              </a:rPr>
              <a:t>[]</a:t>
            </a:r>
            <a:r>
              <a:rPr lang="zh-CN" altLang="en-US">
                <a:sym typeface="+mn-ea"/>
              </a:rPr>
              <a:t> 记录访问到哪个位置即可（即该删除哪个位置）。</a:t>
            </a:r>
            <a:endParaRPr lang="zh-CN" altLang="en-US">
              <a:sym typeface="+mn-ea"/>
            </a:endParaRPr>
          </a:p>
          <a:p>
            <a:endParaRPr lang="zh-CN" altLang="en-US"/>
          </a:p>
          <a:p>
            <a:endParaRPr lang="zh-CN" altLang="en-US"/>
          </a:p>
          <a:p>
            <a:endParaRPr lang="zh-CN" altLang="en-US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文本框 1"/>
          <p:cNvSpPr txBox="1"/>
          <p:nvPr/>
        </p:nvSpPr>
        <p:spPr>
          <a:xfrm>
            <a:off x="1221105" y="325755"/>
            <a:ext cx="8776970" cy="894715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r>
              <a:t>https://www.luogu.com.cn/problem/P2731</a:t>
            </a:r>
          </a:p>
        </p:txBody>
      </p:sp>
      <p:sp>
        <p:nvSpPr>
          <p:cNvPr id="3" name="文本框 2"/>
          <p:cNvSpPr txBox="1"/>
          <p:nvPr/>
        </p:nvSpPr>
        <p:spPr>
          <a:xfrm>
            <a:off x="1221105" y="1301750"/>
            <a:ext cx="7778115" cy="64516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/>
              <a:t>思路：</a:t>
            </a:r>
            <a:endParaRPr lang="zh-CN" altLang="en-US"/>
          </a:p>
          <a:p>
            <a:endParaRPr lang="zh-CN" altLang="en-US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文本框 1"/>
          <p:cNvSpPr txBox="1"/>
          <p:nvPr/>
        </p:nvSpPr>
        <p:spPr>
          <a:xfrm>
            <a:off x="1221105" y="325755"/>
            <a:ext cx="8776970" cy="894715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r>
              <a:t>https://www.luogu.com.cn/problem/P2731</a:t>
            </a:r>
          </a:p>
        </p:txBody>
      </p:sp>
      <p:sp>
        <p:nvSpPr>
          <p:cNvPr id="3" name="文本框 2"/>
          <p:cNvSpPr txBox="1"/>
          <p:nvPr/>
        </p:nvSpPr>
        <p:spPr>
          <a:xfrm>
            <a:off x="1221105" y="1301750"/>
            <a:ext cx="9799320" cy="3387725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r>
              <a:rPr lang="zh-CN" altLang="en-US"/>
              <a:t>思路：</a:t>
            </a:r>
            <a:endParaRPr lang="zh-CN" altLang="en-US"/>
          </a:p>
          <a:p>
            <a:endParaRPr lang="zh-CN" altLang="en-US"/>
          </a:p>
          <a:p>
            <a:r>
              <a:rPr lang="en-US" altLang="zh-CN"/>
              <a:t>1.所有栅栏都是连通的(也就是你可以从任意一个栅栏到达另外的所有栅栏)---&gt;</a:t>
            </a:r>
            <a:r>
              <a:rPr lang="zh-CN" altLang="en-US"/>
              <a:t>连通</a:t>
            </a:r>
            <a:r>
              <a:rPr lang="zh-CN" altLang="en-US"/>
              <a:t>的无向图</a:t>
            </a:r>
            <a:endParaRPr lang="zh-CN" altLang="en-US"/>
          </a:p>
          <a:p>
            <a:r>
              <a:rPr lang="en-US" altLang="zh-CN"/>
              <a:t>2.John能从任何一个顶点(即两个栅栏的交点)开始骑马，在任意一个顶点结束。---&gt;</a:t>
            </a:r>
            <a:r>
              <a:rPr lang="zh-CN" altLang="en-US"/>
              <a:t>找欧拉路径，即不保证是回路，要找起点。如果是回路，用最小编号做起点。</a:t>
            </a:r>
            <a:endParaRPr lang="en-US" altLang="zh-CN"/>
          </a:p>
          <a:p>
            <a:r>
              <a:rPr lang="en-US" altLang="zh-CN"/>
              <a:t>3.输入数据保证至少有一个解。----&gt;</a:t>
            </a:r>
            <a:r>
              <a:rPr lang="zh-CN" altLang="en-US"/>
              <a:t>题目保证是</a:t>
            </a:r>
            <a:r>
              <a:rPr lang="zh-CN" altLang="en-US">
                <a:sym typeface="+mn-ea"/>
              </a:rPr>
              <a:t>半</a:t>
            </a:r>
            <a:r>
              <a:rPr lang="en-US" altLang="zh-CN">
                <a:sym typeface="+mn-ea"/>
              </a:rPr>
              <a:t>欧拉图</a:t>
            </a:r>
            <a:r>
              <a:rPr lang="zh-CN" altLang="en-US">
                <a:sym typeface="+mn-ea"/>
              </a:rPr>
              <a:t>，</a:t>
            </a:r>
            <a:r>
              <a:rPr lang="zh-CN" altLang="en-US"/>
              <a:t>不需要判断</a:t>
            </a:r>
            <a:r>
              <a:rPr lang="en-US" altLang="zh-CN"/>
              <a:t>。</a:t>
            </a:r>
            <a:endParaRPr lang="en-US" altLang="zh-CN"/>
          </a:p>
          <a:p>
            <a:r>
              <a:rPr lang="en-US" altLang="zh-CN"/>
              <a:t>4.五百进制表示法----&gt;</a:t>
            </a:r>
            <a:r>
              <a:rPr lang="zh-CN" altLang="en-US"/>
              <a:t>字典序最小输出。</a:t>
            </a:r>
            <a:endParaRPr lang="zh-CN" altLang="en-US"/>
          </a:p>
          <a:p>
            <a:r>
              <a:rPr lang="en-US" altLang="zh-CN"/>
              <a:t>5.</a:t>
            </a:r>
            <a:r>
              <a:rPr lang="zh-CN" altLang="en-US"/>
              <a:t>数据范围不大，直接邻接矩阵存图。跑</a:t>
            </a:r>
            <a:r>
              <a:rPr lang="zh-CN" altLang="en-US">
                <a:sym typeface="+mn-ea"/>
              </a:rPr>
              <a:t>Hierholzer 算法。</a:t>
            </a:r>
            <a:endParaRPr lang="zh-CN" altLang="en-US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3" name="文本框 2"/>
          <p:cNvSpPr txBox="1"/>
          <p:nvPr>
            <p:custDataLst>
              <p:tags r:id="rId1"/>
            </p:custDataLst>
          </p:nvPr>
        </p:nvSpPr>
        <p:spPr>
          <a:xfrm>
            <a:off x="3355340" y="1643380"/>
            <a:ext cx="4233545" cy="3359785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pPr marL="457200" lvl="1" indent="457200">
              <a:buNone/>
            </a:pPr>
            <a:r>
              <a:rPr lang="en-US" altLang="zh-CN">
                <a:solidFill>
                  <a:schemeClr val="tx1"/>
                </a:solidFill>
                <a:sym typeface="+mn-ea"/>
              </a:rPr>
              <a:t>  </a:t>
            </a:r>
            <a:endParaRPr lang="en-US" altLang="zh-CN">
              <a:solidFill>
                <a:schemeClr val="tx1"/>
              </a:solidFill>
              <a:sym typeface="+mn-ea"/>
            </a:endParaRPr>
          </a:p>
          <a:p>
            <a:pPr marL="457200" lvl="1" indent="457200">
              <a:buNone/>
            </a:pPr>
            <a:r>
              <a:rPr lang="zh-CN" altLang="en-US">
                <a:solidFill>
                  <a:schemeClr val="tx1"/>
                </a:solidFill>
                <a:sym typeface="+mn-ea"/>
              </a:rPr>
              <a:t>下一节</a:t>
            </a:r>
            <a:r>
              <a:rPr lang="en-US" altLang="zh-CN">
                <a:solidFill>
                  <a:schemeClr val="tx1"/>
                </a:solidFill>
                <a:sym typeface="+mn-ea"/>
              </a:rPr>
              <a:t>-</a:t>
            </a:r>
            <a:r>
              <a:rPr lang="zh-CN" altLang="en-US">
                <a:solidFill>
                  <a:schemeClr val="tx1"/>
                </a:solidFill>
                <a:sym typeface="+mn-ea"/>
              </a:rPr>
              <a:t>字符串：</a:t>
            </a:r>
            <a:endParaRPr lang="zh-CN" altLang="en-US">
              <a:solidFill>
                <a:schemeClr val="tx1"/>
              </a:solidFill>
              <a:sym typeface="+mn-ea"/>
            </a:endParaRPr>
          </a:p>
          <a:p>
            <a:pPr marL="457200" lvl="1" indent="457200">
              <a:buNone/>
            </a:pPr>
            <a:r>
              <a:rPr lang="zh-CN" altLang="en-US">
                <a:solidFill>
                  <a:schemeClr val="tx1"/>
                </a:solidFill>
                <a:sym typeface="+mn-ea"/>
              </a:rPr>
              <a:t>字符串哈希</a:t>
            </a:r>
            <a:endParaRPr lang="zh-CN" altLang="en-US">
              <a:solidFill>
                <a:schemeClr val="tx1"/>
              </a:solidFill>
              <a:sym typeface="+mn-ea"/>
            </a:endParaRPr>
          </a:p>
          <a:p>
            <a:pPr marL="457200" lvl="1" indent="457200">
              <a:buNone/>
            </a:pPr>
            <a:r>
              <a:rPr lang="en-US" altLang="zh-CN">
                <a:solidFill>
                  <a:schemeClr val="tx1"/>
                </a:solidFill>
                <a:sym typeface="+mn-ea"/>
              </a:rPr>
              <a:t>KMP</a:t>
            </a:r>
            <a:r>
              <a:rPr lang="zh-CN" altLang="en-US">
                <a:solidFill>
                  <a:schemeClr val="tx1"/>
                </a:solidFill>
                <a:sym typeface="+mn-ea"/>
              </a:rPr>
              <a:t>算法</a:t>
            </a:r>
            <a:r>
              <a:rPr lang="en-US" altLang="zh-CN">
                <a:solidFill>
                  <a:schemeClr val="tx1"/>
                </a:solidFill>
                <a:sym typeface="+mn-ea"/>
              </a:rPr>
              <a:t>  </a:t>
            </a:r>
            <a:endParaRPr lang="en-US" altLang="zh-CN">
              <a:solidFill>
                <a:schemeClr val="tx1"/>
              </a:solidFill>
              <a:sym typeface="+mn-ea"/>
            </a:endParaRPr>
          </a:p>
          <a:p>
            <a:pPr marL="457200" lvl="1" indent="457200">
              <a:buNone/>
            </a:pPr>
            <a:r>
              <a:rPr lang="en-US" altLang="zh-CN">
                <a:solidFill>
                  <a:schemeClr val="tx1"/>
                </a:solidFill>
                <a:sym typeface="+mn-ea"/>
              </a:rPr>
              <a:t>    </a:t>
            </a:r>
            <a:endParaRPr lang="en-US" altLang="zh-CN">
              <a:solidFill>
                <a:schemeClr val="tx1"/>
              </a:solidFill>
              <a:sym typeface="+mn-ea"/>
            </a:endParaRPr>
          </a:p>
          <a:p>
            <a:pPr marL="457200" lvl="1" indent="457200">
              <a:buNone/>
            </a:pPr>
            <a:r>
              <a:rPr lang="en-US" altLang="zh-CN">
                <a:solidFill>
                  <a:schemeClr val="tx1"/>
                </a:solidFill>
                <a:sym typeface="+mn-ea"/>
              </a:rPr>
              <a:t>      </a:t>
            </a:r>
            <a:endParaRPr lang="en-US" altLang="zh-CN">
              <a:solidFill>
                <a:schemeClr val="tx1"/>
              </a:solidFill>
              <a:sym typeface="+mn-ea"/>
            </a:endParaRPr>
          </a:p>
          <a:p>
            <a:pPr indent="457200"/>
            <a:endParaRPr lang="zh-CN" altLang="en-US">
              <a:sym typeface="+mn-ea"/>
            </a:endParaRPr>
          </a:p>
          <a:p>
            <a:endParaRPr lang="zh-CN" altLang="en-US">
              <a:sym typeface="+mn-ea"/>
            </a:endParaRPr>
          </a:p>
          <a:p>
            <a:endParaRPr lang="zh-CN" altLang="en-US">
              <a:sym typeface="+mn-ea"/>
            </a:endParaRPr>
          </a:p>
          <a:p>
            <a:endParaRPr lang="zh-CN" altLang="en-US"/>
          </a:p>
          <a:p/>
        </p:txBody>
      </p:sp>
    </p:spTree>
  </p:cSld>
  <p:clrMapOvr>
    <a:masterClrMapping/>
  </p:clrMapOvr>
</p:sld>
</file>

<file path=ppt/tags/tag1.xml><?xml version="1.0" encoding="utf-8"?>
<p:tagLst xmlns:p="http://schemas.openxmlformats.org/presentationml/2006/main">
  <p:tag name="KSO_WM_BEAUTIFY_FLAG" val=""/>
</p:tagLst>
</file>

<file path=ppt/tags/tag2.xml><?xml version="1.0" encoding="utf-8"?>
<p:tagLst xmlns:p="http://schemas.openxmlformats.org/presentationml/2006/main">
  <p:tag name="KSO_WM_BEAUTIFY_FLAG" val=""/>
</p:tagLst>
</file>

<file path=ppt/tags/tag3.xml><?xml version="1.0" encoding="utf-8"?>
<p:tagLst xmlns:p="http://schemas.openxmlformats.org/presentationml/2006/main">
  <p:tag name="KSO_WM_BEAUTIFY_FLAG" val=""/>
</p:tagLst>
</file>

<file path=ppt/tags/tag4.xml><?xml version="1.0" encoding="utf-8"?>
<p:tagLst xmlns:p="http://schemas.openxmlformats.org/presentationml/2006/main">
  <p:tag name="KSO_WM_BEAUTIFY_FLAG" val=""/>
</p:tagLst>
</file>

<file path=ppt/tags/tag5.xml><?xml version="1.0" encoding="utf-8"?>
<p:tagLst xmlns:p="http://schemas.openxmlformats.org/presentationml/2006/main">
  <p:tag name="KSO_WM_BEAUTIFY_FLAG" val=""/>
</p:tagLst>
</file>

<file path=ppt/tags/tag6.xml><?xml version="1.0" encoding="utf-8"?>
<p:tagLst xmlns:p="http://schemas.openxmlformats.org/presentationml/2006/main">
  <p:tag name="KSO_WM_BEAUTIFY_FLAG" val=""/>
</p:tagLst>
</file>

<file path=ppt/tags/tag7.xml><?xml version="1.0" encoding="utf-8"?>
<p:tagLst xmlns:p="http://schemas.openxmlformats.org/presentationml/2006/main">
  <p:tag name="KSO_WM_BEAUTIFY_FLAG" val=""/>
</p:tagLst>
</file>

<file path=ppt/tags/tag8.xml><?xml version="1.0" encoding="utf-8"?>
<p:tagLst xmlns:p="http://schemas.openxmlformats.org/presentationml/2006/main">
  <p:tag name="KSO_WM_BEAUTIFY_FLAG" val=""/>
</p:tagLst>
</file>

<file path=ppt/tags/tag9.xml><?xml version="1.0" encoding="utf-8"?>
<p:tagLst xmlns:p="http://schemas.openxmlformats.org/presentationml/2006/main">
  <p:tag name="KSO_WM_BEAUTIFY_FLAG" val=""/>
</p:tagLst>
</file>

<file path=ppt/tags/tag10.xml><?xml version="1.0" encoding="utf-8"?>
<p:tagLst xmlns:p="http://schemas.openxmlformats.org/presentationml/2006/main">
  <p:tag name="KSO_WM_BEAUTIFY_FLAG" val=""/>
</p:tagLst>
</file>

<file path=ppt/tags/tag11.xml><?xml version="1.0" encoding="utf-8"?>
<p:tagLst xmlns:p="http://schemas.openxmlformats.org/presentationml/2006/main">
  <p:tag name="KSO_WM_BEAUTIFY_FLAG" val=""/>
</p:tagLst>
</file>

<file path=ppt/tags/tag12.xml><?xml version="1.0" encoding="utf-8"?>
<p:tagLst xmlns:p="http://schemas.openxmlformats.org/presentationml/2006/main">
  <p:tag name="KSO_WM_BEAUTIFY_FLAG" val=""/>
</p:tagLst>
</file>

<file path=ppt/tags/tag13.xml><?xml version="1.0" encoding="utf-8"?>
<p:tagLst xmlns:p="http://schemas.openxmlformats.org/presentationml/2006/main">
  <p:tag name="KSO_WM_BEAUTIFY_FLAG" val=""/>
</p:tagLst>
</file>

<file path=ppt/tags/tag14.xml><?xml version="1.0" encoding="utf-8"?>
<p:tagLst xmlns:p="http://schemas.openxmlformats.org/presentationml/2006/main">
  <p:tag name="KSO_WM_BEAUTIFY_FLAG" val=""/>
</p:tagLst>
</file>

<file path=ppt/tags/tag15.xml><?xml version="1.0" encoding="utf-8"?>
<p:tagLst xmlns:p="http://schemas.openxmlformats.org/presentationml/2006/main">
  <p:tag name="KSO_WM_BEAUTIFY_FLAG" val=""/>
</p:tagLst>
</file>

<file path=ppt/tags/tag16.xml><?xml version="1.0" encoding="utf-8"?>
<p:tagLst xmlns:p="http://schemas.openxmlformats.org/presentationml/2006/main">
  <p:tag name="COMMONDATA" val="eyJoZGlkIjoiMjNhN2QzNzIxYTMxZDA2OTMyYTljMDA5MmRhYmMwNjcifQ=="/>
</p:tagLst>
</file>

<file path=ppt/theme/theme1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微软雅黑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微软雅黑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2230</Words>
  <Application>WPS 演示</Application>
  <PresentationFormat>宽屏</PresentationFormat>
  <Paragraphs>144</Paragraphs>
  <Slides>13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11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13</vt:i4>
      </vt:variant>
    </vt:vector>
  </HeadingPairs>
  <TitlesOfParts>
    <vt:vector size="25" baseType="lpstr">
      <vt:lpstr>Arial</vt:lpstr>
      <vt:lpstr>宋体</vt:lpstr>
      <vt:lpstr>Wingdings</vt:lpstr>
      <vt:lpstr>Calibri</vt:lpstr>
      <vt:lpstr>Helvetica Neue</vt:lpstr>
      <vt:lpstr>微软雅黑</vt:lpstr>
      <vt:lpstr>汉仪旗黑</vt:lpstr>
      <vt:lpstr>微软雅黑</vt:lpstr>
      <vt:lpstr>宋体</vt:lpstr>
      <vt:lpstr>Arial Unicode MS</vt:lpstr>
      <vt:lpstr>汉仪书宋二KW</vt:lpstr>
      <vt:lpstr>Office 主题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lastModifiedBy>pipi</cp:lastModifiedBy>
  <cp:revision>55</cp:revision>
  <dcterms:created xsi:type="dcterms:W3CDTF">2025-04-26T13:23:43Z</dcterms:created>
  <dcterms:modified xsi:type="dcterms:W3CDTF">2025-04-26T13:23:43Z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39D95B3D507C44309E7C251695CCA2D4_12</vt:lpwstr>
  </property>
  <property fmtid="{D5CDD505-2E9C-101B-9397-08002B2CF9AE}" pid="3" name="KSOProductBuildVer">
    <vt:lpwstr>2052-6.15.2.8936</vt:lpwstr>
  </property>
</Properties>
</file>