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80" r:id="rId12"/>
    <p:sldId id="279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8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tags" Target="../tags/tag15.xml"/><Relationship Id="rId3" Type="http://schemas.openxmlformats.org/officeDocument/2006/relationships/image" Target="../media/image1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image" Target="../media/image3.png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2410707"/>
            <a:ext cx="12192000" cy="1862048"/>
          </a:xfrm>
          <a:prstGeom prst="rect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p>
            <a:pPr algn="ctr"/>
            <a:r>
              <a:rPr lang="zh-CN" altLang="en-US" sz="11500" b="1" cap="none" spc="0" dirty="0" smtClean="0">
                <a:ln w="0"/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  <a:ea typeface="微软雅黑" panose="020B0503020204020204" charset="-122"/>
              </a:rPr>
              <a:t>快  速  幂</a:t>
            </a:r>
            <a:endParaRPr lang="zh-CN" altLang="en-US" sz="11500" b="1" cap="none" spc="0" dirty="0">
              <a:ln w="0"/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4539293" y="587490"/>
            <a:ext cx="2401619" cy="9233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t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en-US" altLang="zh-CN" sz="5400" b="1" baseline="30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849120"/>
            <a:ext cx="10323830" cy="2849245"/>
          </a:xfr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/>
          <a:p>
            <a:pPr fontAlgn="auto"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charset="-122"/>
              </a:rPr>
              <a:t>根据以往的学习经验，我们在计算5的10次方这个问题时，需要多少次的运算呢？</a:t>
            </a:r>
            <a:endParaRPr lang="zh-CN" altLang="en-US" sz="2400" b="1" dirty="0">
              <a:latin typeface="微软雅黑" panose="020B0503020204020204" charset="-122"/>
            </a:endParaRPr>
          </a:p>
          <a:p>
            <a:pPr fontAlgn="auto"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charset="-122"/>
              </a:rPr>
              <a:t>那么对于这种运算，我们能否对其进行优化，从而缩短运算时间呢？</a:t>
            </a:r>
            <a:endParaRPr lang="zh-CN" altLang="en-US" sz="2400" b="1" dirty="0"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02335" y="1253490"/>
            <a:ext cx="10515600" cy="4351338"/>
          </a:xfr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p>
            <a:pPr fontAlgn="auto">
              <a:lnSpc>
                <a:spcPct val="150000"/>
              </a:lnSpc>
            </a:pPr>
            <a:r>
              <a:rPr lang="zh-CN" altLang="en-US" dirty="0">
                <a:ea typeface="微软雅黑" panose="020B0503020204020204" charset="-122"/>
              </a:rPr>
              <a:t>我们很容易发现，10个5相乘是一个完全重复的过程，如果它变成</a:t>
            </a:r>
            <a:r>
              <a:rPr lang="zh-CN" altLang="en-US" b="1" dirty="0">
                <a:solidFill>
                  <a:srgbClr val="C00000"/>
                </a:solidFill>
                <a:ea typeface="微软雅黑" panose="020B0503020204020204" charset="-122"/>
              </a:rPr>
              <a:t>（5*5）*（5*5）*（5*5）*（5*5）*（5*5）</a:t>
            </a:r>
            <a:r>
              <a:rPr lang="zh-CN" altLang="en-US" dirty="0">
                <a:ea typeface="微软雅黑" panose="020B0503020204020204" charset="-122"/>
              </a:rPr>
              <a:t>，因为我们把5*5这个重复的运算先完成了，所以他的运算次数缩短为5次</a:t>
            </a:r>
            <a:endParaRPr lang="zh-CN" altLang="en-US" dirty="0">
              <a:ea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a typeface="微软雅黑" panose="020B0503020204020204" charset="-122"/>
              </a:rPr>
              <a:t>继续下去可以发现</a:t>
            </a:r>
            <a:r>
              <a:rPr lang="zh-CN" altLang="en-US" b="1" dirty="0">
                <a:solidFill>
                  <a:srgbClr val="C00000"/>
                </a:solidFill>
                <a:ea typeface="微软雅黑" panose="020B0503020204020204" charset="-122"/>
              </a:rPr>
              <a:t>（5*5）*（5*5）</a:t>
            </a:r>
            <a:r>
              <a:rPr lang="zh-CN" altLang="en-US" dirty="0">
                <a:ea typeface="微软雅黑" panose="020B0503020204020204" charset="-122"/>
              </a:rPr>
              <a:t>也是重复进行的</a:t>
            </a:r>
            <a:endParaRPr lang="zh-CN" altLang="en-US" dirty="0">
              <a:ea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ea typeface="微软雅黑" panose="020B0503020204020204" charset="-122"/>
              </a:rPr>
              <a:t>如果我们进一步优化，那么就可以变成</a:t>
            </a:r>
            <a:r>
              <a:rPr lang="zh-CN" altLang="en-US" b="1" dirty="0">
                <a:solidFill>
                  <a:srgbClr val="C00000"/>
                </a:solidFill>
                <a:ea typeface="微软雅黑" panose="020B0503020204020204" charset="-122"/>
              </a:rPr>
              <a:t>（5*5*5*5）*（5*5*5*5）*（5*5）</a:t>
            </a:r>
            <a:endParaRPr lang="zh-CN" altLang="en-US" b="1" dirty="0">
              <a:solidFill>
                <a:srgbClr val="C00000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939165" y="1252855"/>
            <a:ext cx="10515600" cy="4351338"/>
          </a:xfr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/>
          <a:p>
            <a:pPr fontAlgn="auto">
              <a:lnSpc>
                <a:spcPct val="200000"/>
              </a:lnSpc>
            </a:pPr>
            <a:r>
              <a:rPr lang="zh-CN" altLang="en-US" dirty="0"/>
              <a:t>我们可以知道的是（5*5*5*5）就是（5*5）的</a:t>
            </a:r>
            <a:r>
              <a:rPr lang="zh-CN" altLang="en-US" b="1" dirty="0">
                <a:solidFill>
                  <a:srgbClr val="C00000"/>
                </a:solidFill>
              </a:rPr>
              <a:t>平方</a:t>
            </a:r>
            <a:r>
              <a:rPr lang="zh-CN" altLang="en-US" dirty="0"/>
              <a:t>，（5*5）又是5的</a:t>
            </a:r>
            <a:r>
              <a:rPr lang="zh-CN" altLang="en-US" b="1" dirty="0">
                <a:solidFill>
                  <a:srgbClr val="C00000"/>
                </a:solidFill>
              </a:rPr>
              <a:t>平方</a:t>
            </a:r>
            <a:r>
              <a:rPr lang="zh-CN" altLang="en-US" dirty="0"/>
              <a:t>，那么这个过程就变为了：一个数字始终在平方，当你需要它的时候就取它的值。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647687" y="3883660"/>
            <a:ext cx="1210588" cy="1200329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 dirty="0">
                <a:latin typeface="Arial Black" panose="020B0A04020102020204" pitchFamily="34" charset="0"/>
                <a:ea typeface="微软雅黑" panose="020B0503020204020204" charset="-122"/>
              </a:rPr>
              <a:t>5</a:t>
            </a:r>
            <a:r>
              <a:rPr lang="en-US" altLang="zh-CN" sz="7200" b="1" baseline="30000" dirty="0">
                <a:latin typeface="Arial Black" panose="020B0A04020102020204" pitchFamily="34" charset="0"/>
                <a:ea typeface="微软雅黑" panose="020B0503020204020204" charset="-122"/>
              </a:rPr>
              <a:t>1</a:t>
            </a:r>
            <a:endParaRPr lang="en-US" altLang="zh-CN" sz="7200" b="1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5" name="右箭头 4"/>
          <p:cNvSpPr/>
          <p:nvPr>
            <p:custDataLst>
              <p:tags r:id="rId3"/>
            </p:custDataLst>
          </p:nvPr>
        </p:nvSpPr>
        <p:spPr>
          <a:xfrm>
            <a:off x="3018790" y="4283710"/>
            <a:ext cx="770890" cy="3987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4034652" y="3883660"/>
            <a:ext cx="1210588" cy="1200329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 dirty="0">
                <a:latin typeface="Arial Black" panose="020B0A04020102020204" pitchFamily="34" charset="0"/>
                <a:ea typeface="微软雅黑" panose="020B0503020204020204" charset="-122"/>
              </a:rPr>
              <a:t>5</a:t>
            </a:r>
            <a:r>
              <a:rPr lang="en-US" altLang="zh-CN" sz="7200" b="1" baseline="30000" dirty="0">
                <a:latin typeface="Arial Black" panose="020B0A04020102020204" pitchFamily="34" charset="0"/>
                <a:ea typeface="微软雅黑" panose="020B0503020204020204" charset="-122"/>
              </a:rPr>
              <a:t>2</a:t>
            </a:r>
            <a:endParaRPr lang="en-US" altLang="zh-CN" sz="7200" b="1" baseline="300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6683376" y="3883660"/>
            <a:ext cx="118999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 dirty="0">
                <a:latin typeface="Arial Black" panose="020B0A04020102020204" pitchFamily="34" charset="0"/>
                <a:ea typeface="微软雅黑" panose="020B0503020204020204" charset="-122"/>
              </a:rPr>
              <a:t>5</a:t>
            </a:r>
            <a:r>
              <a:rPr lang="en-US" altLang="zh-CN" sz="7200" b="1" baseline="30000" dirty="0">
                <a:latin typeface="Arial Black" panose="020B0A04020102020204" pitchFamily="34" charset="0"/>
                <a:ea typeface="微软雅黑" panose="020B0503020204020204" charset="-122"/>
                <a:sym typeface="+mn-ea"/>
              </a:rPr>
              <a:t>4</a:t>
            </a:r>
            <a:endParaRPr lang="en-US" altLang="zh-CN" sz="7200" b="1" baseline="300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8" name="右箭头 7"/>
          <p:cNvSpPr/>
          <p:nvPr>
            <p:custDataLst>
              <p:tags r:id="rId6"/>
            </p:custDataLst>
          </p:nvPr>
        </p:nvSpPr>
        <p:spPr>
          <a:xfrm>
            <a:off x="5535930" y="4283710"/>
            <a:ext cx="770890" cy="3987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9" name="右箭头 8"/>
          <p:cNvSpPr/>
          <p:nvPr>
            <p:custDataLst>
              <p:tags r:id="rId7"/>
            </p:custDataLst>
          </p:nvPr>
        </p:nvSpPr>
        <p:spPr>
          <a:xfrm>
            <a:off x="8338820" y="4283710"/>
            <a:ext cx="770890" cy="3987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9339334" y="4283710"/>
            <a:ext cx="1010213" cy="830997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 baseline="30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微软雅黑" panose="020B0503020204020204" charset="-122"/>
              </a:rPr>
              <a:t>·····</a:t>
            </a:r>
            <a:endParaRPr lang="en-US" altLang="zh-CN" sz="7200" b="1" baseline="300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873125" y="691515"/>
            <a:ext cx="10574020" cy="3053080"/>
          </a:xfrm>
        </p:spPr>
        <p:txBody>
          <a:bodyPr>
            <a:normAutofit fontScale="80000"/>
          </a:bodyPr>
          <a:p>
            <a:pPr>
              <a:lnSpc>
                <a:spcPct val="150000"/>
              </a:lnSpc>
            </a:pPr>
            <a:r>
              <a:rPr lang="zh-CN" altLang="en-US" sz="2400" b="1" dirty="0"/>
              <a:t>进制转换：任何</a:t>
            </a:r>
            <a:r>
              <a:rPr lang="zh-CN" altLang="en-US" sz="2400" b="1" dirty="0"/>
              <a:t>正整数都可以写成</a:t>
            </a:r>
            <a:r>
              <a:rPr lang="en-US" altLang="zh-CN" sz="2400" b="1" dirty="0"/>
              <a:t>2^n</a:t>
            </a:r>
            <a:r>
              <a:rPr lang="zh-CN" altLang="en-US" sz="2400" b="1" dirty="0"/>
              <a:t>相加的</a:t>
            </a:r>
            <a:r>
              <a:rPr lang="zh-CN" altLang="en-US" sz="2400" b="1" dirty="0"/>
              <a:t>形式。</a:t>
            </a:r>
            <a:endParaRPr lang="zh-CN" altLang="en-US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5=2^2+2^0;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7=2^2+2^1+2^0;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10=2^3+2^1</a:t>
            </a:r>
            <a:endParaRPr lang="en-US" altLang="zh-CN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b="1" dirty="0"/>
              <a:t>why?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endParaRPr lang="en-US" altLang="zh-CN" sz="2400" b="1" dirty="0"/>
          </a:p>
          <a:p>
            <a:pPr>
              <a:lnSpc>
                <a:spcPct val="150000"/>
              </a:lnSpc>
            </a:pPr>
            <a:endParaRPr lang="zh-CN" altLang="en-US" sz="2400" b="1" dirty="0"/>
          </a:p>
          <a:p>
            <a:pPr>
              <a:lnSpc>
                <a:spcPct val="150000"/>
              </a:lnSpc>
            </a:pP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06875" y="2286635"/>
            <a:ext cx="7537450" cy="389128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73125" y="3648075"/>
            <a:ext cx="3030855" cy="252984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129665" y="332105"/>
            <a:ext cx="10474960" cy="2354580"/>
          </a:xfr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/>
          <a:p>
            <a:pPr fontAlgn="auto">
              <a:lnSpc>
                <a:spcPct val="200000"/>
              </a:lnSpc>
            </a:pPr>
            <a:r>
              <a:rPr lang="zh-CN" altLang="en-US" sz="2400" dirty="0"/>
              <a:t>此时我们</a:t>
            </a:r>
            <a:r>
              <a:rPr lang="zh-CN" altLang="en-US" sz="2400" dirty="0">
                <a:sym typeface="+mn-ea"/>
              </a:rPr>
              <a:t>结合进制转换的知识，</a:t>
            </a:r>
            <a:r>
              <a:rPr lang="zh-CN" altLang="en-US" sz="2400" dirty="0"/>
              <a:t>把</a:t>
            </a:r>
            <a:r>
              <a:rPr lang="zh-CN" altLang="en-US" sz="2400" dirty="0"/>
              <a:t>幂数拆成了几个2的幂累和的形式，也就是我们把一个十进制的次方数转成了二进制，但是</a:t>
            </a:r>
            <a:r>
              <a:rPr lang="zh-CN" altLang="en-US" sz="2400" b="1" dirty="0">
                <a:solidFill>
                  <a:srgbClr val="C00000"/>
                </a:solidFill>
              </a:rPr>
              <a:t>不直接写成二进制形式</a:t>
            </a:r>
            <a:r>
              <a:rPr lang="zh-CN" altLang="en-US" sz="2400" dirty="0"/>
              <a:t>，而是把二进制形式里为1的部分，写出来做累加。</a:t>
            </a:r>
            <a:endParaRPr lang="zh-CN" altLang="en-US" sz="2400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065896" y="3043920"/>
            <a:ext cx="5673348" cy="769441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(10)D=(1010)B=2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3</a:t>
            </a:r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+2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1</a:t>
            </a:r>
            <a:endParaRPr lang="en-US" altLang="zh-CN" sz="44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922640" y="4270740"/>
            <a:ext cx="395986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5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10</a:t>
            </a:r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=5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(8+2)</a:t>
            </a:r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=5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8</a:t>
            </a:r>
            <a:r>
              <a:rPr lang="en-US" altLang="zh-CN" sz="4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*5</a:t>
            </a:r>
            <a:r>
              <a:rPr lang="en-US" altLang="zh-CN" sz="4400" b="1" baseline="30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2</a:t>
            </a:r>
            <a:endParaRPr lang="en-US" altLang="zh-CN" sz="4400" b="1" baseline="300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cxnSp>
        <p:nvCxnSpPr>
          <p:cNvPr id="5" name="直接箭头连接符 4"/>
          <p:cNvCxnSpPr/>
          <p:nvPr>
            <p:custDataLst>
              <p:tags r:id="rId4"/>
            </p:custDataLst>
          </p:nvPr>
        </p:nvCxnSpPr>
        <p:spPr>
          <a:xfrm flipV="1">
            <a:off x="5729819" y="3662573"/>
            <a:ext cx="1636395" cy="709930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5"/>
            </p:custDataLst>
          </p:nvPr>
        </p:nvCxnSpPr>
        <p:spPr>
          <a:xfrm flipV="1">
            <a:off x="6071479" y="3708765"/>
            <a:ext cx="2155190" cy="721995"/>
          </a:xfrm>
          <a:prstGeom prst="straightConnector1">
            <a:avLst/>
          </a:prstGeom>
          <a:ln w="254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29665" y="4966970"/>
            <a:ext cx="10575925" cy="158559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200000"/>
              </a:lnSpc>
            </a:pPr>
            <a:r>
              <a:rPr lang="en-US" altLang="zh-CN" sz="2400" dirty="0"/>
              <a:t>5^8,5^2</a:t>
            </a:r>
            <a:r>
              <a:rPr lang="zh-CN" altLang="en-US" sz="2400" dirty="0"/>
              <a:t>如何求？</a:t>
            </a:r>
            <a:endParaRPr lang="zh-CN" altLang="en-US" sz="2400" dirty="0"/>
          </a:p>
          <a:p>
            <a:pPr marL="0" indent="0" fontAlgn="auto">
              <a:lnSpc>
                <a:spcPct val="200000"/>
              </a:lnSpc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不断平方：</a:t>
            </a:r>
            <a:r>
              <a:rPr lang="en-US" altLang="zh-CN" sz="2400" dirty="0"/>
              <a:t>5    5^2    5^4    5^8    5^16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223956" y="931352"/>
            <a:ext cx="9745493" cy="4351338"/>
          </a:xfr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/>
          <a:p>
            <a:pPr marL="0" indent="0" fontAlgn="auto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charset="-122"/>
              </a:rPr>
              <a:t>计算</a:t>
            </a:r>
            <a:r>
              <a:rPr lang="en-US" altLang="zh-CN" sz="2400" dirty="0" err="1">
                <a:latin typeface="微软雅黑" panose="020B0503020204020204" charset="-122"/>
              </a:rPr>
              <a:t>n</a:t>
            </a:r>
            <a:r>
              <a:rPr lang="en-US" altLang="zh-CN" sz="2400" baseline="30000" dirty="0" err="1">
                <a:latin typeface="微软雅黑" panose="020B0503020204020204" charset="-122"/>
              </a:rPr>
              <a:t>x</a:t>
            </a:r>
            <a:r>
              <a:rPr lang="zh-CN" altLang="en-US" sz="2400" dirty="0">
                <a:latin typeface="微软雅黑" panose="020B0503020204020204" charset="-122"/>
              </a:rPr>
              <a:t>：</a:t>
            </a:r>
            <a:endParaRPr lang="zh-CN" altLang="en-US" sz="2400" dirty="0">
              <a:latin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</a:rPr>
              <a:t>任务一：</a:t>
            </a:r>
            <a:r>
              <a:rPr lang="en-US" altLang="zh-CN" sz="2400" dirty="0">
                <a:latin typeface="微软雅黑" panose="020B0503020204020204" charset="-122"/>
              </a:rPr>
              <a:t>有一个变量</a:t>
            </a:r>
            <a:r>
              <a:rPr lang="en-US" altLang="zh-CN" sz="2400" dirty="0">
                <a:latin typeface="微软雅黑" panose="020B0503020204020204" charset="-122"/>
              </a:rPr>
              <a:t>n始终保存当前</a:t>
            </a:r>
            <a:r>
              <a:rPr lang="zh-CN" altLang="en-US" sz="2400" dirty="0">
                <a:latin typeface="微软雅黑" panose="020B0503020204020204" charset="-122"/>
              </a:rPr>
              <a:t>指数</a:t>
            </a:r>
            <a:r>
              <a:rPr lang="en-US" altLang="zh-CN" sz="2400" dirty="0">
                <a:latin typeface="微软雅黑" panose="020B0503020204020204" charset="-122"/>
              </a:rPr>
              <a:t>是2的几次方，即2</a:t>
            </a:r>
            <a:r>
              <a:rPr lang="en-US" altLang="zh-CN" sz="2400" baseline="30000" dirty="0">
                <a:latin typeface="微软雅黑" panose="020B0503020204020204" charset="-122"/>
              </a:rPr>
              <a:t>0</a:t>
            </a:r>
            <a:r>
              <a:rPr lang="en-US" altLang="zh-CN" sz="2400" dirty="0">
                <a:latin typeface="微软雅黑" panose="020B0503020204020204" charset="-122"/>
              </a:rPr>
              <a:t>、2</a:t>
            </a:r>
            <a:r>
              <a:rPr lang="en-US" altLang="zh-CN" sz="2400" baseline="30000" dirty="0">
                <a:latin typeface="微软雅黑" panose="020B0503020204020204" charset="-122"/>
              </a:rPr>
              <a:t>1</a:t>
            </a:r>
            <a:r>
              <a:rPr lang="en-US" altLang="zh-CN" sz="2400" dirty="0">
                <a:latin typeface="微软雅黑" panose="020B0503020204020204" charset="-122"/>
              </a:rPr>
              <a:t>、2</a:t>
            </a:r>
            <a:r>
              <a:rPr lang="en-US" altLang="zh-CN" sz="2400" baseline="30000" dirty="0">
                <a:latin typeface="微软雅黑" panose="020B0503020204020204" charset="-122"/>
              </a:rPr>
              <a:t>2</a:t>
            </a:r>
            <a:r>
              <a:rPr lang="en-US" altLang="zh-CN" sz="2400" dirty="0">
                <a:latin typeface="微软雅黑" panose="020B0503020204020204" charset="-122"/>
              </a:rPr>
              <a:t>以此类推，如果我们以n作为底数，那么到此题中就变成了n</a:t>
            </a:r>
            <a:r>
              <a:rPr lang="en-US" altLang="zh-CN" sz="2400" baseline="30000" dirty="0">
                <a:latin typeface="微软雅黑" panose="020B0503020204020204" charset="-122"/>
              </a:rPr>
              <a:t>1</a:t>
            </a:r>
            <a:r>
              <a:rPr lang="en-US" altLang="zh-CN" sz="2400" dirty="0">
                <a:latin typeface="微软雅黑" panose="020B0503020204020204" charset="-122"/>
              </a:rPr>
              <a:t>、n</a:t>
            </a:r>
            <a:r>
              <a:rPr lang="en-US" altLang="zh-CN" sz="2400" baseline="30000" dirty="0">
                <a:latin typeface="微软雅黑" panose="020B0503020204020204" charset="-122"/>
              </a:rPr>
              <a:t>2</a:t>
            </a:r>
            <a:r>
              <a:rPr lang="en-US" altLang="zh-CN" sz="2400" dirty="0">
                <a:latin typeface="微软雅黑" panose="020B0503020204020204" charset="-122"/>
              </a:rPr>
              <a:t>、n</a:t>
            </a:r>
            <a:r>
              <a:rPr lang="en-US" altLang="zh-CN" sz="2400" baseline="30000" dirty="0">
                <a:latin typeface="微软雅黑" panose="020B0503020204020204" charset="-122"/>
              </a:rPr>
              <a:t>4</a:t>
            </a:r>
            <a:r>
              <a:rPr lang="en-US" altLang="zh-CN" sz="2400" dirty="0">
                <a:latin typeface="微软雅黑" panose="020B0503020204020204" charset="-122"/>
              </a:rPr>
              <a:t>，我们只需要每次n*=</a:t>
            </a:r>
            <a:r>
              <a:rPr lang="en-US" altLang="zh-CN" sz="2400" dirty="0" err="1">
                <a:latin typeface="微软雅黑" panose="020B0503020204020204" charset="-122"/>
              </a:rPr>
              <a:t>n即可</a:t>
            </a:r>
            <a:endParaRPr lang="en-US" altLang="zh-CN" sz="2400" dirty="0">
              <a:latin typeface="微软雅黑" panose="020B050302020402020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</a:rPr>
              <a:t>任务二：</a:t>
            </a:r>
            <a:r>
              <a:rPr lang="en-US" altLang="zh-CN" sz="2400" dirty="0">
                <a:latin typeface="微软雅黑" panose="020B0503020204020204" charset="-122"/>
              </a:rPr>
              <a:t>如果x%2==1证明该二进制位的值为1，因此应该用累乘变量res乘上当前的n。当然在循环的最后，和10</a:t>
            </a:r>
            <a:r>
              <a:rPr lang="zh-CN" altLang="en-US" sz="2400" dirty="0">
                <a:latin typeface="微软雅黑" panose="020B0503020204020204" charset="-122"/>
              </a:rPr>
              <a:t>进制</a:t>
            </a:r>
            <a:r>
              <a:rPr lang="en-US" altLang="zh-CN" sz="2400" dirty="0">
                <a:latin typeface="微软雅黑" panose="020B0503020204020204" charset="-122"/>
              </a:rPr>
              <a:t>转2进制一样，x需要除以2，只要x不为零这个循环始终执行下去</a:t>
            </a:r>
            <a:endParaRPr lang="en-US" altLang="zh-CN" sz="2400" dirty="0"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26107" y="1560614"/>
            <a:ext cx="9371438" cy="2996565"/>
          </a:xfrm>
          <a:prstGeom prst="rect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</p:pic>
      <p:sp>
        <p:nvSpPr>
          <p:cNvPr id="10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174490" y="5186045"/>
            <a:ext cx="3068955" cy="108331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200000"/>
              </a:lnSpc>
              <a:buNone/>
            </a:pPr>
            <a:r>
              <a:rPr lang="zh-CN" altLang="en-US" sz="2400" dirty="0"/>
              <a:t>时间复杂度：</a:t>
            </a:r>
            <a:r>
              <a:rPr lang="en-US" altLang="zh-CN" sz="2400" dirty="0"/>
              <a:t>O(log x)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4585" y="779145"/>
            <a:ext cx="7137400" cy="226758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200000"/>
              </a:lnSpc>
              <a:buNone/>
            </a:pPr>
            <a:r>
              <a:rPr lang="zh-CN" altLang="en-US" sz="2400" dirty="0"/>
              <a:t>板子</a:t>
            </a:r>
            <a:r>
              <a:rPr lang="zh-CN" altLang="en-US" sz="2400" dirty="0"/>
              <a:t>题：https://www.luogu.com.cn/problem/P1226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869045" y="2077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4585" y="779145"/>
            <a:ext cx="7137400" cy="226758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200000"/>
              </a:lnSpc>
              <a:buNone/>
            </a:pPr>
            <a:r>
              <a:rPr lang="zh-CN" altLang="en-US" sz="2400" dirty="0"/>
              <a:t>板子</a:t>
            </a:r>
            <a:r>
              <a:rPr lang="zh-CN" altLang="en-US" sz="2400" dirty="0"/>
              <a:t>题：https://www.luogu.com.cn/problem/P1226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55" y="3304540"/>
            <a:ext cx="1019175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94585" y="779145"/>
            <a:ext cx="7137400" cy="2267585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200000"/>
              </a:lnSpc>
              <a:buNone/>
            </a:pPr>
            <a:r>
              <a:rPr lang="zh-CN" altLang="en-US" sz="2400" dirty="0"/>
              <a:t>下节课例题</a:t>
            </a:r>
            <a:r>
              <a:rPr lang="en-US" altLang="zh-CN" sz="2400" dirty="0"/>
              <a:t>：</a:t>
            </a:r>
            <a:r>
              <a:rPr lang="zh-CN" altLang="en-US" sz="2400" dirty="0"/>
              <a:t>无</a:t>
            </a:r>
            <a:endParaRPr lang="zh-CN" altLang="en-US" sz="2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COMMONDATA" val="eyJoZGlkIjoiMjNhN2QzNzIxYTMxZDA2OTMyYTljMDA5MmRhYmMwNjcifQ=="/>
  <p:tag name="KSO_WPP_MARK_KEY" val="4ab379f7-797d-41bd-a4dc-01189852a49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WPS 演示</Application>
  <PresentationFormat>宽屏</PresentationFormat>
  <Paragraphs>51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</vt:lpstr>
      <vt:lpstr>Arial Black</vt:lpstr>
      <vt:lpstr>Calibri</vt:lpstr>
      <vt:lpstr>Helvetica Neue</vt:lpstr>
      <vt:lpstr>宋体</vt:lpstr>
      <vt:lpstr>Arial Unicode MS</vt:lpstr>
      <vt:lpstr>汉仪书宋二KW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11</cp:revision>
  <dcterms:created xsi:type="dcterms:W3CDTF">2025-03-04T13:31:31Z</dcterms:created>
  <dcterms:modified xsi:type="dcterms:W3CDTF">2025-03-04T13:31:31Z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6659622294ED44388BFE40BC86E14FE4_12</vt:lpwstr>
  </property>
  <property fmtid="{D5CDD505-2E9C-101B-9397-08002B2CF9AE}" pid="3" name="KSOProductBuildVer">
    <vt:lpwstr>2052-6.15.2.8936</vt:lpwstr>
  </property>
</Properties>
</file>