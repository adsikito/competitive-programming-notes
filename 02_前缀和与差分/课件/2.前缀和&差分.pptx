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8" r:id="rId5"/>
    <p:sldId id="259" r:id="rId6"/>
    <p:sldId id="261" r:id="rId7"/>
    <p:sldId id="263" r:id="rId8"/>
    <p:sldId id="264" r:id="rId9"/>
    <p:sldId id="269" r:id="rId10"/>
    <p:sldId id="270" r:id="rId11"/>
    <p:sldId id="265" r:id="rId12"/>
    <p:sldId id="266" r:id="rId13"/>
    <p:sldId id="267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4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20520" y="1136650"/>
            <a:ext cx="9356725" cy="4791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前缀和：前缀和可以简单理解为「数列的前 n 项的和」，是一种重要的预处理方式。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>
                <a:solidFill>
                  <a:srgbClr val="FF0000"/>
                </a:solidFill>
              </a:rPr>
              <a:t>一维</a:t>
            </a:r>
            <a:r>
              <a:rPr lang="zh-CN" altLang="en-US">
                <a:solidFill>
                  <a:schemeClr val="tx1"/>
                </a:solidFill>
              </a:rPr>
              <a:t>：有 </a:t>
            </a:r>
            <a:r>
              <a:rPr lang="en-US" altLang="zh-CN">
                <a:solidFill>
                  <a:schemeClr val="tx1"/>
                </a:solidFill>
              </a:rPr>
              <a:t>n</a:t>
            </a:r>
            <a:r>
              <a:rPr lang="zh-CN" altLang="en-US">
                <a:solidFill>
                  <a:schemeClr val="tx1"/>
                </a:solidFill>
              </a:rPr>
              <a:t> 个的正整数放到数组 A 里，现在要求一个新的数组 </a:t>
            </a:r>
            <a:r>
              <a:rPr lang="en-US" altLang="zh-CN">
                <a:solidFill>
                  <a:schemeClr val="tx1"/>
                </a:solidFill>
              </a:rPr>
              <a:t>sum</a:t>
            </a:r>
            <a:r>
              <a:rPr lang="zh-CN" altLang="en-US">
                <a:solidFill>
                  <a:schemeClr val="tx1"/>
                </a:solidFill>
              </a:rPr>
              <a:t>，新数组的第 i 个数 </a:t>
            </a:r>
            <a:r>
              <a:rPr lang="en-US" altLang="zh-CN">
                <a:solidFill>
                  <a:schemeClr val="tx1"/>
                </a:solidFill>
              </a:rPr>
              <a:t>sum</a:t>
            </a:r>
            <a:r>
              <a:rPr lang="zh-CN" altLang="en-US">
                <a:solidFill>
                  <a:schemeClr val="tx1"/>
                </a:solidFill>
              </a:rPr>
              <a:t>[i] 是原数组 A 第 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 到第 i 个数的和。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zh-CN" altLang="en-US">
                <a:solidFill>
                  <a:srgbClr val="FF0000"/>
                </a:solidFill>
              </a:rPr>
              <a:t>二维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zh-CN" altLang="en-US">
                <a:sym typeface="+mn-ea"/>
              </a:rPr>
              <a:t>有 </a:t>
            </a:r>
            <a:r>
              <a:rPr lang="en-US" altLang="zh-CN">
                <a:sym typeface="+mn-ea"/>
              </a:rPr>
              <a:t>n*m</a:t>
            </a:r>
            <a:r>
              <a:rPr lang="zh-CN" altLang="en-US">
                <a:sym typeface="+mn-ea"/>
              </a:rPr>
              <a:t> 个的正整数放到</a:t>
            </a:r>
            <a:r>
              <a:rPr lang="zh-CN" altLang="en-US">
                <a:solidFill>
                  <a:schemeClr val="tx1"/>
                </a:solidFill>
              </a:rPr>
              <a:t>二维数组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中</a:t>
            </a:r>
            <a:r>
              <a:rPr lang="en-US" altLang="zh-CN">
                <a:solidFill>
                  <a:schemeClr val="tx1"/>
                </a:solidFill>
              </a:rPr>
              <a:t>,</a:t>
            </a:r>
            <a:r>
              <a:rPr lang="zh-CN" altLang="en-US">
                <a:sym typeface="+mn-ea"/>
              </a:rPr>
              <a:t>现在要求一个新的二维数组数组 </a:t>
            </a:r>
            <a:r>
              <a:rPr lang="en-US" altLang="zh-CN">
                <a:sym typeface="+mn-ea"/>
              </a:rPr>
              <a:t>sum</a:t>
            </a:r>
            <a:r>
              <a:rPr lang="zh-CN" altLang="en-US">
                <a:sym typeface="+mn-ea"/>
              </a:rPr>
              <a:t>，新数组 </a:t>
            </a:r>
            <a:r>
              <a:rPr lang="en-US" altLang="zh-CN">
                <a:sym typeface="+mn-ea"/>
              </a:rPr>
              <a:t>sum</a:t>
            </a:r>
            <a:r>
              <a:rPr lang="zh-CN" altLang="en-US">
                <a:sym typeface="+mn-ea"/>
              </a:rPr>
              <a:t>[i]</a:t>
            </a:r>
            <a:r>
              <a:rPr lang="en-US" altLang="zh-CN">
                <a:sym typeface="+mn-ea"/>
              </a:rPr>
              <a:t>[j]</a:t>
            </a:r>
            <a:r>
              <a:rPr lang="zh-CN" altLang="en-US">
                <a:sym typeface="+mn-ea"/>
              </a:rPr>
              <a:t>是原数组 A</a:t>
            </a:r>
            <a:r>
              <a:rPr lang="en-US" altLang="zh-CN">
                <a:sym typeface="+mn-ea"/>
              </a:rPr>
              <a:t>[1][1]</a:t>
            </a:r>
            <a:r>
              <a:rPr lang="zh-CN" altLang="en-US">
                <a:sym typeface="+mn-ea"/>
              </a:rPr>
              <a:t> 到</a:t>
            </a:r>
            <a:r>
              <a:rPr lang="en-US" altLang="zh-CN">
                <a:sym typeface="+mn-ea"/>
              </a:rPr>
              <a:t>A[i][j]</a:t>
            </a:r>
            <a:r>
              <a:rPr lang="zh-CN" altLang="en-US">
                <a:sym typeface="+mn-ea"/>
              </a:rPr>
              <a:t>的和。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矩形范围</a:t>
            </a:r>
            <a:r>
              <a:rPr lang="en-US" altLang="zh-CN">
                <a:sym typeface="+mn-ea"/>
              </a:rPr>
              <a:t>)</a:t>
            </a:r>
            <a:endParaRPr lang="en-US" altLang="zh-CN">
              <a:sym typeface="+mn-ea"/>
            </a:endParaRPr>
          </a:p>
          <a:p>
            <a:pPr marL="457200" lvl="1" indent="0">
              <a:buNone/>
            </a:pPr>
            <a:endParaRPr lang="en-US" altLang="zh-CN">
              <a:sym typeface="+mn-ea"/>
            </a:endParaRPr>
          </a:p>
          <a:p>
            <a:pPr marL="457200" lvl="1" indent="0">
              <a:buNone/>
            </a:pPr>
            <a:endParaRPr lang="en-US" altLang="zh-CN">
              <a:sym typeface="+mn-ea"/>
            </a:endParaRPr>
          </a:p>
          <a:p>
            <a:pPr marL="457200" lvl="1" indent="0">
              <a:buNone/>
            </a:pPr>
            <a:endParaRPr lang="en-US" altLang="zh-CN">
              <a:sym typeface="+mn-ea"/>
            </a:endParaRPr>
          </a:p>
          <a:p>
            <a:pPr marL="457200" lvl="1" indent="0">
              <a:buNone/>
            </a:pPr>
            <a:endParaRPr lang="en-US" altLang="zh-CN">
              <a:sym typeface="+mn-ea"/>
            </a:endParaRPr>
          </a:p>
          <a:p>
            <a:pPr marL="0" lv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多维前缀和的普通求解方法几乎都是基于</a:t>
            </a:r>
            <a:r>
              <a:rPr lang="en-US" altLang="zh-CN">
                <a:solidFill>
                  <a:srgbClr val="FF0000"/>
                </a:solidFill>
              </a:rPr>
              <a:t>容斥原理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endParaRPr lang="zh-CN" altLang="en-US">
              <a:solidFill>
                <a:srgbClr val="FF0000"/>
              </a:solidFill>
            </a:endParaRPr>
          </a:p>
          <a:p>
            <a:pPr marL="0" lv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在计数时，必须注意没有重复，没有遗漏。为了使重叠部分不被重复计算，人们研究出一种计数方法，这种方法的基本思想是：先不考虑重叠的情况，把包含于某内容中的所有对象的数目先计算出来，然后再把计数时重复计算的数目排斥出去，使得计算的结果既无遗漏又无重复，这种计数的方法称为容斥原理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14245" y="962025"/>
            <a:ext cx="7762875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00910" y="626110"/>
            <a:ext cx="6606540" cy="798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前缀和一般是用来进行数组的预处理</a:t>
            </a:r>
            <a:r>
              <a:rPr lang="en-US" altLang="zh-CN"/>
              <a:t>，</a:t>
            </a:r>
            <a:r>
              <a:rPr lang="zh-CN" altLang="en-US"/>
              <a:t>提高后续操作效率的</a:t>
            </a:r>
            <a:r>
              <a:rPr lang="en-US" altLang="zh-CN"/>
              <a:t>，</a:t>
            </a:r>
            <a:r>
              <a:rPr lang="zh-CN" altLang="en-US"/>
              <a:t>多用于求区间和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https://www.luogu.com.cn/problem/B3612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https://www.luogu.com.cn/problem/B3612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8333105" cy="4855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边读入边求前缀和</a:t>
            </a:r>
            <a:r>
              <a:rPr lang="en-US" altLang="zh-CN">
                <a:solidFill>
                  <a:schemeClr val="tx1"/>
                </a:solidFill>
              </a:rPr>
              <a:t>S[i]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chemeClr val="tx1"/>
                </a:solidFill>
              </a:rPr>
              <a:t>2.[l,r]</a:t>
            </a:r>
            <a:r>
              <a:rPr lang="zh-CN" altLang="en-US">
                <a:solidFill>
                  <a:schemeClr val="tx1"/>
                </a:solidFill>
              </a:rPr>
              <a:t>的区间和：</a:t>
            </a:r>
            <a:r>
              <a:rPr lang="en-US" altLang="zh-CN">
                <a:solidFill>
                  <a:schemeClr val="tx1"/>
                </a:solidFill>
              </a:rPr>
              <a:t>S[r]-S[</a:t>
            </a:r>
            <a:r>
              <a:rPr lang="en-US" altLang="zh-CN">
                <a:solidFill>
                  <a:srgbClr val="FF0000"/>
                </a:solidFill>
              </a:rPr>
              <a:t>l-1</a:t>
            </a:r>
            <a:r>
              <a:rPr lang="en-US" altLang="zh-CN">
                <a:solidFill>
                  <a:schemeClr val="tx1"/>
                </a:solidFill>
              </a:rPr>
              <a:t>]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https://www.luogu.com.cn/problem/P1387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https://www.luogu.com.cn/problem/P1387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r>
              <a:rPr lang="zh-CN" altLang="en-US"/>
              <a:t>先枚举正方形左上角（i，j），然后枚举边长l，判断正方形内的元素和是否为正方形面积（元素不是0就是1嘛），如果是则ans=max（l，ans）。时间复杂度</a:t>
            </a:r>
            <a:r>
              <a:rPr lang="en-US" altLang="zh-CN"/>
              <a:t>O</a:t>
            </a:r>
            <a:r>
              <a:rPr lang="zh-CN" altLang="en-US"/>
              <a:t>（nml^3）;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考虑优化：</a:t>
            </a:r>
            <a:endParaRPr lang="zh-CN" altLang="en-US"/>
          </a:p>
          <a:p>
            <a:r>
              <a:rPr lang="zh-CN" altLang="en-US"/>
              <a:t>求矩阵内元素和当然可以使用二维前缀和啦。 也就是：sum为前缀和数组，a为矩阵元素。预处理：sum[i][j]=sum[i][j-1]+sum[i-1][j]-sum[i-1][j-1]+a[i][j]; 按i，j顺着推一遍就行了。求（lx,ly）到（rx,ry)这一矩阵中的元素和：sum[rx][ry]-sum[rx][ly-1]-sum[lx-1][ry]+sum[lx-1][ly-1];然后就可以把</a:t>
            </a:r>
            <a:r>
              <a:rPr lang="en-US" altLang="zh-CN"/>
              <a:t>O</a:t>
            </a:r>
            <a:r>
              <a:rPr lang="zh-CN" altLang="en-US"/>
              <a:t>（nml^3）优化到o（nml）。然后就可以过啦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89150" y="355600"/>
            <a:ext cx="7058660" cy="541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差分是一种和前缀和相对的策略，可以当做是求和的逆运算。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23895" y="1007110"/>
            <a:ext cx="4152900" cy="13893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66975" y="3211830"/>
            <a:ext cx="6753225" cy="2266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79320" y="2113915"/>
            <a:ext cx="6878320" cy="988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差分数组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可以维护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多次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对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序列的一个区间加上一个数，并在最后询问某一位置的数或是多次询问某一</a:t>
            </a:r>
            <a:r>
              <a:rPr lang="zh-CN" altLang="en-US">
                <a:sym typeface="+mn-ea"/>
              </a:rPr>
              <a:t>位置的数。注意修改操作一定要在查询操作之前。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200910" y="2592070"/>
            <a:ext cx="6606540" cy="2797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差分多用于区间修改</a:t>
            </a:r>
            <a:r>
              <a:rPr lang="en-US" altLang="zh-CN"/>
              <a:t>+</a:t>
            </a:r>
            <a:r>
              <a:rPr lang="zh-CN" altLang="en-US"/>
              <a:t>单点查询问题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有原数组</a:t>
            </a:r>
            <a:r>
              <a:rPr lang="en-US" altLang="zh-CN"/>
              <a:t>a[]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差分数组</a:t>
            </a:r>
            <a:r>
              <a:rPr lang="en-US" altLang="zh-CN"/>
              <a:t>b[]：</a:t>
            </a:r>
            <a:r>
              <a:rPr lang="zh-CN" altLang="en-US"/>
              <a:t>初始时由</a:t>
            </a:r>
            <a:r>
              <a:rPr lang="en-US" altLang="zh-CN"/>
              <a:t>a[]</a:t>
            </a:r>
            <a:r>
              <a:rPr lang="zh-CN" altLang="en-US"/>
              <a:t>通过差分计算得出</a:t>
            </a:r>
            <a:r>
              <a:rPr lang="en-US" altLang="zh-CN"/>
              <a:t>，</a:t>
            </a:r>
            <a:r>
              <a:rPr lang="zh-CN" altLang="en-US"/>
              <a:t>在</a:t>
            </a:r>
            <a:r>
              <a:rPr lang="en-US" altLang="zh-CN"/>
              <a:t>b[]</a:t>
            </a:r>
            <a:r>
              <a:rPr lang="zh-CN" altLang="en-US"/>
              <a:t>上进行修改操作</a:t>
            </a:r>
            <a:r>
              <a:rPr lang="en-US" altLang="zh-CN"/>
              <a:t>，</a:t>
            </a:r>
            <a:r>
              <a:rPr lang="zh-CN" altLang="en-US"/>
              <a:t>最后对</a:t>
            </a:r>
            <a:r>
              <a:rPr lang="en-US" altLang="zh-CN"/>
              <a:t>b[]</a:t>
            </a:r>
            <a:r>
              <a:rPr lang="zh-CN" altLang="en-US"/>
              <a:t>求前缀和</a:t>
            </a:r>
            <a:r>
              <a:rPr lang="en-US" altLang="zh-CN"/>
              <a:t> </a:t>
            </a:r>
            <a:r>
              <a:rPr lang="zh-CN" altLang="en-US"/>
              <a:t>可得到修改后的</a:t>
            </a:r>
            <a:r>
              <a:rPr lang="en-US" altLang="zh-CN"/>
              <a:t>a[]。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差分标记数组</a:t>
            </a:r>
            <a:r>
              <a:rPr lang="en-US" altLang="zh-CN"/>
              <a:t>b[]：</a:t>
            </a:r>
            <a:r>
              <a:rPr lang="zh-CN" altLang="en-US"/>
              <a:t>初始时</a:t>
            </a:r>
            <a:r>
              <a:rPr lang="en-US" altLang="zh-CN"/>
              <a:t>b[]</a:t>
            </a:r>
            <a:r>
              <a:rPr lang="zh-CN" altLang="en-US"/>
              <a:t>的值全部为</a:t>
            </a:r>
            <a:r>
              <a:rPr lang="en-US" altLang="zh-CN"/>
              <a:t>0，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b[]</a:t>
            </a:r>
            <a:r>
              <a:rPr lang="zh-CN" altLang="en-US">
                <a:sym typeface="+mn-ea"/>
              </a:rPr>
              <a:t>上进行修改操作</a:t>
            </a:r>
            <a:r>
              <a:rPr lang="en-US" altLang="zh-CN">
                <a:sym typeface="+mn-ea"/>
              </a:rPr>
              <a:t>，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然后对</a:t>
            </a:r>
            <a:r>
              <a:rPr lang="en-US" altLang="zh-CN">
                <a:sym typeface="+mn-ea"/>
              </a:rPr>
              <a:t>b[]</a:t>
            </a:r>
            <a:r>
              <a:rPr lang="zh-CN" altLang="en-US">
                <a:sym typeface="+mn-ea"/>
              </a:rPr>
              <a:t>求前缀和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得到</a:t>
            </a:r>
            <a:r>
              <a:rPr lang="en-US" altLang="zh-CN">
                <a:sym typeface="+mn-ea"/>
              </a:rPr>
              <a:t>sum[]，sum[i]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a[i]</a:t>
            </a:r>
            <a:r>
              <a:rPr lang="zh-CN" altLang="en-US">
                <a:sym typeface="+mn-ea"/>
              </a:rPr>
              <a:t>的修改量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在原</a:t>
            </a:r>
            <a:r>
              <a:rPr lang="en-US" altLang="zh-CN">
                <a:sym typeface="+mn-ea"/>
              </a:rPr>
              <a:t>a[]</a:t>
            </a:r>
            <a:r>
              <a:rPr lang="zh-CN" altLang="en-US">
                <a:sym typeface="+mn-ea"/>
              </a:rPr>
              <a:t>上再加上</a:t>
            </a:r>
            <a:r>
              <a:rPr lang="en-US" altLang="zh-CN">
                <a:sym typeface="+mn-ea"/>
              </a:rPr>
              <a:t>sum[]，</a:t>
            </a:r>
            <a:r>
              <a:rPr lang="zh-CN" altLang="en-US">
                <a:sym typeface="+mn-ea"/>
              </a:rPr>
              <a:t>才可得到修改后的</a:t>
            </a:r>
            <a:r>
              <a:rPr lang="en-US" altLang="zh-CN">
                <a:sym typeface="+mn-ea"/>
              </a:rPr>
              <a:t>a[]。</a:t>
            </a:r>
            <a:endParaRPr lang="zh-CN" altLang="en-US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0910" y="626110"/>
            <a:ext cx="6606540" cy="798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前缀和一般是用来进行数组的预处理</a:t>
            </a:r>
            <a:r>
              <a:rPr lang="en-US" altLang="zh-CN"/>
              <a:t>，</a:t>
            </a:r>
            <a:r>
              <a:rPr lang="zh-CN" altLang="en-US"/>
              <a:t>提高后续操作效率的</a:t>
            </a:r>
            <a:r>
              <a:rPr lang="en-US" altLang="zh-CN"/>
              <a:t>，</a:t>
            </a:r>
            <a:r>
              <a:rPr lang="zh-CN" altLang="en-US"/>
              <a:t>多用于求区间和</a:t>
            </a:r>
            <a:r>
              <a:rPr lang="en-US" altLang="zh-CN"/>
              <a:t>。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321050" y="5695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https://www.luogu.com.cn/problem/P3397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https://www.luogu.com.cn/problem/P3397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783445" cy="3762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</a:t>
            </a:r>
            <a:r>
              <a:rPr lang="en-US" altLang="zh-CN"/>
              <a:t>: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二维差分进行区间</a:t>
            </a:r>
            <a:r>
              <a:rPr lang="zh-CN" altLang="en-US"/>
              <a:t>修改：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设差分标记</a:t>
            </a:r>
            <a:r>
              <a:rPr lang="zh-CN" altLang="en-US"/>
              <a:t>数组b[i][j]。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这样每次修改b[i][j]相当于对任意i≤x,j≤y的a[</a:t>
            </a:r>
            <a:r>
              <a:rPr lang="en-US" altLang="zh-CN"/>
              <a:t>i</a:t>
            </a:r>
            <a:r>
              <a:rPr lang="zh-CN" altLang="en-US"/>
              <a:t>][</a:t>
            </a:r>
            <a:r>
              <a:rPr lang="en-US" altLang="zh-CN"/>
              <a:t>j</a:t>
            </a:r>
            <a:r>
              <a:rPr lang="zh-CN" altLang="en-US"/>
              <a:t>]做同样的修改。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然后每次</a:t>
            </a:r>
            <a:r>
              <a:rPr lang="zh-CN" altLang="en-US"/>
              <a:t>差分修改就直接++b[x1][y1],--b[x2+1][y1],--b[x1][y2+1],++b[x2+1][y2+1]即可。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最后再直接a[i][j]=a[i-1][j]+a[i][j-1]-a[i-1][j-1]+b[i][j]还原出原序列即可。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9382125" cy="4819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下节课课上例题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：LCR008    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：713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：2379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MjNhN2QzNzIxYTMxZDA2OTMyYTljMDA5MmRhYmMwNjcifQ=="/>
  <p:tag name="KSO_WPP_MARK_KEY" val="9ae3f547-fd9d-4d08-b872-97b88e8c007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1542</Words>
  <Application>WPS 演示</Application>
  <PresentationFormat>宽屏</PresentationFormat>
  <Paragraphs>76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Apple Color Emoji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15</cp:revision>
  <dcterms:created xsi:type="dcterms:W3CDTF">2025-02-15T08:35:16Z</dcterms:created>
  <dcterms:modified xsi:type="dcterms:W3CDTF">2025-02-15T08:35:16Z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5A0B1E4891714FCBBF294A24A1908346_12</vt:lpwstr>
  </property>
  <property fmtid="{D5CDD505-2E9C-101B-9397-08002B2CF9AE}" pid="3" name="KSOProductBuildVer">
    <vt:lpwstr>2052-6.15.2.8936</vt:lpwstr>
  </property>
</Properties>
</file>