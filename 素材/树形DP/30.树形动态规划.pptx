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57" r:id="rId3"/>
    <p:sldId id="431" r:id="rId4"/>
    <p:sldId id="432" r:id="rId5"/>
    <p:sldId id="433" r:id="rId6"/>
    <p:sldId id="434" r:id="rId7"/>
    <p:sldId id="435" r:id="rId8"/>
    <p:sldId id="415" r:id="rId9"/>
    <p:sldId id="438" r:id="rId10"/>
    <p:sldId id="440" r:id="rId11"/>
    <p:sldId id="441" r:id="rId12"/>
    <p:sldId id="442" r:id="rId13"/>
    <p:sldId id="443" r:id="rId14"/>
    <p:sldId id="444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7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树形DP准确的说是一种DP的思想，将DP建立在树状结构的基础上。整体的思路大致就是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用树形的结构存储数据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ym typeface="+mn-ea"/>
              </a:rPr>
              <a:t>然后在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树上进行状态转移</a:t>
            </a:r>
            <a:r>
              <a:rPr lang="en-US" altLang="zh-CN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树形DP准确的说是一种DP的思想，将DP建立在树状结构的基础上。整体的思路大致就是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用树形的结构存储数据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ym typeface="+mn-ea"/>
              </a:rPr>
              <a:t>然后在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树上进行状态转移</a:t>
            </a:r>
            <a:r>
              <a:rPr lang="en-US" altLang="zh-CN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我们知道，动态规划本质就是记忆化搜索（备忘录写法），是基于递归的。而树也是基于递归定义的，所以树形结构天然适合用于</a:t>
            </a:r>
            <a:r>
              <a:rPr lang="zh-CN" altLang="en-US">
                <a:sym typeface="+mn-ea"/>
              </a:rPr>
              <a:t>动态规划。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树形DP准确的说是一种DP的思想，将DP建立在树状结构的基础上。整体的思路大致就是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用树形的结构存储数据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ym typeface="+mn-ea"/>
              </a:rPr>
              <a:t>然后在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树上进行状态转移</a:t>
            </a:r>
            <a:r>
              <a:rPr lang="en-US" altLang="zh-CN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我们知道，动态规划本质就是记忆化搜索（备忘录写法），是基于递归的。而树也是基于递归定义的，所以树形结构天然适合用于</a:t>
            </a:r>
            <a:r>
              <a:rPr lang="zh-CN" altLang="en-US">
                <a:sym typeface="+mn-ea"/>
              </a:rPr>
              <a:t>动态规划。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在树形</a:t>
            </a:r>
            <a:r>
              <a:rPr lang="en-US" altLang="zh-CN">
                <a:sym typeface="+mn-ea"/>
              </a:rPr>
              <a:t>DP</a:t>
            </a:r>
            <a:r>
              <a:rPr lang="zh-CN" altLang="en-US">
                <a:sym typeface="+mn-ea"/>
              </a:rPr>
              <a:t>中，通常把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一个结点或者一棵子树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看成一个状态，则状态</a:t>
            </a:r>
            <a:r>
              <a:rPr lang="zh-CN" altLang="en-US">
                <a:sym typeface="+mn-ea"/>
              </a:rPr>
              <a:t>转移</a:t>
            </a:r>
            <a:r>
              <a:rPr lang="zh-CN" altLang="en-US">
                <a:sym typeface="+mn-ea"/>
              </a:rPr>
              <a:t>发生在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父子结点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兄弟结点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树及其子树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之间。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树形DP准确的说是一种DP的思想，将DP建立在树状结构的基础上。整体的思路大致就是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用树形的结构存储数据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ym typeface="+mn-ea"/>
              </a:rPr>
              <a:t>然后在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树上进行状态转移</a:t>
            </a:r>
            <a:r>
              <a:rPr lang="en-US" altLang="zh-CN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我们知道，动态规划本质就是记忆化搜索（备忘录写法），是基于递归的。而树也是基于递归定义的，所以树形结构天然适合用于</a:t>
            </a:r>
            <a:r>
              <a:rPr lang="zh-CN" altLang="en-US">
                <a:sym typeface="+mn-ea"/>
              </a:rPr>
              <a:t>动态规划。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在树形</a:t>
            </a:r>
            <a:r>
              <a:rPr lang="en-US" altLang="zh-CN">
                <a:sym typeface="+mn-ea"/>
              </a:rPr>
              <a:t>DP</a:t>
            </a:r>
            <a:r>
              <a:rPr lang="zh-CN" altLang="en-US">
                <a:sym typeface="+mn-ea"/>
              </a:rPr>
              <a:t>中，通常把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一个结点或者一棵子树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看成一个状态，则状态</a:t>
            </a:r>
            <a:r>
              <a:rPr lang="zh-CN" altLang="en-US">
                <a:sym typeface="+mn-ea"/>
              </a:rPr>
              <a:t>转移</a:t>
            </a:r>
            <a:r>
              <a:rPr lang="zh-CN" altLang="en-US">
                <a:sym typeface="+mn-ea"/>
              </a:rPr>
              <a:t>发生在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父子结点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兄弟结点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树及其子树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之间。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树形DP的关键和实现方法是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DFS</a:t>
            </a:r>
            <a:r>
              <a:rPr lang="zh-CN" altLang="en-US">
                <a:sym typeface="+mn-ea"/>
              </a:rPr>
              <a:t>，即树形</a:t>
            </a:r>
            <a:r>
              <a:rPr lang="en-US" altLang="zh-CN">
                <a:sym typeface="+mn-ea"/>
              </a:rPr>
              <a:t>DP</a:t>
            </a:r>
            <a:r>
              <a:rPr lang="zh-CN" altLang="en-US">
                <a:sym typeface="+mn-ea"/>
              </a:rPr>
              <a:t>题目的代码通常采用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备忘录写法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一般有两</a:t>
            </a:r>
            <a:r>
              <a:rPr lang="zh-CN" altLang="en-US">
                <a:sym typeface="+mn-ea"/>
              </a:rPr>
              <a:t>种搜索</a:t>
            </a:r>
            <a:r>
              <a:rPr lang="zh-CN" altLang="en-US">
                <a:sym typeface="+mn-ea"/>
              </a:rPr>
              <a:t>方式：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）叶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&gt;根：先从根节点向下</a:t>
            </a:r>
            <a:r>
              <a:rPr lang="zh-CN" altLang="en-US">
                <a:sym typeface="+mn-ea"/>
              </a:rPr>
              <a:t>递归，在回溯的时候从叶子节点往上更新信息。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）根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&gt;叶：往往是在从叶往根dfs一遍之后（相当于预处理），再重新往下获取最后的答案，即根据题目的要求需要再更新一下各结点的状态</a:t>
            </a:r>
            <a:r>
              <a:rPr lang="zh-CN" altLang="en-US">
                <a:sym typeface="+mn-ea"/>
              </a:rPr>
              <a:t>值。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不管是 从叶－&gt;根 还是 从 根 - &gt;叶，两者都是根据需要</a:t>
            </a:r>
            <a:r>
              <a:rPr lang="zh-CN" altLang="en-US">
                <a:sym typeface="+mn-ea"/>
              </a:rPr>
              <a:t>选用，没有好坏高低之分。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树形DP准确的说是一种DP的思想，将DP建立在树状结构的基础上。整体的思路大致就是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用树形的结构存储数据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>
                <a:sym typeface="+mn-ea"/>
              </a:rPr>
              <a:t>然后在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树上进行状态转移</a:t>
            </a:r>
            <a:r>
              <a:rPr lang="en-US" altLang="zh-CN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我们知道，动态规划本质就是记忆化搜索（备忘录写法），是基于递归的。而树也是基于递归定义的，所以树形结构天然适合用于</a:t>
            </a:r>
            <a:r>
              <a:rPr lang="zh-CN" altLang="en-US">
                <a:sym typeface="+mn-ea"/>
              </a:rPr>
              <a:t>动态规划。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在树形</a:t>
            </a:r>
            <a:r>
              <a:rPr lang="en-US" altLang="zh-CN">
                <a:sym typeface="+mn-ea"/>
              </a:rPr>
              <a:t>DP</a:t>
            </a:r>
            <a:r>
              <a:rPr lang="zh-CN" altLang="en-US">
                <a:sym typeface="+mn-ea"/>
              </a:rPr>
              <a:t>中，通常把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一个结点或者一棵子树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看成一个状态，则状态</a:t>
            </a:r>
            <a:r>
              <a:rPr lang="zh-CN" altLang="en-US">
                <a:sym typeface="+mn-ea"/>
              </a:rPr>
              <a:t>转移</a:t>
            </a:r>
            <a:r>
              <a:rPr lang="zh-CN" altLang="en-US">
                <a:sym typeface="+mn-ea"/>
              </a:rPr>
              <a:t>发生在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父子结点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兄弟结点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树及其子树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之间。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树形DP的关键和实现方法是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DFS</a:t>
            </a:r>
            <a:r>
              <a:rPr lang="zh-CN" altLang="en-US">
                <a:sym typeface="+mn-ea"/>
              </a:rPr>
              <a:t>，即树形</a:t>
            </a:r>
            <a:r>
              <a:rPr lang="en-US" altLang="zh-CN">
                <a:sym typeface="+mn-ea"/>
              </a:rPr>
              <a:t>DP</a:t>
            </a:r>
            <a:r>
              <a:rPr lang="zh-CN" altLang="en-US">
                <a:sym typeface="+mn-ea"/>
              </a:rPr>
              <a:t>题目的代码通常采用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备忘录写法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一般有两</a:t>
            </a:r>
            <a:r>
              <a:rPr lang="zh-CN" altLang="en-US">
                <a:sym typeface="+mn-ea"/>
              </a:rPr>
              <a:t>种搜索</a:t>
            </a:r>
            <a:r>
              <a:rPr lang="zh-CN" altLang="en-US">
                <a:sym typeface="+mn-ea"/>
              </a:rPr>
              <a:t>方式：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）叶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&gt;根：先从根节点向下</a:t>
            </a:r>
            <a:r>
              <a:rPr lang="zh-CN" altLang="en-US">
                <a:sym typeface="+mn-ea"/>
              </a:rPr>
              <a:t>递归，在回溯的时候从叶子节点往上更新信息。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）根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&gt;叶：往往是在从叶往根dfs一遍之后（相当于预处理），再重新往下获取最后的答案，即根据题目的要求需要再更新一下各结点的状态</a:t>
            </a:r>
            <a:r>
              <a:rPr lang="zh-CN" altLang="en-US">
                <a:sym typeface="+mn-ea"/>
              </a:rPr>
              <a:t>值。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不管是 从叶－&gt;根 还是 从 根 - &gt;叶，两者都是根据需要</a:t>
            </a:r>
            <a:r>
              <a:rPr lang="zh-CN" altLang="en-US">
                <a:sym typeface="+mn-ea"/>
              </a:rPr>
              <a:t>选用，没有好坏高低之分。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如何存树（存储结构）？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树其实是一种特殊的图，一般选用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链式前向星</a:t>
            </a:r>
            <a:r>
              <a:rPr lang="zh-CN" altLang="en-US">
                <a:sym typeface="+mn-ea"/>
              </a:rPr>
              <a:t>存储。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en-US" altLang="zh-CN">
                <a:sym typeface="+mn-ea"/>
              </a:rPr>
              <a:t>树形DP准确的说是一种DP的思想</a:t>
            </a:r>
            <a:r>
              <a:rPr lang="zh-CN" altLang="en-US">
                <a:sym typeface="+mn-ea"/>
              </a:rPr>
              <a:t>，其包含的题目类型非常繁杂：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1.选择节点类</a:t>
            </a:r>
            <a:r>
              <a:rPr lang="zh-CN" altLang="en-US">
                <a:sym typeface="+mn-ea"/>
              </a:rPr>
              <a:t>问题（最大独立集</a:t>
            </a:r>
            <a:r>
              <a:rPr lang="zh-CN" altLang="en-US">
                <a:sym typeface="+mn-ea"/>
              </a:rPr>
              <a:t>问题）</a:t>
            </a:r>
            <a:endParaRPr lang="zh-CN" altLang="en-US"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相邻的节点(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父子结点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)是不能同时存在的，要求取最大最小值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树上背包问题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就是背包加上条件：一个物品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只有选择了它的主件（根节点）才能选择该物品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。。。。等等等等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万变不离其宗：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确定结点所代表的状态：一般来说，状态可以定义为以当前节点为根的子树的某种性质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确定状态的转移关系：父子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兄弟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备忘录写法写代码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做到后面，会发现树形DP的老套路都也就那么多，难的还是怎么能想出转移方程，各种DP做到最后都是这样！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https://www.luogu.com.cn/problem/P1352</a:t>
            </a:r>
            <a:endParaRPr>
              <a:sym typeface="+mn-ea"/>
            </a:endParaRPr>
          </a:p>
          <a:p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5065" y="1220470"/>
            <a:ext cx="10053320" cy="504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https://www.luogu.com.cn/problem/P1352</a:t>
            </a:r>
            <a:endParaRPr>
              <a:sym typeface="+mn-ea"/>
            </a:endParaRPr>
          </a:p>
          <a:p>
            <a:r>
              <a:rPr lang="zh-CN" altLang="en-US">
                <a:sym typeface="+mn-ea"/>
              </a:rPr>
              <a:t>题意：树中一个结点代表一个人。父结点是子结点的顶头上司。快乐指数看做结点的权值。 父子结点不能同时选，选取哪些结点使得权值和最大。</a:t>
            </a:r>
            <a:endParaRPr lang="zh-CN" altLang="en-US"/>
          </a:p>
          <a:p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5065" y="1463040"/>
            <a:ext cx="10053320" cy="504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思路：用</a:t>
            </a:r>
            <a:r>
              <a:rPr lang="en-US" altLang="zh-CN"/>
              <a:t>vector</a:t>
            </a:r>
            <a:r>
              <a:rPr lang="zh-CN" altLang="en-US"/>
              <a:t>模拟</a:t>
            </a:r>
            <a:r>
              <a:rPr lang="zh-CN" altLang="en-US"/>
              <a:t>邻接表存</a:t>
            </a:r>
            <a:r>
              <a:rPr lang="zh-CN" altLang="en-US"/>
              <a:t>树。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考虑一个结点：对于最终选取的结点集合，一个结点只有两种状态</a:t>
            </a:r>
            <a:r>
              <a:rPr lang="en-US" altLang="zh-CN"/>
              <a:t>: </a:t>
            </a:r>
            <a:r>
              <a:rPr lang="zh-CN" altLang="en-US"/>
              <a:t>在集合中（去参加舞会），不在集合重（不去参加</a:t>
            </a:r>
            <a:r>
              <a:rPr lang="zh-CN" altLang="en-US"/>
              <a:t>舞会）。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可以定义</a:t>
            </a:r>
            <a:r>
              <a:rPr lang="zh-CN" altLang="en-US"/>
              <a:t>状态：</a:t>
            </a:r>
            <a:endParaRPr lang="zh-CN" altLang="en-US"/>
          </a:p>
          <a:p>
            <a:r>
              <a:rPr lang="zh-CN" altLang="en-US"/>
              <a:t>f[x][0]表示</a:t>
            </a:r>
            <a:r>
              <a:rPr lang="en-US" altLang="zh-CN">
                <a:solidFill>
                  <a:srgbClr val="FF0000"/>
                </a:solidFill>
              </a:rPr>
              <a:t>x</a:t>
            </a:r>
            <a:r>
              <a:rPr lang="zh-CN" altLang="en-US">
                <a:solidFill>
                  <a:srgbClr val="FF0000"/>
                </a:solidFill>
              </a:rPr>
              <a:t>不参加</a:t>
            </a:r>
            <a:r>
              <a:rPr lang="zh-CN" altLang="en-US"/>
              <a:t>舞会时</a:t>
            </a:r>
            <a:r>
              <a:rPr lang="en-US" altLang="zh-CN"/>
              <a:t>,</a:t>
            </a:r>
            <a:r>
              <a:rPr lang="zh-CN" altLang="en-US">
                <a:sym typeface="+mn-ea"/>
              </a:rPr>
              <a:t>以x为根的子树的</a:t>
            </a:r>
            <a:r>
              <a:rPr lang="zh-CN" altLang="en-US"/>
              <a:t>最大快乐值。</a:t>
            </a:r>
            <a:endParaRPr lang="zh-CN" altLang="en-US"/>
          </a:p>
          <a:p>
            <a:r>
              <a:rPr lang="zh-CN" altLang="en-US">
                <a:sym typeface="+mn-ea"/>
              </a:rPr>
              <a:t>f[x][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]表示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x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参加</a:t>
            </a:r>
            <a:r>
              <a:rPr lang="zh-CN" altLang="en-US">
                <a:sym typeface="+mn-ea"/>
              </a:rPr>
              <a:t>舞会时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以x为根的子树的</a:t>
            </a:r>
            <a:r>
              <a:rPr lang="zh-CN" altLang="en-US">
                <a:sym typeface="+mn-ea"/>
              </a:rPr>
              <a:t>最大快乐值。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初始状态：每个人都认为只有自己去：</a:t>
            </a:r>
            <a:r>
              <a:rPr lang="zh-CN" altLang="en-US">
                <a:sym typeface="+mn-ea"/>
              </a:rPr>
              <a:t>f[x][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]</a:t>
            </a:r>
            <a:r>
              <a:rPr lang="en-US" altLang="zh-CN">
                <a:sym typeface="+mn-ea"/>
              </a:rPr>
              <a:t>=rx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答</a:t>
            </a:r>
            <a:r>
              <a:rPr lang="zh-CN" altLang="en-US">
                <a:sym typeface="+mn-ea"/>
              </a:rPr>
              <a:t>案：</a:t>
            </a:r>
            <a:r>
              <a:rPr lang="zh-CN" altLang="en-US"/>
              <a:t>先找到唯一的树根root 则ans=max(f[root][0],f[root][1])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状态转移</a:t>
            </a:r>
            <a:r>
              <a:rPr lang="zh-CN" altLang="en-US"/>
              <a:t>方程：</a:t>
            </a:r>
            <a:endParaRPr lang="zh-CN" altLang="en-US"/>
          </a:p>
          <a:p>
            <a:r>
              <a:rPr lang="en-US" altLang="zh-CN"/>
              <a:t>(1)f[x][0]=?  x</a:t>
            </a:r>
            <a:r>
              <a:rPr lang="zh-CN" altLang="en-US"/>
              <a:t>不去，则</a:t>
            </a:r>
            <a:r>
              <a:rPr lang="en-US" altLang="zh-CN"/>
              <a:t>x</a:t>
            </a:r>
            <a:r>
              <a:rPr lang="zh-CN" altLang="en-US"/>
              <a:t>的孩子们都可以选择</a:t>
            </a:r>
            <a:r>
              <a:rPr lang="zh-CN" altLang="en-US">
                <a:solidFill>
                  <a:srgbClr val="FF0000"/>
                </a:solidFill>
              </a:rPr>
              <a:t>去</a:t>
            </a:r>
            <a:r>
              <a:rPr lang="zh-CN" altLang="en-US"/>
              <a:t>或者</a:t>
            </a:r>
            <a:r>
              <a:rPr lang="zh-CN" altLang="en-US">
                <a:solidFill>
                  <a:srgbClr val="FF0000"/>
                </a:solidFill>
              </a:rPr>
              <a:t>不去</a:t>
            </a:r>
            <a:r>
              <a:rPr lang="zh-CN" altLang="en-US">
                <a:solidFill>
                  <a:schemeClr val="tx1"/>
                </a:solidFill>
              </a:rPr>
              <a:t>。设</a:t>
            </a:r>
            <a:r>
              <a:rPr lang="en-US" altLang="zh-CN">
                <a:solidFill>
                  <a:schemeClr val="tx1"/>
                </a:solidFill>
              </a:rPr>
              <a:t>y</a:t>
            </a:r>
            <a:r>
              <a:rPr lang="zh-CN" altLang="en-US">
                <a:solidFill>
                  <a:schemeClr val="tx1"/>
                </a:solidFill>
              </a:rPr>
              <a:t>为</a:t>
            </a:r>
            <a:r>
              <a:rPr lang="en-US" altLang="zh-CN">
                <a:solidFill>
                  <a:schemeClr val="tx1"/>
                </a:solidFill>
              </a:rPr>
              <a:t>x</a:t>
            </a:r>
            <a:r>
              <a:rPr lang="zh-CN" altLang="en-US">
                <a:solidFill>
                  <a:schemeClr val="tx1"/>
                </a:solidFill>
              </a:rPr>
              <a:t>的孩子，则枚举</a:t>
            </a:r>
            <a:r>
              <a:rPr lang="en-US" altLang="zh-CN">
                <a:solidFill>
                  <a:schemeClr val="tx1"/>
                </a:solidFill>
              </a:rPr>
              <a:t>y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f[x][0]+=max(f[y][0],f[y][1])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(2)f[x][1]=? x</a:t>
            </a:r>
            <a:r>
              <a:rPr lang="zh-CN" altLang="en-US">
                <a:solidFill>
                  <a:schemeClr val="tx1"/>
                </a:solidFill>
              </a:rPr>
              <a:t>去，则</a:t>
            </a:r>
            <a:r>
              <a:rPr lang="en-US" altLang="zh-CN">
                <a:solidFill>
                  <a:schemeClr val="tx1"/>
                </a:solidFill>
              </a:rPr>
              <a:t>x</a:t>
            </a:r>
            <a:r>
              <a:rPr lang="zh-CN" altLang="en-US">
                <a:solidFill>
                  <a:schemeClr val="tx1"/>
                </a:solidFill>
              </a:rPr>
              <a:t>的孩子们就不能去，</a:t>
            </a:r>
            <a:r>
              <a:rPr lang="zh-CN" altLang="en-US">
                <a:sym typeface="+mn-ea"/>
              </a:rPr>
              <a:t>设</a:t>
            </a:r>
            <a:r>
              <a:rPr lang="en-US" altLang="zh-CN">
                <a:sym typeface="+mn-ea"/>
              </a:rPr>
              <a:t>y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的孩子，则枚举</a:t>
            </a:r>
            <a:r>
              <a:rPr lang="en-US" altLang="zh-CN">
                <a:sym typeface="+mn-ea"/>
              </a:rPr>
              <a:t>y</a:t>
            </a:r>
            <a:r>
              <a:rPr lang="zh-CN" altLang="en-US">
                <a:sym typeface="+mn-ea"/>
              </a:rPr>
              <a:t>，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ym typeface="+mn-ea"/>
              </a:rPr>
              <a:t>f[x][0]+=f[y][0]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55065" y="1220470"/>
            <a:ext cx="10053320" cy="504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如何确定</a:t>
            </a:r>
            <a:r>
              <a:rPr lang="zh-CN" altLang="en-US"/>
              <a:t>根节点？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没有上司（父亲）的结点，所以我们可以在建树时，去标记每个结点有没有父亲</a:t>
            </a:r>
            <a:r>
              <a:rPr lang="zh-CN" altLang="en-US"/>
              <a:t>结点。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5506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https://www.luogu.com.cn/problem/P2014</a:t>
            </a:r>
            <a:endParaRPr lang="en-US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5065" y="1220470"/>
            <a:ext cx="10053320" cy="504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5506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https://www.luogu.com.cn/problem/P2014</a:t>
            </a:r>
            <a:endParaRPr lang="en-US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5065" y="1220470"/>
            <a:ext cx="10053320" cy="504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分析</a:t>
            </a:r>
            <a:r>
              <a:rPr lang="zh-CN" altLang="en-US"/>
              <a:t>题意：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每门课最多只有一门先修课的特点，与有根树中一个点最多只有一个父亲结点的特点类似。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因此可以想到根据这一性质建树，从而所有课程组成了一个森林的结构。为了方便起见，我们可以新增一门</a:t>
            </a:r>
            <a:r>
              <a:rPr lang="en-US" altLang="zh-CN"/>
              <a:t> 0 </a:t>
            </a:r>
            <a:r>
              <a:rPr lang="zh-CN" altLang="en-US"/>
              <a:t>学分的课程（设这个课程的编号为</a:t>
            </a:r>
            <a:r>
              <a:rPr lang="en-US" altLang="zh-CN"/>
              <a:t> 0</a:t>
            </a:r>
            <a:r>
              <a:rPr lang="zh-CN" altLang="en-US"/>
              <a:t>），作为所有无先修课课程的先修课，这样我们就将森林变成了一棵以</a:t>
            </a:r>
            <a:r>
              <a:rPr lang="en-US" altLang="zh-CN"/>
              <a:t> 0 </a:t>
            </a:r>
            <a:r>
              <a:rPr lang="zh-CN" altLang="en-US"/>
              <a:t>号课程为根的树。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问题转化为了有</a:t>
            </a:r>
            <a:r>
              <a:rPr lang="en-US" altLang="zh-CN"/>
              <a:t>n+1</a:t>
            </a:r>
            <a:r>
              <a:rPr lang="zh-CN" altLang="en-US"/>
              <a:t>个结点</a:t>
            </a:r>
            <a:r>
              <a:rPr lang="en-US" altLang="zh-CN"/>
              <a:t>  </a:t>
            </a:r>
            <a:r>
              <a:rPr lang="zh-CN" altLang="en-US"/>
              <a:t>选</a:t>
            </a:r>
            <a:r>
              <a:rPr lang="en-US" altLang="zh-CN"/>
              <a:t>m+1</a:t>
            </a:r>
            <a:r>
              <a:rPr lang="zh-CN" altLang="en-US"/>
              <a:t>门课程（其中</a:t>
            </a:r>
            <a:r>
              <a:rPr lang="en-US" altLang="zh-CN"/>
              <a:t>0</a:t>
            </a:r>
            <a:r>
              <a:rPr lang="zh-CN" altLang="en-US"/>
              <a:t>号点一定</a:t>
            </a:r>
            <a:r>
              <a:rPr lang="zh-CN" altLang="en-US"/>
              <a:t>选）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5506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https://www.luogu.com.cn/problem/P2014</a:t>
            </a:r>
            <a:endParaRPr lang="en-US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450" y="1122045"/>
            <a:ext cx="11367770" cy="563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解题</a:t>
            </a:r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对于一棵以</a:t>
            </a:r>
            <a:r>
              <a:rPr lang="en-US" altLang="zh-CN"/>
              <a:t>u</a:t>
            </a:r>
            <a:r>
              <a:rPr lang="zh-CN" altLang="en-US"/>
              <a:t>为根的子树而言，该树中会包含若干个结点。要从中选出一些使得权值和最大，且每个结点只有一个</a:t>
            </a:r>
            <a:r>
              <a:rPr lang="en-US" altLang="zh-CN"/>
              <a:t>-----</a:t>
            </a:r>
            <a:r>
              <a:rPr lang="zh-CN" altLang="en-US"/>
              <a:t>这个描述很像</a:t>
            </a:r>
            <a:r>
              <a:rPr lang="en-US" altLang="zh-CN"/>
              <a:t>01</a:t>
            </a:r>
            <a:r>
              <a:rPr lang="zh-CN" altLang="en-US"/>
              <a:t>背包问题的描述，所以想到在树上进行</a:t>
            </a:r>
            <a:r>
              <a:rPr lang="zh-CN" altLang="en-US"/>
              <a:t>动态规划。</a:t>
            </a:r>
            <a:endParaRPr lang="zh-CN" altLang="en-US"/>
          </a:p>
          <a:p>
            <a:r>
              <a:rPr lang="zh-CN" altLang="en-US"/>
              <a:t>考虑：</a:t>
            </a:r>
            <a:r>
              <a:rPr lang="zh-CN" altLang="en-US">
                <a:sym typeface="+mn-ea"/>
              </a:rPr>
              <a:t>以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为根的树中也会包含很多子</a:t>
            </a:r>
            <a:r>
              <a:rPr lang="zh-CN" altLang="en-US">
                <a:sym typeface="+mn-ea"/>
              </a:rPr>
              <a:t>树。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）如果只选一门课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只能选</a:t>
            </a:r>
            <a:r>
              <a:rPr lang="en-US" altLang="zh-CN">
                <a:sym typeface="+mn-ea"/>
              </a:rPr>
              <a:t>u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）如果选多门课（</a:t>
            </a:r>
            <a:r>
              <a:rPr lang="en-US" altLang="zh-CN">
                <a:sym typeface="+mn-ea"/>
              </a:rPr>
              <a:t>j&gt;1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一定要选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，然后再在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的子树中选择</a:t>
            </a:r>
            <a:r>
              <a:rPr lang="en-US" altLang="zh-CN">
                <a:sym typeface="+mn-ea"/>
              </a:rPr>
              <a:t>j-1</a:t>
            </a:r>
            <a:r>
              <a:rPr lang="zh-CN" altLang="en-US">
                <a:sym typeface="+mn-ea"/>
              </a:rPr>
              <a:t>个结点。很显然由子树的解推出大树的解。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可能包含多（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）棵子树，考虑每棵子树怎么选。每棵子树选多少个结点是不一定的。给每棵子树编号</a:t>
            </a:r>
            <a:r>
              <a:rPr lang="en-US" altLang="zh-CN">
                <a:sym typeface="+mn-ea"/>
              </a:rPr>
              <a:t>1~~x</a:t>
            </a:r>
            <a:r>
              <a:rPr lang="zh-CN" altLang="en-US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考虑前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棵子树，前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棵子树最少选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个结点，最多选</a:t>
            </a:r>
            <a:r>
              <a:rPr lang="en-US" altLang="zh-CN">
                <a:sym typeface="+mn-ea"/>
              </a:rPr>
              <a:t>j-1</a:t>
            </a:r>
            <a:r>
              <a:rPr lang="zh-CN" altLang="en-US">
                <a:sym typeface="+mn-ea"/>
              </a:rPr>
              <a:t>个结点，显然选择的结点个数就是背包的</a:t>
            </a:r>
            <a:r>
              <a:rPr lang="zh-CN" altLang="en-US">
                <a:sym typeface="+mn-ea"/>
              </a:rPr>
              <a:t>容积。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得到状态数组</a:t>
            </a:r>
            <a:r>
              <a:rPr lang="en-US" altLang="zh-CN">
                <a:sym typeface="+mn-ea"/>
              </a:rPr>
              <a:t> dp[u][i][j]=x  </a:t>
            </a:r>
            <a:r>
              <a:rPr lang="zh-CN" altLang="en-US">
                <a:sym typeface="+mn-ea"/>
              </a:rPr>
              <a:t>以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为根的树中，前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棵子树选择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个结点的最大</a:t>
            </a:r>
            <a:r>
              <a:rPr lang="zh-CN" altLang="en-US">
                <a:sym typeface="+mn-ea"/>
              </a:rPr>
              <a:t>学分。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设在第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棵子树中选</a:t>
            </a:r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个</a:t>
            </a:r>
            <a:r>
              <a:rPr lang="zh-CN" altLang="en-US">
                <a:sym typeface="+mn-ea"/>
              </a:rPr>
              <a:t>结点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dp[u][i][j]=max(dp[u][i-1][j-k]+dp[v][sv][k])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5506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https://www.luogu.com.cn/problem/P2014</a:t>
            </a:r>
            <a:endParaRPr lang="en-US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450" y="1122045"/>
            <a:ext cx="11367770" cy="563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解题</a:t>
            </a:r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>
                <a:sym typeface="+mn-ea"/>
              </a:rPr>
              <a:t>状态数组</a:t>
            </a:r>
            <a:r>
              <a:rPr lang="en-US" altLang="zh-CN">
                <a:sym typeface="+mn-ea"/>
              </a:rPr>
              <a:t> dp[u][i][j]=x  </a:t>
            </a:r>
            <a:r>
              <a:rPr lang="zh-CN" altLang="en-US">
                <a:sym typeface="+mn-ea"/>
              </a:rPr>
              <a:t>以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为根的树中，前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棵子树选择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个结点的最大</a:t>
            </a:r>
            <a:r>
              <a:rPr lang="zh-CN" altLang="en-US">
                <a:sym typeface="+mn-ea"/>
              </a:rPr>
              <a:t>学分。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对于第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棵子树，其根节点为</a:t>
            </a:r>
            <a:r>
              <a:rPr lang="en-US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有</a:t>
            </a:r>
            <a:r>
              <a:rPr lang="en-US" altLang="zh-CN">
                <a:sym typeface="+mn-ea"/>
              </a:rPr>
              <a:t>sv</a:t>
            </a:r>
            <a:r>
              <a:rPr lang="zh-CN" altLang="en-US">
                <a:sym typeface="+mn-ea"/>
              </a:rPr>
              <a:t>棵子树，假设其有</a:t>
            </a:r>
            <a:r>
              <a:rPr lang="en-US" altLang="zh-CN">
                <a:sym typeface="+mn-ea"/>
              </a:rPr>
              <a:t>yi</a:t>
            </a:r>
            <a:r>
              <a:rPr lang="zh-CN" altLang="en-US">
                <a:sym typeface="+mn-ea"/>
              </a:rPr>
              <a:t>个结点，最少选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个结点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最多选</a:t>
            </a:r>
            <a:r>
              <a:rPr lang="en-US" altLang="zh-CN">
                <a:sym typeface="+mn-ea"/>
              </a:rPr>
              <a:t>min(yi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j-1)</a:t>
            </a:r>
            <a:r>
              <a:rPr lang="zh-CN" altLang="en-US">
                <a:sym typeface="+mn-ea"/>
              </a:rPr>
              <a:t>个结点。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设在第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棵子树中选</a:t>
            </a:r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个</a:t>
            </a:r>
            <a:r>
              <a:rPr lang="zh-CN" altLang="en-US">
                <a:sym typeface="+mn-ea"/>
              </a:rPr>
              <a:t>结点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dp[u][i][j]=max(dp[u][i-1][j-k]+dp[v][sv][k])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考虑降维：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只有</a:t>
            </a:r>
            <a:r>
              <a:rPr lang="en-US" altLang="zh-CN">
                <a:sym typeface="+mn-ea"/>
              </a:rPr>
              <a:t>i-1</a:t>
            </a:r>
            <a:r>
              <a:rPr lang="zh-CN" altLang="en-US">
                <a:sym typeface="+mn-ea"/>
              </a:rPr>
              <a:t>行得到，且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之前的值有关，所以可以和</a:t>
            </a:r>
            <a:r>
              <a:rPr lang="en-US" altLang="zh-CN">
                <a:sym typeface="+mn-ea"/>
              </a:rPr>
              <a:t>01</a:t>
            </a:r>
            <a:r>
              <a:rPr lang="zh-CN" altLang="en-US">
                <a:sym typeface="+mn-ea"/>
              </a:rPr>
              <a:t>背包一样进行降维，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不要了，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要倒着</a:t>
            </a:r>
            <a:r>
              <a:rPr lang="zh-CN" altLang="en-US">
                <a:sym typeface="+mn-ea"/>
              </a:rPr>
              <a:t>维护。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dp[u][j]</a:t>
            </a:r>
            <a:r>
              <a:rPr lang="zh-CN" altLang="en-US">
                <a:sym typeface="+mn-ea"/>
              </a:rPr>
              <a:t>表示节点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为根的树中，在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的所有</a:t>
            </a:r>
            <a:r>
              <a:rPr lang="zh-CN" altLang="en-US">
                <a:sym typeface="+mn-ea"/>
              </a:rPr>
              <a:t>子树中选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个</a:t>
            </a:r>
            <a:r>
              <a:rPr lang="zh-CN" altLang="en-US">
                <a:sym typeface="+mn-ea"/>
              </a:rPr>
              <a:t>结点的最大权值和（价值和）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初始：</a:t>
            </a:r>
            <a:r>
              <a:rPr lang="en-US" altLang="zh-CN">
                <a:sym typeface="+mn-ea"/>
              </a:rPr>
              <a:t>dp[u][0]=0     dp[u][1]=val[u]//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的前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棵子树中选择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个结点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最终：</a:t>
            </a:r>
            <a:r>
              <a:rPr lang="en-US" altLang="zh-CN">
                <a:sym typeface="+mn-ea"/>
              </a:rPr>
              <a:t>dp[0][m]</a:t>
            </a:r>
            <a:r>
              <a:rPr lang="zh-CN" altLang="en-US">
                <a:sym typeface="+mn-ea"/>
              </a:rPr>
              <a:t>为</a:t>
            </a:r>
            <a:r>
              <a:rPr lang="zh-CN" altLang="en-US">
                <a:sym typeface="+mn-ea"/>
              </a:rPr>
              <a:t>答案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u</a:t>
            </a:r>
            <a:r>
              <a:rPr lang="zh-CN" altLang="en-US">
                <a:sym typeface="+mn-ea"/>
              </a:rPr>
              <a:t>的第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棵子树的</a:t>
            </a:r>
            <a:r>
              <a:rPr lang="zh-CN" altLang="en-US">
                <a:sym typeface="+mn-ea"/>
              </a:rPr>
              <a:t>根节点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在第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棵子树中选</a:t>
            </a:r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k&lt;=j-1</a:t>
            </a:r>
            <a:r>
              <a:rPr lang="zh-CN" altLang="en-US">
                <a:sym typeface="+mn-ea"/>
              </a:rPr>
              <a:t>）个结点，前</a:t>
            </a:r>
            <a:r>
              <a:rPr lang="en-US" altLang="zh-CN">
                <a:sym typeface="+mn-ea"/>
              </a:rPr>
              <a:t>i-1</a:t>
            </a:r>
            <a:r>
              <a:rPr lang="zh-CN" altLang="en-US">
                <a:sym typeface="+mn-ea"/>
              </a:rPr>
              <a:t>棵子树中选</a:t>
            </a:r>
            <a:r>
              <a:rPr lang="en-US" altLang="zh-CN">
                <a:sym typeface="+mn-ea"/>
              </a:rPr>
              <a:t>j-k</a:t>
            </a:r>
            <a:r>
              <a:rPr lang="zh-CN" altLang="en-US">
                <a:sym typeface="+mn-ea"/>
              </a:rPr>
              <a:t>个</a:t>
            </a:r>
            <a:r>
              <a:rPr lang="zh-CN" altLang="en-US">
                <a:sym typeface="+mn-ea"/>
              </a:rPr>
              <a:t>结点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dp[u][j]=max(dp[u][j],dp[v][k]</a:t>
            </a:r>
            <a:r>
              <a:rPr lang="en-US" altLang="zh-CN">
                <a:sym typeface="+mn-ea"/>
              </a:rPr>
              <a:t>+dp[u][j-k]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3139</Words>
  <Application>WPS 演示</Application>
  <PresentationFormat>宽屏</PresentationFormat>
  <Paragraphs>156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129</cp:revision>
  <dcterms:created xsi:type="dcterms:W3CDTF">2023-09-08T07:11:00Z</dcterms:created>
  <dcterms:modified xsi:type="dcterms:W3CDTF">2025-05-22T08:21:22Z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2052-12.1.0.21171</vt:lpwstr>
  </property>
</Properties>
</file>