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309" r:id="rId3"/>
    <p:sldId id="340" r:id="rId4"/>
    <p:sldId id="352" r:id="rId5"/>
    <p:sldId id="353" r:id="rId6"/>
    <p:sldId id="354" r:id="rId7"/>
    <p:sldId id="342" r:id="rId8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8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tags" Target="../tags/tag3.xml"/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KMP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算法：解决字符串匹配问题。</a:t>
            </a:r>
            <a:r>
              <a:rPr lang="zh-CN" altLang="en-US">
                <a:sym typeface="+mn-ea"/>
              </a:rPr>
              <a:t>设主串</a:t>
            </a:r>
            <a:r>
              <a:rPr lang="en-US" altLang="zh-CN">
                <a:sym typeface="+mn-ea"/>
              </a:rPr>
              <a:t>p</a:t>
            </a:r>
            <a:r>
              <a:rPr lang="zh-CN" altLang="en-US">
                <a:sym typeface="+mn-ea"/>
              </a:rPr>
              <a:t>，模式串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。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是</a:t>
            </a:r>
            <a:r>
              <a:rPr lang="en-US" altLang="zh-CN">
                <a:sym typeface="+mn-ea"/>
              </a:rPr>
              <a:t>p</a:t>
            </a:r>
            <a:r>
              <a:rPr lang="zh-CN" altLang="en-US">
                <a:sym typeface="+mn-ea"/>
              </a:rPr>
              <a:t>的子串吗？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主要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思想：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2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对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next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数组的理解：前提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下标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开始存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字符串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2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next[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j]=x;</a:t>
            </a:r>
            <a:r>
              <a:rPr lang="en-US" altLang="zh-CN">
                <a:sym typeface="+mn-ea"/>
              </a:rPr>
              <a:t>(</a:t>
            </a:r>
            <a:r>
              <a:rPr lang="zh-CN" altLang="en-US">
                <a:sym typeface="+mn-ea"/>
              </a:rPr>
              <a:t>令字符串</a:t>
            </a:r>
            <a:r>
              <a:rPr lang="en-US" altLang="zh-CN">
                <a:sym typeface="+mn-ea"/>
              </a:rPr>
              <a:t>a=s[0]~~s[j-1])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en-US" altLang="zh-CN">
                <a:sym typeface="+mn-ea"/>
              </a:rPr>
              <a:t>next[j]=x</a:t>
            </a:r>
            <a:r>
              <a:rPr lang="zh-CN" altLang="en-US">
                <a:sym typeface="+mn-ea"/>
              </a:rPr>
              <a:t>：（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模式串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s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前缀子串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a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的最长相同前后缀的长度为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x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                  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）当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s[j]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与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p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中字符失配时，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j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应回退到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next[j](x)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位置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即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s[x]),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进行匹配。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         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/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147570" y="1140460"/>
            <a:ext cx="7489190" cy="10350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147570" y="3100070"/>
            <a:ext cx="8418195" cy="1454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600075" y="42862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r>
              <a:rPr lang="zh-CN" altLang="en-US">
                <a:solidFill>
                  <a:srgbClr val="FF0000"/>
                </a:solidFill>
                <a:sym typeface="+mn-ea"/>
              </a:rPr>
              <a:t>注意：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next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是关键字，写代码的时候不要用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next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做变量名，可写成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nex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。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         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r>
              <a:rPr lang="en-US"/>
              <a:t>next[]</a:t>
            </a:r>
            <a:r>
              <a:rPr lang="zh-CN" altLang="en-US"/>
              <a:t>求法：</a:t>
            </a:r>
            <a:r>
              <a:rPr lang="en-US" altLang="zh-CN"/>
              <a:t>next[0]=-1; next[1]=0;</a:t>
            </a:r>
            <a:endParaRPr lang="zh-CN" altLang="en-US"/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）手动算：直接上帝视角看最长相同前后缀</a:t>
            </a:r>
            <a:r>
              <a:rPr lang="zh-CN" altLang="en-US">
                <a:solidFill>
                  <a:schemeClr val="tx1"/>
                </a:solidFill>
              </a:rPr>
              <a:t>即可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457200">
              <a:buNone/>
            </a:pPr>
            <a:r>
              <a:rPr lang="en-US" altLang="zh-CN">
                <a:solidFill>
                  <a:schemeClr val="tx1"/>
                </a:solidFill>
              </a:rPr>
              <a:t>abeabf</a:t>
            </a:r>
            <a:endParaRPr lang="en-US" altLang="zh-CN">
              <a:solidFill>
                <a:schemeClr val="tx1"/>
              </a:solidFill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）考虑算</a:t>
            </a:r>
            <a:r>
              <a:rPr lang="en-US" altLang="zh-CN">
                <a:solidFill>
                  <a:schemeClr val="tx1"/>
                </a:solidFill>
              </a:rPr>
              <a:t>next[i]:----&gt;</a:t>
            </a:r>
            <a:r>
              <a:rPr lang="zh-CN" altLang="en-US">
                <a:solidFill>
                  <a:schemeClr val="tx1"/>
                </a:solidFill>
              </a:rPr>
              <a:t>动态规划</a:t>
            </a:r>
            <a:endParaRPr lang="en-US" altLang="zh-CN">
              <a:solidFill>
                <a:schemeClr val="tx1"/>
              </a:solidFill>
            </a:endParaRPr>
          </a:p>
          <a:p>
            <a:pPr marL="914400" lvl="2" indent="457200">
              <a:buNone/>
            </a:pPr>
            <a:r>
              <a:rPr lang="zh-CN" altLang="en-US">
                <a:solidFill>
                  <a:schemeClr val="tx1"/>
                </a:solidFill>
              </a:rPr>
              <a:t>此时</a:t>
            </a:r>
            <a:r>
              <a:rPr lang="en-US" altLang="zh-CN">
                <a:solidFill>
                  <a:schemeClr val="tx1"/>
                </a:solidFill>
              </a:rPr>
              <a:t>next[0]~~next[i-1]</a:t>
            </a:r>
            <a:r>
              <a:rPr lang="zh-CN" altLang="en-US">
                <a:solidFill>
                  <a:schemeClr val="tx1"/>
                </a:solidFill>
              </a:rPr>
              <a:t>已经算出，设</a:t>
            </a:r>
            <a:r>
              <a:rPr lang="en-US" altLang="zh-CN">
                <a:solidFill>
                  <a:schemeClr val="tx1"/>
                </a:solidFill>
              </a:rPr>
              <a:t>next[i-1]=y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  <a:p>
            <a:pPr marL="914400" lvl="2" indent="457200">
              <a:buNone/>
            </a:pPr>
            <a:r>
              <a:rPr lang="zh-CN" altLang="en-US">
                <a:solidFill>
                  <a:schemeClr val="tx1"/>
                </a:solidFill>
              </a:rPr>
              <a:t>即</a:t>
            </a:r>
            <a:r>
              <a:rPr lang="en-US" altLang="zh-CN">
                <a:solidFill>
                  <a:schemeClr val="tx1"/>
                </a:solidFill>
              </a:rPr>
              <a:t>:</a:t>
            </a:r>
            <a:endParaRPr lang="en-US" altLang="zh-CN">
              <a:solidFill>
                <a:schemeClr val="tx1"/>
              </a:solidFill>
            </a:endParaRPr>
          </a:p>
          <a:p>
            <a:pPr marL="914400" lvl="2" indent="45720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pPr marL="914400" lvl="2" indent="45720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pPr marL="914400" lvl="2" indent="45720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pPr marL="914400" lvl="2" indent="45720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pPr marL="914400" lvl="2" indent="45720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pPr marL="914400" lvl="2" indent="45720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pPr marL="914400" lvl="2" indent="45720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pPr marL="914400" lvl="2" indent="457200">
              <a:buNone/>
            </a:pPr>
            <a:r>
              <a:rPr lang="zh-CN" altLang="en-US">
                <a:solidFill>
                  <a:schemeClr val="tx1"/>
                </a:solidFill>
              </a:rPr>
              <a:t>若</a:t>
            </a:r>
            <a:r>
              <a:rPr lang="en-US" altLang="zh-CN">
                <a:solidFill>
                  <a:schemeClr val="tx1"/>
                </a:solidFill>
              </a:rPr>
              <a:t>s[y]==s[i-1],</a:t>
            </a:r>
            <a:r>
              <a:rPr lang="zh-CN" altLang="en-US">
                <a:solidFill>
                  <a:schemeClr val="tx1"/>
                </a:solidFill>
              </a:rPr>
              <a:t>则：</a:t>
            </a:r>
            <a:r>
              <a:rPr lang="en-US" altLang="zh-CN">
                <a:solidFill>
                  <a:schemeClr val="tx1"/>
                </a:solidFill>
              </a:rPr>
              <a:t>next[i]=next[i-1]+1=</a:t>
            </a:r>
            <a:r>
              <a:rPr lang="en-US" altLang="zh-CN">
                <a:solidFill>
                  <a:schemeClr val="tx1"/>
                </a:solidFill>
              </a:rPr>
              <a:t>y+1;</a:t>
            </a:r>
            <a:endParaRPr lang="en-US" altLang="zh-CN">
              <a:solidFill>
                <a:schemeClr val="tx1"/>
              </a:solidFill>
            </a:endParaRPr>
          </a:p>
          <a:p>
            <a:pPr marL="914400" lvl="2" indent="45720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pPr marL="0" lvl="1" indent="457200">
              <a:buNone/>
            </a:pPr>
            <a:r>
              <a:rPr lang="en-US" altLang="zh-CN">
                <a:solidFill>
                  <a:schemeClr val="tx1"/>
                </a:solidFill>
              </a:rPr>
              <a:t>                  </a:t>
            </a:r>
            <a:r>
              <a:rPr lang="zh-CN" altLang="en-US">
                <a:solidFill>
                  <a:schemeClr val="tx1"/>
                </a:solidFill>
              </a:rPr>
              <a:t>若</a:t>
            </a:r>
            <a:r>
              <a:rPr lang="en-US" altLang="zh-CN">
                <a:sym typeface="+mn-ea"/>
              </a:rPr>
              <a:t>s[y]!=s[i-1],</a:t>
            </a:r>
            <a:r>
              <a:rPr lang="zh-CN" altLang="en-US">
                <a:sym typeface="+mn-ea"/>
              </a:rPr>
              <a:t>则</a:t>
            </a:r>
            <a:r>
              <a:rPr lang="en-US" altLang="zh-CN">
                <a:sym typeface="+mn-ea"/>
              </a:rPr>
              <a:t> y</a:t>
            </a:r>
            <a:r>
              <a:rPr lang="zh-CN" altLang="en-US">
                <a:sym typeface="+mn-ea"/>
              </a:rPr>
              <a:t>位置失配，</a:t>
            </a:r>
            <a:r>
              <a:rPr lang="en-US" altLang="zh-CN">
                <a:sym typeface="+mn-ea"/>
              </a:rPr>
              <a:t>y=next[y],</a:t>
            </a:r>
            <a:r>
              <a:rPr lang="zh-CN" altLang="en-US">
                <a:sym typeface="+mn-ea"/>
              </a:rPr>
              <a:t>重新匹配。</a:t>
            </a:r>
            <a:r>
              <a:rPr lang="zh-CN" altLang="en-US">
                <a:sym typeface="+mn-ea"/>
              </a:rPr>
              <a:t>即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自己匹配自己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914400" lvl="2" indent="457200">
              <a:buNone/>
            </a:pPr>
            <a:endParaRPr lang="zh-CN" altLang="en-US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694940" y="2814320"/>
            <a:ext cx="6553200" cy="19907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>
                <a:sym typeface="+mn-ea"/>
              </a:rPr>
              <a:t>https://www.luogu.com.cn/problem/P3375</a:t>
            </a:r>
            <a:endParaRPr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9987280" cy="4732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思路：模板</a:t>
            </a:r>
            <a:r>
              <a:rPr lang="zh-CN" altLang="en-US"/>
              <a:t>题。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>
                <a:sym typeface="+mn-ea"/>
              </a:rPr>
              <a:t>https://www.luogu.com.cn/problem/P4391</a:t>
            </a:r>
            <a:endParaRPr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9987280" cy="4732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>
                <a:sym typeface="+mn-ea"/>
              </a:rPr>
              <a:t>https://www.luogu.com.cn/problem/P4391</a:t>
            </a:r>
            <a:endParaRPr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9987280" cy="4732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r>
              <a:rPr lang="en-US" altLang="zh-CN"/>
              <a:t>s1</a:t>
            </a:r>
            <a:r>
              <a:rPr lang="zh-CN" altLang="en-US"/>
              <a:t>是由一个周期子串</a:t>
            </a:r>
            <a:r>
              <a:rPr lang="en-US" altLang="zh-CN"/>
              <a:t>ss</a:t>
            </a:r>
            <a:r>
              <a:rPr lang="zh-CN" altLang="en-US"/>
              <a:t>循环得到的。</a:t>
            </a:r>
            <a:endParaRPr lang="zh-CN" altLang="en-US"/>
          </a:p>
          <a:p>
            <a:r>
              <a:rPr lang="zh-CN" altLang="en-US"/>
              <a:t>我们不按照样例给出的解释理解。cabcabca</a:t>
            </a:r>
            <a:r>
              <a:rPr lang="en-US" altLang="zh-CN"/>
              <a:t> </a:t>
            </a:r>
            <a:r>
              <a:rPr lang="zh-CN" altLang="en-US"/>
              <a:t>理解为：</a:t>
            </a:r>
            <a:r>
              <a:rPr lang="zh-CN" altLang="en-US">
                <a:solidFill>
                  <a:srgbClr val="FF0000"/>
                </a:solidFill>
              </a:rPr>
              <a:t>cabcabca</a:t>
            </a:r>
            <a:r>
              <a:rPr lang="en-US" altLang="zh-CN"/>
              <a:t>b</a:t>
            </a:r>
            <a:r>
              <a:rPr lang="zh-CN" altLang="en-US"/>
              <a:t>的子串，周期为</a:t>
            </a:r>
            <a:r>
              <a:rPr lang="en-US" altLang="zh-CN"/>
              <a:t>“</a:t>
            </a:r>
            <a:r>
              <a:rPr lang="en-US" altLang="zh-CN"/>
              <a:t>cab”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那么，</a:t>
            </a:r>
            <a:r>
              <a:rPr lang="en-US" altLang="zh-CN"/>
              <a:t>s1</a:t>
            </a:r>
            <a:r>
              <a:rPr lang="zh-CN" altLang="en-US"/>
              <a:t>的最长相同前后缀刚好空过一个</a:t>
            </a:r>
            <a:r>
              <a:rPr lang="zh-CN" altLang="en-US"/>
              <a:t>周期：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因为在这种循环的情况下，求</a:t>
            </a:r>
            <a:r>
              <a:rPr lang="en-US" altLang="zh-CN"/>
              <a:t>next</a:t>
            </a:r>
            <a:r>
              <a:rPr lang="zh-CN" altLang="en-US"/>
              <a:t>数组，即</a:t>
            </a:r>
            <a:r>
              <a:rPr lang="en-US" altLang="zh-CN"/>
              <a:t>s1</a:t>
            </a:r>
            <a:r>
              <a:rPr lang="zh-CN" altLang="en-US"/>
              <a:t>自己匹配自己，是空过一个周期开始匹配</a:t>
            </a:r>
            <a:r>
              <a:rPr lang="zh-CN" altLang="en-US"/>
              <a:t>的。</a:t>
            </a:r>
            <a:endParaRPr lang="zh-CN" altLang="en-US"/>
          </a:p>
          <a:p>
            <a:r>
              <a:rPr lang="zh-CN" altLang="en-US"/>
              <a:t>正常是空过一个字符开始</a:t>
            </a:r>
            <a:r>
              <a:rPr lang="zh-CN" altLang="en-US"/>
              <a:t>匹配。因为周期内肯定匹配不上，所以是第</a:t>
            </a:r>
            <a:r>
              <a:rPr lang="en-US" altLang="zh-CN"/>
              <a:t>i</a:t>
            </a:r>
            <a:r>
              <a:rPr lang="zh-CN" altLang="en-US"/>
              <a:t>个周期和</a:t>
            </a:r>
            <a:r>
              <a:rPr lang="en-US" altLang="zh-CN"/>
              <a:t>i+1</a:t>
            </a:r>
            <a:r>
              <a:rPr lang="zh-CN" altLang="en-US"/>
              <a:t>个周期</a:t>
            </a:r>
            <a:r>
              <a:rPr lang="zh-CN" altLang="en-US"/>
              <a:t>匹配。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所以答案是周期的长度：</a:t>
            </a:r>
            <a:r>
              <a:rPr lang="en-US" altLang="zh-CN"/>
              <a:t>n-next[n]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390005" y="1990725"/>
            <a:ext cx="2257425" cy="895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2264410" y="1639570"/>
            <a:ext cx="8017510" cy="2740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         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r>
              <a:rPr lang="zh-CN"/>
              <a:t>字符串相关内容结束，下一块</a:t>
            </a:r>
            <a:r>
              <a:rPr lang="zh-CN"/>
              <a:t>内容：</a:t>
            </a:r>
            <a:r>
              <a:rPr lang="zh-CN"/>
              <a:t>动态规划。</a:t>
            </a:r>
            <a:endParaRPr lang="zh-CN"/>
          </a:p>
          <a:p>
            <a:endParaRPr lang="zh-CN"/>
          </a:p>
          <a:p>
            <a:r>
              <a:rPr lang="zh-CN"/>
              <a:t>下节课</a:t>
            </a:r>
            <a:r>
              <a:rPr lang="zh-CN"/>
              <a:t>题目：</a:t>
            </a:r>
            <a:endParaRPr lang="zh-CN"/>
          </a:p>
          <a:p>
            <a:r>
              <a:rPr lang="zh-CN"/>
              <a:t>洛谷：</a:t>
            </a:r>
            <a:r>
              <a:rPr lang="en-US" altLang="zh-CN"/>
              <a:t>B3637  P2758</a:t>
            </a:r>
            <a:endParaRPr lang="en-US" altLang="zh-CN"/>
          </a:p>
          <a:p>
            <a:r>
              <a:rPr lang="zh-CN" altLang="en-US"/>
              <a:t>力扣：</a:t>
            </a:r>
            <a:r>
              <a:rPr lang="en-US" altLang="zh-CN"/>
              <a:t>LCR 095</a:t>
            </a:r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COMMONDATA" val="eyJoZGlkIjoiMjNhN2QzNzIxYTMxZDA2OTMyYTljMDA5MmRhYmMwNjc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879</Words>
  <Application>WPS 演示</Application>
  <PresentationFormat>宽屏</PresentationFormat>
  <Paragraphs>75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宋体</vt:lpstr>
      <vt:lpstr>Wingdings</vt:lpstr>
      <vt:lpstr>Calibri</vt:lpstr>
      <vt:lpstr>Helvetica Neue</vt:lpstr>
      <vt:lpstr>微软雅黑</vt:lpstr>
      <vt:lpstr>汉仪旗黑</vt:lpstr>
      <vt:lpstr>微软雅黑</vt:lpstr>
      <vt:lpstr>宋体</vt:lpstr>
      <vt:lpstr>Arial Unicode MS</vt:lpstr>
      <vt:lpstr>汉仪书宋二KW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喵~</cp:lastModifiedBy>
  <cp:revision>67</cp:revision>
  <dcterms:created xsi:type="dcterms:W3CDTF">2025-05-09T13:37:09Z</dcterms:created>
  <dcterms:modified xsi:type="dcterms:W3CDTF">2025-05-09T13:37:09Z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39D95B3D507C44309E7C251695CCA2D4_12</vt:lpwstr>
  </property>
  <property fmtid="{D5CDD505-2E9C-101B-9397-08002B2CF9AE}" pid="3" name="KSOProductBuildVer">
    <vt:lpwstr>2052-6.15.2.8936</vt:lpwstr>
  </property>
</Properties>
</file>