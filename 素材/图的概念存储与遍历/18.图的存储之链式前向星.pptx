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5" r:id="rId3"/>
    <p:sldId id="275" r:id="rId4"/>
    <p:sldId id="257" r:id="rId5"/>
    <p:sldId id="277" r:id="rId6"/>
    <p:sldId id="278" r:id="rId7"/>
    <p:sldId id="279" r:id="rId8"/>
    <p:sldId id="280" r:id="rId9"/>
    <p:sldId id="282" r:id="rId10"/>
    <p:sldId id="283" r:id="rId11"/>
    <p:sldId id="281" r:id="rId12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20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tags" Target="../tags/tag4.xml"/><Relationship Id="rId2" Type="http://schemas.openxmlformats.org/officeDocument/2006/relationships/image" Target="../media/image3.png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tags" Target="../tags/tag6.xml"/><Relationship Id="rId2" Type="http://schemas.openxmlformats.org/officeDocument/2006/relationships/image" Target="../media/image5.png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tags" Target="../tags/tag10.xml"/><Relationship Id="rId4" Type="http://schemas.openxmlformats.org/officeDocument/2006/relationships/image" Target="../media/image9.png"/><Relationship Id="rId3" Type="http://schemas.openxmlformats.org/officeDocument/2006/relationships/tags" Target="../tags/tag9.xml"/><Relationship Id="rId2" Type="http://schemas.openxmlformats.org/officeDocument/2006/relationships/image" Target="../media/image5.png"/><Relationship Id="rId1" Type="http://schemas.openxmlformats.org/officeDocument/2006/relationships/tags" Target="../tags/tag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4.png"/><Relationship Id="rId6" Type="http://schemas.openxmlformats.org/officeDocument/2006/relationships/tags" Target="../tags/tag13.xml"/><Relationship Id="rId5" Type="http://schemas.openxmlformats.org/officeDocument/2006/relationships/image" Target="../media/image13.png"/><Relationship Id="rId4" Type="http://schemas.openxmlformats.org/officeDocument/2006/relationships/tags" Target="../tags/tag1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6.png"/><Relationship Id="rId3" Type="http://schemas.openxmlformats.org/officeDocument/2006/relationships/tags" Target="../tags/tag15.xml"/><Relationship Id="rId2" Type="http://schemas.openxmlformats.org/officeDocument/2006/relationships/image" Target="../media/image15.png"/><Relationship Id="rId1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tags" Target="../tags/tag16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tags" Target="../tags/tag19.xml"/><Relationship Id="rId4" Type="http://schemas.openxmlformats.org/officeDocument/2006/relationships/image" Target="../media/image19.png"/><Relationship Id="rId3" Type="http://schemas.openxmlformats.org/officeDocument/2006/relationships/tags" Target="../tags/tag18.xml"/><Relationship Id="rId2" Type="http://schemas.openxmlformats.org/officeDocument/2006/relationships/image" Target="../media/image18.png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17905" y="1385570"/>
            <a:ext cx="10470515" cy="3761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图的存储：《数据结构》涉及</a:t>
            </a:r>
            <a:r>
              <a:rPr lang="en-US" altLang="zh-CN"/>
              <a:t>5</a:t>
            </a:r>
            <a:r>
              <a:rPr lang="zh-CN" altLang="en-US"/>
              <a:t>种存图方式：邻接矩阵，邻接表，十字链表，多重邻接表，边集</a:t>
            </a:r>
            <a:r>
              <a:rPr lang="zh-CN" altLang="en-US"/>
              <a:t>数组。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其中：</a:t>
            </a:r>
            <a:r>
              <a:rPr lang="zh-CN" altLang="en-US">
                <a:sym typeface="+mn-ea"/>
              </a:rPr>
              <a:t>邻接表，十字链表，多重邻接表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是基于链表实现的，涉及到指针指向，代码操作复杂，且容易出现空指针，野指针的</a:t>
            </a:r>
            <a:r>
              <a:rPr lang="en-US" altLang="zh-CN">
                <a:sym typeface="+mn-ea"/>
              </a:rPr>
              <a:t>bug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其中，刷题时常用的是邻接矩阵和邻接表变形</a:t>
            </a:r>
            <a:r>
              <a:rPr lang="en-US" altLang="zh-CN">
                <a:sym typeface="+mn-ea"/>
              </a:rPr>
              <a:t>（</a:t>
            </a:r>
            <a:r>
              <a:rPr lang="zh-CN" altLang="en-US">
                <a:sym typeface="+mn-ea"/>
              </a:rPr>
              <a:t>链式前向星</a:t>
            </a:r>
            <a:r>
              <a:rPr lang="en-US" altLang="zh-CN">
                <a:sym typeface="+mn-ea"/>
              </a:rPr>
              <a:t>）</a:t>
            </a:r>
            <a:r>
              <a:rPr lang="zh-CN" altLang="en-US">
                <a:sym typeface="+mn-ea"/>
              </a:rPr>
              <a:t>，但是因为上述</a:t>
            </a:r>
            <a:r>
              <a:rPr lang="zh-CN" altLang="en-US">
                <a:sym typeface="+mn-ea"/>
              </a:rPr>
              <a:t>原因，需要对</a:t>
            </a:r>
            <a:r>
              <a:rPr lang="zh-CN" altLang="en-US">
                <a:sym typeface="+mn-ea"/>
              </a:rPr>
              <a:t>邻接表的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代码实现</a:t>
            </a:r>
            <a:r>
              <a:rPr lang="zh-CN" altLang="en-US">
                <a:sym typeface="+mn-ea"/>
              </a:rPr>
              <a:t>进行改进。（理论（存图的</a:t>
            </a:r>
            <a:r>
              <a:rPr lang="zh-CN" altLang="en-US">
                <a:sym typeface="+mn-ea"/>
              </a:rPr>
              <a:t>逻辑）</a:t>
            </a:r>
            <a:r>
              <a:rPr lang="zh-CN" altLang="en-US">
                <a:sym typeface="+mn-ea"/>
              </a:rPr>
              <a:t>不变）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邻接矩阵和边集数组本身就是基于数组的，按照《数据结构》课上讲解的</a:t>
            </a:r>
            <a:r>
              <a:rPr lang="zh-CN" altLang="en-US">
                <a:sym typeface="+mn-ea"/>
              </a:rPr>
              <a:t>实现即可。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102360" y="322580"/>
            <a:ext cx="9667240" cy="13881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996315" y="396240"/>
            <a:ext cx="9477375" cy="167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邻接表：一维数组存</a:t>
            </a:r>
            <a:r>
              <a:rPr lang="zh-CN" altLang="en-US">
                <a:sym typeface="+mn-ea"/>
              </a:rPr>
              <a:t>顶点</a:t>
            </a:r>
            <a:r>
              <a:rPr lang="en-US" altLang="zh-CN">
                <a:sym typeface="+mn-ea"/>
              </a:rPr>
              <a:t>---</a:t>
            </a:r>
            <a:r>
              <a:rPr lang="zh-CN" altLang="en-US">
                <a:sym typeface="+mn-ea"/>
              </a:rPr>
              <a:t>顶点数组。每个顶点的所有邻接点构成一个链表，挂在顶点数组</a:t>
            </a:r>
            <a:r>
              <a:rPr lang="zh-CN" altLang="en-US">
                <a:sym typeface="+mn-ea"/>
              </a:rPr>
              <a:t>后。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先看</a:t>
            </a:r>
            <a:r>
              <a:rPr lang="zh-CN" altLang="en-US">
                <a:sym typeface="+mn-ea"/>
              </a:rPr>
              <a:t>无权图：</a:t>
            </a:r>
            <a:endParaRPr lang="zh-CN" altLang="en-US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39140" y="2152650"/>
            <a:ext cx="3038475" cy="25527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573905" y="2068195"/>
            <a:ext cx="5248275" cy="27908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00050" y="2498090"/>
            <a:ext cx="5143500" cy="26289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244590" y="2706370"/>
            <a:ext cx="4781550" cy="25336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651635" y="687705"/>
            <a:ext cx="8490585" cy="760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邻接表存储无权图，可以直接将邻接表转化成二维数组，</a:t>
            </a:r>
            <a:r>
              <a:rPr lang="en-US" altLang="zh-CN"/>
              <a:t>a[x][i]=y</a:t>
            </a:r>
            <a:r>
              <a:rPr lang="zh-CN" altLang="en-US"/>
              <a:t>：顶点</a:t>
            </a:r>
            <a:r>
              <a:rPr lang="en-US" altLang="zh-CN"/>
              <a:t>x</a:t>
            </a:r>
            <a:r>
              <a:rPr lang="zh-CN" altLang="en-US"/>
              <a:t>的第</a:t>
            </a:r>
            <a:r>
              <a:rPr lang="en-US" altLang="zh-CN"/>
              <a:t>i</a:t>
            </a:r>
            <a:r>
              <a:rPr lang="zh-CN" altLang="en-US"/>
              <a:t>个邻接点是顶点</a:t>
            </a:r>
            <a:r>
              <a:rPr lang="en-US" altLang="zh-CN"/>
              <a:t>y</a:t>
            </a:r>
            <a:r>
              <a:rPr lang="zh-CN" altLang="en-US"/>
              <a:t>，即顶点</a:t>
            </a:r>
            <a:r>
              <a:rPr lang="en-US" altLang="zh-CN"/>
              <a:t>x</a:t>
            </a:r>
            <a:r>
              <a:rPr lang="zh-CN" altLang="en-US"/>
              <a:t>的第</a:t>
            </a:r>
            <a:r>
              <a:rPr lang="en-US" altLang="zh-CN"/>
              <a:t>i</a:t>
            </a:r>
            <a:r>
              <a:rPr lang="zh-CN" altLang="en-US"/>
              <a:t>条出边是边</a:t>
            </a:r>
            <a:r>
              <a:rPr lang="en-US" altLang="zh-CN"/>
              <a:t>&lt;x,y&gt;</a:t>
            </a:r>
            <a:r>
              <a:rPr lang="zh-CN" altLang="en-US"/>
              <a:t>。注意和邻接矩阵的区分。</a:t>
            </a:r>
            <a:r>
              <a:rPr lang="en-US" altLang="zh-CN"/>
              <a:t>vector</a:t>
            </a:r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16305" y="2633980"/>
            <a:ext cx="3105150" cy="2667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101215" y="537845"/>
            <a:ext cx="8604885" cy="947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带权图的邻接矩阵。用</a:t>
            </a:r>
            <a:r>
              <a:rPr lang="zh-CN" altLang="en-US">
                <a:solidFill>
                  <a:srgbClr val="FF0000"/>
                </a:solidFill>
              </a:rPr>
              <a:t>静态链表</a:t>
            </a:r>
            <a:r>
              <a:rPr lang="zh-CN" altLang="en-US"/>
              <a:t>实现：即用</a:t>
            </a:r>
            <a:r>
              <a:rPr lang="zh-CN" altLang="en-US">
                <a:solidFill>
                  <a:srgbClr val="FF0000"/>
                </a:solidFill>
              </a:rPr>
              <a:t>边集数组</a:t>
            </a:r>
            <a:r>
              <a:rPr lang="en-US" altLang="zh-CN"/>
              <a:t>和</a:t>
            </a:r>
            <a:r>
              <a:rPr lang="en-US" altLang="zh-CN">
                <a:solidFill>
                  <a:srgbClr val="FF0000"/>
                </a:solidFill>
              </a:rPr>
              <a:t>邻接表的逻辑</a:t>
            </a:r>
            <a:r>
              <a:rPr lang="zh-CN" altLang="en-US"/>
              <a:t>相结合，可以快速访问一个顶点的所有邻接点</a:t>
            </a:r>
            <a:r>
              <a:rPr lang="en-US" altLang="zh-CN"/>
              <a:t>----</a:t>
            </a:r>
            <a:r>
              <a:rPr lang="zh-CN" altLang="en-US">
                <a:solidFill>
                  <a:srgbClr val="FF0000"/>
                </a:solidFill>
              </a:rPr>
              <a:t>链式前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向</a:t>
            </a:r>
            <a:r>
              <a:rPr lang="zh-CN" altLang="en-US">
                <a:solidFill>
                  <a:srgbClr val="FF0000"/>
                </a:solidFill>
              </a:rPr>
              <a:t>星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211955" y="1848485"/>
            <a:ext cx="6962775" cy="37433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457325" y="440690"/>
            <a:ext cx="9206230" cy="2527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链式前向星存储包括两</a:t>
            </a:r>
            <a:r>
              <a:rPr lang="zh-CN" altLang="en-US"/>
              <a:t>部分：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）边集数组：edge[ ]，edge[i]表示第i条边，存储边的信息：</a:t>
            </a:r>
            <a:r>
              <a:rPr lang="en-US" altLang="zh-CN"/>
              <a:t>to,w,next,</a:t>
            </a:r>
            <a:r>
              <a:rPr lang="zh-CN" altLang="en-US"/>
              <a:t>其中</a:t>
            </a:r>
            <a:r>
              <a:rPr lang="en-US" altLang="zh-CN"/>
              <a:t>next</a:t>
            </a:r>
            <a:r>
              <a:rPr lang="zh-CN" altLang="en-US"/>
              <a:t>不再是指针，而是同起点的下一条边的编号（下标）。</a:t>
            </a:r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）头结点数组：head[ ]，head[</a:t>
            </a:r>
            <a:r>
              <a:rPr lang="en-US" altLang="zh-CN"/>
              <a:t>x</a:t>
            </a:r>
            <a:r>
              <a:rPr lang="zh-CN" altLang="en-US"/>
              <a:t>]存以</a:t>
            </a:r>
            <a:r>
              <a:rPr lang="en-US" altLang="zh-CN"/>
              <a:t>x</a:t>
            </a:r>
            <a:r>
              <a:rPr lang="zh-CN" altLang="en-US"/>
              <a:t>为起点的第一条边的下标(下标指</a:t>
            </a:r>
            <a:r>
              <a:rPr lang="en-US" altLang="zh-CN"/>
              <a:t>:</a:t>
            </a:r>
            <a:r>
              <a:rPr lang="zh-CN" altLang="en-US"/>
              <a:t>在edge[]中的下标</a:t>
            </a:r>
            <a:r>
              <a:rPr lang="en-US" altLang="zh-CN"/>
              <a:t>)</a:t>
            </a:r>
            <a:r>
              <a:rPr lang="zh-CN" altLang="en-US"/>
              <a:t>。初始时head[]数组全部初始化为-1，即认为没有</a:t>
            </a:r>
            <a:r>
              <a:rPr lang="zh-CN" altLang="en-US"/>
              <a:t>边。</a:t>
            </a:r>
            <a:endParaRPr lang="zh-CN" altLang="en-US"/>
          </a:p>
          <a:p>
            <a:r>
              <a:rPr lang="en-US" altLang="zh-CN"/>
              <a:t>head[x]=2;   edge[2]</a:t>
            </a:r>
            <a:r>
              <a:rPr lang="zh-CN" altLang="en-US"/>
              <a:t>是</a:t>
            </a:r>
            <a:r>
              <a:rPr lang="en-US" altLang="zh-CN"/>
              <a:t>x</a:t>
            </a:r>
            <a:r>
              <a:rPr lang="zh-CN" altLang="en-US"/>
              <a:t>的</a:t>
            </a:r>
            <a:r>
              <a:rPr lang="zh-CN" altLang="en-US"/>
              <a:t>一条</a:t>
            </a:r>
            <a:r>
              <a:rPr lang="zh-CN" altLang="en-US"/>
              <a:t>出边</a:t>
            </a:r>
            <a:endParaRPr lang="zh-CN" altLang="en-US"/>
          </a:p>
          <a:p>
            <a:r>
              <a:rPr lang="en-US" altLang="zh-CN"/>
              <a:t>head[x]=-1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21665" y="3153410"/>
            <a:ext cx="3218815" cy="16725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02655" y="2859405"/>
            <a:ext cx="3044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每一条边的结构，如图所示</a:t>
            </a:r>
            <a:r>
              <a:rPr lang="en-US" altLang="zh-CN"/>
              <a:t>:</a:t>
            </a:r>
            <a:endParaRPr lang="en-US" altLang="zh-CN"/>
          </a:p>
        </p:txBody>
      </p:sp>
      <p:pic>
        <p:nvPicPr>
          <p:cNvPr id="100" name="图片 99"/>
          <p:cNvPicPr/>
          <p:nvPr/>
        </p:nvPicPr>
        <p:blipFill>
          <a:blip r:embed="rId3"/>
          <a:stretch>
            <a:fillRect/>
          </a:stretch>
        </p:blipFill>
        <p:spPr>
          <a:xfrm>
            <a:off x="6888480" y="3776345"/>
            <a:ext cx="1838960" cy="8820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909435" y="224155"/>
            <a:ext cx="3105150" cy="2667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616075" y="485140"/>
            <a:ext cx="4890135" cy="535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对该图建立链式向前</a:t>
            </a:r>
            <a:r>
              <a:rPr lang="zh-CN" altLang="en-US"/>
              <a:t>星：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448435" y="3000375"/>
            <a:ext cx="3609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初始化边集数组及</a:t>
            </a:r>
            <a:r>
              <a:rPr lang="zh-CN" altLang="en-US"/>
              <a:t>头结点数组：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106295" y="3625215"/>
            <a:ext cx="1571625" cy="30384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948555" y="3368675"/>
            <a:ext cx="4145280" cy="32950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353310" y="1159510"/>
            <a:ext cx="6519545" cy="528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63930" y="308610"/>
            <a:ext cx="9528810" cy="5835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按以下顺序输入每条边的两个端点，建立的链式前向星，过程如下：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24890" y="892175"/>
            <a:ext cx="61607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输入：</a:t>
            </a:r>
            <a:r>
              <a:rPr lang="en-US" altLang="zh-CN"/>
              <a:t>1 2 5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963930" y="1520825"/>
            <a:ext cx="7579360" cy="586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创建一条边1—2，权值为5，创建第一条边edge[0]，如图所示。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101" name="图片 100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534593" y="1520825"/>
            <a:ext cx="1552575" cy="476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963930" y="2175510"/>
            <a:ext cx="10049510" cy="8432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然后将该边链接到1号结点的头结点中。即edge[0].next=head[1]; head[1]=0; 表示1号结点关联的第一个条边为0号边，如图所示。图中的虚线箭头仅表示他们之间的链接关系，不是指针。</a:t>
            </a:r>
            <a:endParaRPr lang="zh-CN" altLang="en-US"/>
          </a:p>
        </p:txBody>
      </p:sp>
      <p:pic>
        <p:nvPicPr>
          <p:cNvPr id="102" name="图片 101"/>
          <p:cNvPicPr/>
          <p:nvPr/>
        </p:nvPicPr>
        <p:blipFill>
          <a:blip r:embed="rId3"/>
          <a:stretch>
            <a:fillRect/>
          </a:stretch>
        </p:blipFill>
        <p:spPr>
          <a:xfrm>
            <a:off x="890905" y="3018473"/>
            <a:ext cx="1962150" cy="2466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3893185" y="3256280"/>
            <a:ext cx="5895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因为是无向图，创建其反向边：</a:t>
            </a:r>
            <a:endParaRPr lang="zh-CN" altLang="en-US"/>
          </a:p>
          <a:p>
            <a:r>
              <a:rPr lang="zh-CN" altLang="en-US">
                <a:sym typeface="+mn-ea"/>
              </a:rPr>
              <a:t>然后将该边链接到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号结点的头结点中。</a:t>
            </a:r>
            <a:endParaRPr lang="zh-CN" altLang="en-US"/>
          </a:p>
        </p:txBody>
      </p:sp>
      <p:pic>
        <p:nvPicPr>
          <p:cNvPr id="103" name="图片 102"/>
          <p:cNvPicPr/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336915" y="3177540"/>
            <a:ext cx="15621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4" name="图片 103"/>
          <p:cNvPicPr/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447088" y="3933825"/>
            <a:ext cx="1933575" cy="24193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353310" y="1159510"/>
            <a:ext cx="6519545" cy="528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24890" y="892175"/>
            <a:ext cx="61607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</a:t>
            </a:r>
            <a:r>
              <a:rPr lang="zh-CN" altLang="en-US"/>
              <a:t>输入：</a:t>
            </a:r>
            <a:r>
              <a:rPr lang="en-US" altLang="zh-CN"/>
              <a:t>1 4 3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963930" y="1520825"/>
            <a:ext cx="7579360" cy="586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创建一条边1—4，权值为3，创建第3条边edge[2]，如图所示。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24890" y="2175510"/>
            <a:ext cx="10049510" cy="8432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然后将该边链接到1号结点的头结点中（头插法）。即edge[2].next=head[1]; head[1]=2; 表示1号结点关联的第一个条边为2号边，如图所示。</a:t>
            </a:r>
            <a:endParaRPr lang="zh-CN" altLang="en-US"/>
          </a:p>
        </p:txBody>
      </p:sp>
      <p:pic>
        <p:nvPicPr>
          <p:cNvPr id="105" name="图片 104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453630" y="1451928"/>
            <a:ext cx="1600200" cy="485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257935" y="3042285"/>
            <a:ext cx="4943475" cy="31527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353310" y="1159510"/>
            <a:ext cx="6519545" cy="528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63930" y="819150"/>
            <a:ext cx="9908540" cy="12096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因为是无向图，还需要添加它的反向边，4—1，权值为3。创建第4条边edge[3]，然后将该边链接到4号结点的头结点中。即edge[3].next=head[4]; head[4]=3; 表示4号结点关联的第一个条边为3号边，如图所示。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312795" y="2815590"/>
            <a:ext cx="4600575" cy="32194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353310" y="1159510"/>
            <a:ext cx="6519545" cy="528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63930" y="308610"/>
            <a:ext cx="9528810" cy="5835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ym typeface="+mn-ea"/>
              </a:rPr>
              <a:t>依次输入以下三条边，创建的链式前向星：2 3 8</a:t>
            </a:r>
            <a:r>
              <a:rPr lang="en-US" altLang="zh-CN">
                <a:sym typeface="+mn-ea"/>
              </a:rPr>
              <a:t>         </a:t>
            </a:r>
            <a:r>
              <a:rPr lang="en-US" altLang="zh-CN"/>
              <a:t> </a:t>
            </a:r>
            <a:r>
              <a:rPr lang="zh-CN" altLang="en-US">
                <a:sym typeface="+mn-ea"/>
              </a:rPr>
              <a:t>2 4 12</a:t>
            </a:r>
            <a:r>
              <a:rPr lang="en-US" altLang="zh-CN">
                <a:sym typeface="+mn-ea"/>
              </a:rPr>
              <a:t>          3 4 9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91820" y="1318895"/>
            <a:ext cx="4808855" cy="26663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52270" y="5356860"/>
            <a:ext cx="83058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通过与邻接表对比，可以发现，链式前</a:t>
            </a:r>
            <a:r>
              <a:rPr lang="zh-CN" altLang="en-US">
                <a:sym typeface="+mn-ea"/>
              </a:rPr>
              <a:t>向</a:t>
            </a:r>
            <a:r>
              <a:rPr lang="zh-CN" altLang="en-US"/>
              <a:t>星实际上是用</a:t>
            </a:r>
            <a:r>
              <a:rPr lang="zh-CN" altLang="en-US">
                <a:solidFill>
                  <a:srgbClr val="FF0000"/>
                </a:solidFill>
              </a:rPr>
              <a:t>静态链表</a:t>
            </a:r>
            <a:r>
              <a:rPr lang="zh-CN" altLang="en-US"/>
              <a:t>实现的邻接表。建立链式前</a:t>
            </a:r>
            <a:r>
              <a:rPr lang="zh-CN" altLang="en-US">
                <a:sym typeface="+mn-ea"/>
              </a:rPr>
              <a:t>向</a:t>
            </a:r>
            <a:r>
              <a:rPr lang="zh-CN" altLang="en-US"/>
              <a:t>星的过程实际上是模拟了</a:t>
            </a:r>
            <a:r>
              <a:rPr lang="zh-CN" altLang="en-US"/>
              <a:t>头插法。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697980" y="892175"/>
            <a:ext cx="4948555" cy="42202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661285" y="4067810"/>
            <a:ext cx="1403985" cy="120586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COMMONDATA" val="eyJoZGlkIjoiMjNhN2QzNzIxYTMxZDA2OTMyYTljMDA5MmRhYmMwNjc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1207</Words>
  <Application>WPS 演示</Application>
  <PresentationFormat>宽屏</PresentationFormat>
  <Paragraphs>61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汉仪旗黑</vt:lpstr>
      <vt:lpstr>Calibri</vt:lpstr>
      <vt:lpstr>Helvetica Neue</vt:lpstr>
      <vt:lpstr>微软雅黑</vt:lpstr>
      <vt:lpstr>宋体</vt:lpstr>
      <vt:lpstr>Arial Unicode MS</vt:lpstr>
      <vt:lpstr>汉仪书宋二KW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pipi</cp:lastModifiedBy>
  <cp:revision>29</cp:revision>
  <dcterms:created xsi:type="dcterms:W3CDTF">2025-04-03T13:40:24Z</dcterms:created>
  <dcterms:modified xsi:type="dcterms:W3CDTF">2025-04-03T13:40:24Z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39D95B3D507C44309E7C251695CCA2D4_12</vt:lpwstr>
  </property>
  <property fmtid="{D5CDD505-2E9C-101B-9397-08002B2CF9AE}" pid="3" name="KSOProductBuildVer">
    <vt:lpwstr>2052-6.15.2.8936</vt:lpwstr>
  </property>
</Properties>
</file>