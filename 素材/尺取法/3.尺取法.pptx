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2.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尺</a:t>
            </a:r>
            <a:r>
              <a:rPr lang="zh-CN" altLang="en-US"/>
              <a:t>蠼</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838835" y="528955"/>
            <a:ext cx="10200005" cy="5473700"/>
          </a:xfrm>
          <a:prstGeom prst="rect">
            <a:avLst/>
          </a:prstGeom>
          <a:noFill/>
        </p:spPr>
        <p:txBody>
          <a:bodyPr wrap="square" rtlCol="0">
            <a:noAutofit/>
          </a:bodyPr>
          <a:p>
            <a:r>
              <a:rPr lang="zh-CN" altLang="en-US"/>
              <a:t>尺取法</a:t>
            </a:r>
            <a:r>
              <a:rPr lang="en-US" altLang="zh-CN"/>
              <a:t>（</a:t>
            </a:r>
            <a:r>
              <a:rPr lang="zh-CN" altLang="en-US"/>
              <a:t>滑动窗口</a:t>
            </a:r>
            <a:r>
              <a:rPr lang="en-US" altLang="zh-CN"/>
              <a:t>/</a:t>
            </a:r>
            <a:r>
              <a:rPr lang="zh-CN" altLang="en-US"/>
              <a:t>双指针法</a:t>
            </a:r>
            <a:r>
              <a:rPr lang="en-US" altLang="zh-CN"/>
              <a:t>）</a:t>
            </a:r>
            <a:r>
              <a:rPr lang="zh-CN" altLang="en-US"/>
              <a:t>：一种利用</a:t>
            </a:r>
            <a:r>
              <a:rPr lang="zh-CN" altLang="en-US">
                <a:solidFill>
                  <a:srgbClr val="FF0000"/>
                </a:solidFill>
              </a:rPr>
              <a:t>双指针遍历</a:t>
            </a:r>
            <a:r>
              <a:rPr lang="zh-CN" altLang="en-US"/>
              <a:t>获取满足条件的区间（</a:t>
            </a:r>
            <a:r>
              <a:rPr lang="zh-CN" altLang="en-US"/>
              <a:t>滑动窗口）的算法。</a:t>
            </a:r>
            <a:endParaRPr lang="zh-CN" altLang="en-US"/>
          </a:p>
          <a:p>
            <a:endParaRPr lang="zh-CN" altLang="en-US"/>
          </a:p>
          <a:p>
            <a:r>
              <a:rPr lang="zh-CN" altLang="en-US"/>
              <a:t>其为一种线性算法。过程</a:t>
            </a:r>
            <a:r>
              <a:rPr lang="zh-CN" altLang="en-US"/>
              <a:t>为：枚举</a:t>
            </a:r>
            <a:r>
              <a:rPr lang="en-US" altLang="zh-CN"/>
              <a:t>r</a:t>
            </a:r>
            <a:r>
              <a:rPr lang="zh-CN" altLang="en-US"/>
              <a:t>，不断得到</a:t>
            </a:r>
            <a:r>
              <a:rPr lang="zh-CN" altLang="en-US"/>
              <a:t>合法区间。记(l, r)为一个序列内以</a:t>
            </a:r>
            <a:r>
              <a:rPr lang="en-US" altLang="zh-CN"/>
              <a:t>r</a:t>
            </a:r>
            <a:r>
              <a:rPr lang="zh-CN" altLang="en-US"/>
              <a:t>为终点的合法区间，</a:t>
            </a:r>
            <a:r>
              <a:rPr lang="zh-CN" altLang="en-US"/>
              <a:t>然后枚举l，随着</a:t>
            </a:r>
            <a:r>
              <a:rPr lang="en-US" altLang="zh-CN"/>
              <a:t>l</a:t>
            </a:r>
            <a:r>
              <a:rPr lang="zh-CN" altLang="en-US"/>
              <a:t>的增大，区间不断缩小，直至不合法</a:t>
            </a:r>
            <a:r>
              <a:rPr lang="zh-CN" altLang="en-US"/>
              <a:t>为止。时间复杂度为O(n)。</a:t>
            </a:r>
            <a:endParaRPr lang="zh-CN" altLang="en-US"/>
          </a:p>
          <a:p>
            <a:endParaRPr lang="zh-CN" altLang="en-US"/>
          </a:p>
          <a:p>
            <a:r>
              <a:rPr lang="zh-CN" altLang="en-US"/>
              <a:t>尺取法需要满足的条件： 区间权值和大小满足随区间长度</a:t>
            </a:r>
            <a:r>
              <a:rPr lang="zh-CN" altLang="en-US">
                <a:solidFill>
                  <a:srgbClr val="FF0000"/>
                </a:solidFill>
              </a:rPr>
              <a:t>单调变化</a:t>
            </a:r>
            <a:r>
              <a:rPr lang="zh-CN" altLang="en-US"/>
              <a:t>，即当一个边界固定时</a:t>
            </a:r>
            <a:r>
              <a:rPr lang="en-US" altLang="zh-CN"/>
              <a:t>，</a:t>
            </a:r>
            <a:r>
              <a:rPr lang="zh-CN" altLang="en-US"/>
              <a:t>区间越长区间权值</a:t>
            </a:r>
            <a:r>
              <a:rPr lang="zh-CN" altLang="en-US"/>
              <a:t>和越小（或越大）。</a:t>
            </a:r>
            <a:endParaRPr lang="zh-CN" altLang="en-US"/>
          </a:p>
          <a:p>
            <a:endParaRPr lang="zh-CN" altLang="en-US"/>
          </a:p>
          <a:p>
            <a:r>
              <a:rPr lang="zh-CN" altLang="en-US"/>
              <a:t>尺取法的优点： 不会去枚举到一定不满足条件的区间。不会枚举到虽然满足条件</a:t>
            </a:r>
            <a:r>
              <a:rPr lang="zh-CN" altLang="en-US"/>
              <a:t>但一定不是答案的</a:t>
            </a:r>
            <a:r>
              <a:rPr lang="zh-CN" altLang="en-US"/>
              <a:t>区间</a:t>
            </a:r>
            <a:endParaRPr lang="zh-CN" altLang="en-US"/>
          </a:p>
          <a:p>
            <a:endParaRPr lang="zh-CN" altLang="en-US"/>
          </a:p>
          <a:p>
            <a:r>
              <a:rPr lang="zh-CN" altLang="en-US"/>
              <a:t>尺取法比直接暴力枚举区间效率高很多，尤其是数据量大的时候，所以说尺取法是一种高效的枚举区间的方法，是一种技巧，</a:t>
            </a:r>
            <a:r>
              <a:rPr lang="zh-CN" altLang="en-US">
                <a:solidFill>
                  <a:srgbClr val="FF0000"/>
                </a:solidFill>
              </a:rPr>
              <a:t>一般用于求取有一定限制的区间个数或最短的区间</a:t>
            </a:r>
            <a:r>
              <a:rPr lang="zh-CN" altLang="en-US"/>
              <a:t>等等。当然任何技巧都存在其不足的地方，有些情况下尺取法不可行，无法得出正确答案，所以要先判断是否可以使用尺取法再进行计算。</a:t>
            </a:r>
            <a:endParaRPr lang="zh-CN" altLang="en-US"/>
          </a:p>
          <a:p>
            <a:endParaRPr lang="zh-CN" altLang="en-US"/>
          </a:p>
          <a:p>
            <a:endParaRPr lang="zh-CN" altLang="en-US"/>
          </a:p>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407670"/>
            <a:ext cx="8776970" cy="894715"/>
          </a:xfrm>
          <a:prstGeom prst="rect">
            <a:avLst/>
          </a:prstGeom>
          <a:noFill/>
        </p:spPr>
        <p:txBody>
          <a:bodyPr wrap="square" rtlCol="0">
            <a:noAutofit/>
          </a:bodyPr>
          <a:p>
            <a:r>
              <a:rPr lang="zh-CN" altLang="en-US"/>
              <a:t>https://leetcode.cn/problems/2VG8Kg/</a:t>
            </a:r>
            <a:endParaRPr lang="zh-CN" altLang="en-US"/>
          </a:p>
        </p:txBody>
      </p:sp>
      <p:sp>
        <p:nvSpPr>
          <p:cNvPr id="3" name="文本框 2"/>
          <p:cNvSpPr txBox="1"/>
          <p:nvPr/>
        </p:nvSpPr>
        <p:spPr>
          <a:xfrm>
            <a:off x="1221105" y="1301750"/>
            <a:ext cx="7778115" cy="368300"/>
          </a:xfrm>
          <a:prstGeom prst="rect">
            <a:avLst/>
          </a:prstGeom>
          <a:noFill/>
        </p:spPr>
        <p:txBody>
          <a:bodyPr wrap="square" rtlCol="0">
            <a:spAutoFit/>
          </a:bodyPr>
          <a:p>
            <a:r>
              <a:rPr lang="zh-CN" altLang="en-US"/>
              <a:t>思路：</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407670"/>
            <a:ext cx="8776970" cy="894715"/>
          </a:xfrm>
          <a:prstGeom prst="rect">
            <a:avLst/>
          </a:prstGeom>
          <a:noFill/>
        </p:spPr>
        <p:txBody>
          <a:bodyPr wrap="square" rtlCol="0">
            <a:noAutofit/>
          </a:bodyPr>
          <a:p>
            <a:r>
              <a:rPr lang="zh-CN" altLang="en-US"/>
              <a:t>https://leetcode.cn/problems/2VG8Kg/</a:t>
            </a:r>
            <a:endParaRPr lang="zh-CN" altLang="en-US"/>
          </a:p>
        </p:txBody>
      </p:sp>
      <p:sp>
        <p:nvSpPr>
          <p:cNvPr id="3" name="文本框 2"/>
          <p:cNvSpPr txBox="1"/>
          <p:nvPr/>
        </p:nvSpPr>
        <p:spPr>
          <a:xfrm>
            <a:off x="1221105" y="1301750"/>
            <a:ext cx="7778115" cy="368300"/>
          </a:xfrm>
          <a:prstGeom prst="rect">
            <a:avLst/>
          </a:prstGeom>
          <a:noFill/>
        </p:spPr>
        <p:txBody>
          <a:bodyPr wrap="square" rtlCol="0">
            <a:spAutoFit/>
          </a:bodyPr>
          <a:p>
            <a:r>
              <a:rPr lang="zh-CN" altLang="en-US"/>
              <a:t>思路：注意边界情况：</a:t>
            </a:r>
            <a:r>
              <a:rPr lang="en-US" altLang="zh-CN"/>
              <a:t>nums</a:t>
            </a:r>
            <a:r>
              <a:rPr lang="zh-CN" altLang="en-US"/>
              <a:t>中所有元素和</a:t>
            </a:r>
            <a:r>
              <a:rPr lang="en-US" altLang="zh-CN"/>
              <a:t>&lt;target</a:t>
            </a:r>
            <a:r>
              <a:rPr lang="zh-CN" altLang="en-US"/>
              <a:t>，答案为</a:t>
            </a:r>
            <a:r>
              <a:rPr lang="en-US" altLang="zh-CN"/>
              <a:t>0</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1669415" y="2300605"/>
            <a:ext cx="9189085" cy="18821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08100" y="346710"/>
            <a:ext cx="8776970" cy="894715"/>
          </a:xfrm>
          <a:prstGeom prst="rect">
            <a:avLst/>
          </a:prstGeom>
          <a:noFill/>
        </p:spPr>
        <p:txBody>
          <a:bodyPr wrap="square" rtlCol="0">
            <a:noAutofit/>
          </a:bodyPr>
          <a:p>
            <a:r>
              <a:rPr lang="zh-CN" altLang="en-US"/>
              <a:t>https://leetcode.cn/problems/subarray-product-less-than-k/description/</a:t>
            </a:r>
            <a:endParaRPr lang="zh-CN" altLang="en-US"/>
          </a:p>
        </p:txBody>
      </p:sp>
      <p:sp>
        <p:nvSpPr>
          <p:cNvPr id="3" name="文本框 2"/>
          <p:cNvSpPr txBox="1"/>
          <p:nvPr/>
        </p:nvSpPr>
        <p:spPr>
          <a:xfrm>
            <a:off x="1221105" y="1301750"/>
            <a:ext cx="7778115" cy="368300"/>
          </a:xfrm>
          <a:prstGeom prst="rect">
            <a:avLst/>
          </a:prstGeom>
          <a:noFill/>
        </p:spPr>
        <p:txBody>
          <a:bodyPr wrap="square" rtlCol="0">
            <a:spAutoFit/>
          </a:bodyPr>
          <a:p>
            <a:r>
              <a:rPr lang="zh-CN" altLang="en-US"/>
              <a:t>思路：</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08100" y="346710"/>
            <a:ext cx="8776970" cy="894715"/>
          </a:xfrm>
          <a:prstGeom prst="rect">
            <a:avLst/>
          </a:prstGeom>
          <a:noFill/>
        </p:spPr>
        <p:txBody>
          <a:bodyPr wrap="square" rtlCol="0">
            <a:noAutofit/>
          </a:bodyPr>
          <a:p>
            <a:r>
              <a:rPr lang="zh-CN" altLang="en-US"/>
              <a:t>https://leetcode.cn/problems/subarray-product-less-than-k/description/</a:t>
            </a:r>
            <a:endParaRPr lang="zh-CN" altLang="en-US"/>
          </a:p>
        </p:txBody>
      </p:sp>
      <p:sp>
        <p:nvSpPr>
          <p:cNvPr id="3" name="文本框 2"/>
          <p:cNvSpPr txBox="1"/>
          <p:nvPr/>
        </p:nvSpPr>
        <p:spPr>
          <a:xfrm>
            <a:off x="1221105" y="1301750"/>
            <a:ext cx="9114790" cy="3467100"/>
          </a:xfrm>
          <a:prstGeom prst="rect">
            <a:avLst/>
          </a:prstGeom>
          <a:noFill/>
        </p:spPr>
        <p:txBody>
          <a:bodyPr wrap="square" rtlCol="0">
            <a:noAutofit/>
          </a:bodyPr>
          <a:p>
            <a:r>
              <a:rPr lang="zh-CN" altLang="en-US"/>
              <a:t>思路：本题只需记录以每个数字为右边界所形成的有效子数组的个数。</a:t>
            </a:r>
            <a:endParaRPr lang="zh-CN" altLang="en-US"/>
          </a:p>
          <a:p>
            <a:endParaRPr lang="zh-CN" altLang="en-US"/>
          </a:p>
          <a:p>
            <a:r>
              <a:rPr lang="en-US" altLang="zh-CN"/>
              <a:t>1.</a:t>
            </a:r>
            <a:r>
              <a:rPr lang="zh-CN" altLang="en-US"/>
              <a:t>初始化 left、right 两个指针，我们计算 [left,right] 区间内的数字组成的乘积。</a:t>
            </a:r>
            <a:endParaRPr lang="zh-CN" altLang="en-US"/>
          </a:p>
          <a:p>
            <a:endParaRPr lang="en-US" altLang="zh-CN"/>
          </a:p>
          <a:p>
            <a:r>
              <a:rPr lang="en-US" altLang="zh-CN"/>
              <a:t>2.</a:t>
            </a:r>
            <a:r>
              <a:rPr lang="zh-CN" altLang="en-US"/>
              <a:t>每次循环，移动</a:t>
            </a:r>
            <a:r>
              <a:rPr lang="en-US" altLang="zh-CN"/>
              <a:t>right 指针</a:t>
            </a:r>
            <a:r>
              <a:rPr lang="zh-CN" altLang="en-US"/>
              <a:t>，</a:t>
            </a:r>
            <a:r>
              <a:rPr lang="en-US" altLang="zh-CN">
                <a:sym typeface="+mn-ea"/>
              </a:rPr>
              <a:t>right</a:t>
            </a:r>
            <a:r>
              <a:rPr lang="en-US" altLang="zh-CN"/>
              <a:t>每划过一个数，我们就将该数字与前面的乘积进行累乘。</a:t>
            </a:r>
            <a:endParaRPr lang="en-US" altLang="zh-CN"/>
          </a:p>
          <a:p>
            <a:endParaRPr lang="en-US" altLang="zh-CN"/>
          </a:p>
          <a:p>
            <a:r>
              <a:rPr lang="en-US" altLang="zh-CN"/>
              <a:t>3.如果当前乘积 &gt;= k，我们就开始移动 left 指针以期减少累乘的结果。</a:t>
            </a:r>
            <a:endParaRPr lang="en-US" altLang="zh-CN"/>
          </a:p>
          <a:p>
            <a:endParaRPr lang="en-US" altLang="zh-CN"/>
          </a:p>
          <a:p>
            <a:r>
              <a:rPr lang="en-US" altLang="zh-CN"/>
              <a:t>4.计算以 right 为右边界所形成的有效子数组的个数（right - left + 1</a:t>
            </a:r>
            <a:r>
              <a:rPr lang="zh-CN" altLang="en-US"/>
              <a:t>）。</a:t>
            </a:r>
            <a:endParaRPr lang="en-US" altLang="zh-CN"/>
          </a:p>
          <a:p>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407670"/>
            <a:ext cx="9974580" cy="711835"/>
          </a:xfrm>
          <a:prstGeom prst="rect">
            <a:avLst/>
          </a:prstGeom>
          <a:noFill/>
        </p:spPr>
        <p:txBody>
          <a:bodyPr wrap="square" rtlCol="0">
            <a:noAutofit/>
          </a:bodyPr>
          <a:p>
            <a:r>
              <a:rPr lang="zh-CN" altLang="en-US"/>
              <a:t>https://leetcode.cn/problems/minimum-recolors-to-get-k-consecutive-black-blocks/description/</a:t>
            </a:r>
            <a:endParaRPr lang="zh-CN" altLang="en-US"/>
          </a:p>
        </p:txBody>
      </p:sp>
      <p:sp>
        <p:nvSpPr>
          <p:cNvPr id="3" name="文本框 2"/>
          <p:cNvSpPr txBox="1"/>
          <p:nvPr/>
        </p:nvSpPr>
        <p:spPr>
          <a:xfrm>
            <a:off x="1221105" y="1301750"/>
            <a:ext cx="7778115" cy="368300"/>
          </a:xfrm>
          <a:prstGeom prst="rect">
            <a:avLst/>
          </a:prstGeom>
          <a:noFill/>
        </p:spPr>
        <p:txBody>
          <a:bodyPr wrap="square" rtlCol="0">
            <a:spAutoFit/>
          </a:bodyPr>
          <a:p>
            <a:r>
              <a:rPr lang="zh-CN" altLang="en-US"/>
              <a:t>思路：</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407670"/>
            <a:ext cx="9974580" cy="711835"/>
          </a:xfrm>
          <a:prstGeom prst="rect">
            <a:avLst/>
          </a:prstGeom>
          <a:noFill/>
        </p:spPr>
        <p:txBody>
          <a:bodyPr wrap="square" rtlCol="0">
            <a:noAutofit/>
          </a:bodyPr>
          <a:p>
            <a:r>
              <a:rPr lang="zh-CN" altLang="en-US"/>
              <a:t>https://leetcode.cn/problems/minimum-recolors-to-get-k-consecutive-black-blocks/description/</a:t>
            </a:r>
            <a:endParaRPr lang="zh-CN" altLang="en-US"/>
          </a:p>
        </p:txBody>
      </p:sp>
      <p:sp>
        <p:nvSpPr>
          <p:cNvPr id="3" name="文本框 2"/>
          <p:cNvSpPr txBox="1"/>
          <p:nvPr/>
        </p:nvSpPr>
        <p:spPr>
          <a:xfrm>
            <a:off x="1360170" y="1544955"/>
            <a:ext cx="8888730" cy="2694305"/>
          </a:xfrm>
          <a:prstGeom prst="rect">
            <a:avLst/>
          </a:prstGeom>
          <a:noFill/>
        </p:spPr>
        <p:txBody>
          <a:bodyPr wrap="square" rtlCol="0">
            <a:noAutofit/>
          </a:bodyPr>
          <a:p>
            <a:r>
              <a:rPr lang="zh-CN" altLang="en-US"/>
              <a:t>思路：题目实际上求的是一个 k 大小的滑动窗口中白色块的最小数量。</a:t>
            </a:r>
            <a:endParaRPr lang="zh-CN" altLang="en-US"/>
          </a:p>
          <a:p>
            <a:endParaRPr lang="zh-CN" altLang="en-US"/>
          </a:p>
          <a:p>
            <a:r>
              <a:rPr lang="zh-CN" altLang="en-US"/>
              <a:t>我们只需要在滑动窗口从左向右移动的过程中维护窗口中白色块的数目，最后返回移动过程中白色块数目的最小值即为</a:t>
            </a:r>
            <a:r>
              <a:rPr lang="zh-CN" altLang="en-US"/>
              <a:t>答案。</a:t>
            </a:r>
            <a:endParaRPr lang="zh-CN" altLang="en-US"/>
          </a:p>
          <a:p>
            <a:endParaRPr lang="zh-CN" altLang="en-US"/>
          </a:p>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221105" y="1301750"/>
            <a:ext cx="9382125" cy="4819650"/>
          </a:xfrm>
          <a:prstGeom prst="rect">
            <a:avLst/>
          </a:prstGeom>
          <a:noFill/>
        </p:spPr>
        <p:txBody>
          <a:bodyPr wrap="square" rtlCol="0">
            <a:noAutofit/>
          </a:bodyPr>
          <a:p>
            <a:r>
              <a:rPr lang="zh-CN" altLang="en-US"/>
              <a:t>下节课课上例题</a:t>
            </a:r>
            <a:r>
              <a:rPr lang="en-US" altLang="zh-CN"/>
              <a:t>：</a:t>
            </a:r>
            <a:endParaRPr lang="en-US" altLang="zh-CN"/>
          </a:p>
          <a:p>
            <a:r>
              <a:rPr lang="zh-CN" altLang="en-US"/>
              <a:t>洛谷</a:t>
            </a:r>
            <a:r>
              <a:rPr lang="en-US" altLang="zh-CN"/>
              <a:t>：P1873</a:t>
            </a:r>
            <a:endParaRPr lang="en-US" altLang="zh-CN"/>
          </a:p>
          <a:p>
            <a:r>
              <a:rPr lang="zh-CN" altLang="en-US"/>
              <a:t>力扣</a:t>
            </a:r>
            <a:r>
              <a:rPr lang="en-US" altLang="zh-CN"/>
              <a:t>：LCR 073</a:t>
            </a:r>
            <a:endParaRPr lang="en-US" altLang="zh-CN"/>
          </a:p>
          <a:p>
            <a:endParaRPr lang="en-US" altLang="zh-CN"/>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MjNhN2QzNzIxYTMxZDA2OTMyYTljMDA5MmRhYmMwNjcifQ=="/>
  <p:tag name="KSO_WPP_MARK_KEY" val="e181af14-8ac1-463e-8db0-9298810a005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1142</Words>
  <Application>WPS 表格</Application>
  <PresentationFormat>宽屏</PresentationFormat>
  <Paragraphs>55</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宋体</vt:lpstr>
      <vt:lpstr>Wingdings</vt:lpstr>
      <vt:lpstr>微软雅黑</vt:lpstr>
      <vt:lpstr>汉仪旗黑</vt:lpstr>
      <vt:lpstr>Calibri</vt:lpstr>
      <vt:lpstr>Helvetica Neue</vt:lpstr>
      <vt:lpstr>微软雅黑</vt:lpstr>
      <vt:lpstr>宋体</vt:lpstr>
      <vt:lpstr>Arial Unicode MS</vt:lpstr>
      <vt:lpstr>汉仪书宋二KW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pipi</cp:lastModifiedBy>
  <cp:revision>12</cp:revision>
  <dcterms:created xsi:type="dcterms:W3CDTF">2025-02-20T14:06:25Z</dcterms:created>
  <dcterms:modified xsi:type="dcterms:W3CDTF">2025-02-20T14:06:25Z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0D1D6AE0D9F74A52A88B049BA510D390_12</vt:lpwstr>
  </property>
  <property fmtid="{D5CDD505-2E9C-101B-9397-08002B2CF9AE}" pid="3" name="KSOProductBuildVer">
    <vt:lpwstr>2052-6.15.2.8936</vt:lpwstr>
  </property>
</Properties>
</file>