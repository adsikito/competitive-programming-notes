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357" r:id="rId3"/>
    <p:sldId id="476" r:id="rId4"/>
    <p:sldId id="458" r:id="rId5"/>
    <p:sldId id="459" r:id="rId6"/>
    <p:sldId id="477" r:id="rId7"/>
    <p:sldId id="478" r:id="rId8"/>
    <p:sldId id="479" r:id="rId9"/>
    <p:sldId id="460" r:id="rId10"/>
    <p:sldId id="461" r:id="rId11"/>
    <p:sldId id="462" r:id="rId12"/>
    <p:sldId id="480" r:id="rId13"/>
    <p:sldId id="463" r:id="rId14"/>
    <p:sldId id="464" r:id="rId15"/>
    <p:sldId id="499" r:id="rId16"/>
    <p:sldId id="465" r:id="rId17"/>
    <p:sldId id="466" r:id="rId18"/>
    <p:sldId id="467" r:id="rId19"/>
    <p:sldId id="468" r:id="rId20"/>
    <p:sldId id="471" r:id="rId21"/>
    <p:sldId id="469" r:id="rId22"/>
    <p:sldId id="472" r:id="rId23"/>
    <p:sldId id="500" r:id="rId24"/>
    <p:sldId id="501" r:id="rId25"/>
  </p:sldIdLst>
  <p:sldSz cx="12192000" cy="6858000"/>
  <p:notesSz cx="6858000" cy="9144000"/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gs" Target="tags/tag50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6" Type="http://schemas.openxmlformats.org/officeDocument/2006/relationships/tags" Target="../tags/tag6.xml"/><Relationship Id="rId5" Type="http://schemas.openxmlformats.org/officeDocument/2006/relationships/image" Target="../media/image2.png"/><Relationship Id="rId4" Type="http://schemas.openxmlformats.org/officeDocument/2006/relationships/tags" Target="../tags/tag5.xml"/><Relationship Id="rId3" Type="http://schemas.openxmlformats.org/officeDocument/2006/relationships/image" Target="../media/image1.png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tags" Target="../tags/tag9.xml"/><Relationship Id="rId3" Type="http://schemas.openxmlformats.org/officeDocument/2006/relationships/image" Target="../media/image4.png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tags" Target="../tags/tag12.xml"/><Relationship Id="rId3" Type="http://schemas.openxmlformats.org/officeDocument/2006/relationships/image" Target="../media/image1.png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tags" Target="../tags/tag15.xml"/><Relationship Id="rId3" Type="http://schemas.openxmlformats.org/officeDocument/2006/relationships/image" Target="../media/image1.png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tags" Target="../tags/tag18.xml"/><Relationship Id="rId3" Type="http://schemas.openxmlformats.org/officeDocument/2006/relationships/image" Target="../media/image1.png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tags" Target="../tags/tag23.xml"/><Relationship Id="rId3" Type="http://schemas.openxmlformats.org/officeDocument/2006/relationships/image" Target="../media/image8.png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tags" Target="../tags/tag31.xml"/><Relationship Id="rId1" Type="http://schemas.openxmlformats.org/officeDocument/2006/relationships/tags" Target="../tags/tag30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tags" Target="../tags/tag34.xml"/><Relationship Id="rId3" Type="http://schemas.openxmlformats.org/officeDocument/2006/relationships/image" Target="../media/image12.png"/><Relationship Id="rId2" Type="http://schemas.openxmlformats.org/officeDocument/2006/relationships/tags" Target="../tags/tag33.xml"/><Relationship Id="rId1" Type="http://schemas.openxmlformats.org/officeDocument/2006/relationships/tags" Target="../tags/tag32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tags" Target="../tags/tag37.xml"/><Relationship Id="rId3" Type="http://schemas.openxmlformats.org/officeDocument/2006/relationships/image" Target="../media/image14.png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tags" Target="../tags/tag39.xml"/><Relationship Id="rId1" Type="http://schemas.openxmlformats.org/officeDocument/2006/relationships/tags" Target="../tags/tag38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tags" Target="../tags/tag42.xml"/><Relationship Id="rId3" Type="http://schemas.openxmlformats.org/officeDocument/2006/relationships/image" Target="../media/image17.png"/><Relationship Id="rId2" Type="http://schemas.openxmlformats.org/officeDocument/2006/relationships/tags" Target="../tags/tag41.xml"/><Relationship Id="rId1" Type="http://schemas.openxmlformats.org/officeDocument/2006/relationships/tags" Target="../tags/tag40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tags" Target="../tags/tag45.xml"/><Relationship Id="rId3" Type="http://schemas.openxmlformats.org/officeDocument/2006/relationships/image" Target="../media/image19.png"/><Relationship Id="rId2" Type="http://schemas.openxmlformats.org/officeDocument/2006/relationships/tags" Target="../tags/tag44.xml"/><Relationship Id="rId1" Type="http://schemas.openxmlformats.org/officeDocument/2006/relationships/tags" Target="../tags/tag4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46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1.png"/><Relationship Id="rId2" Type="http://schemas.openxmlformats.org/officeDocument/2006/relationships/tags" Target="../tags/tag48.xml"/><Relationship Id="rId1" Type="http://schemas.openxmlformats.org/officeDocument/2006/relationships/tags" Target="../tags/tag4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4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0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先看一个</a:t>
            </a:r>
            <a:r>
              <a:rPr lang="zh-CN" altLang="en-US" strike="sngStrike">
                <a:solidFill>
                  <a:schemeClr val="tx1"/>
                </a:solidFill>
                <a:sym typeface="+mn-ea"/>
              </a:rPr>
              <a:t>非常简单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的题目：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给定一个含有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n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个元素的数组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，有两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类操作：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1.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修改某个元素的值。（单点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修改）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2.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求前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k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个元素的和。（前缀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和）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进行</a:t>
            </a:r>
            <a:r>
              <a:rPr lang="en-US" altLang="zh-CN">
                <a:sym typeface="+mn-ea"/>
              </a:rPr>
              <a:t>m</a:t>
            </a:r>
            <a:r>
              <a:rPr lang="zh-CN" altLang="en-US">
                <a:sym typeface="+mn-ea"/>
              </a:rPr>
              <a:t>次操作，每次操作都是这两类中的一种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ym typeface="+mn-ea"/>
              </a:rPr>
              <a:t> 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0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先看一个</a:t>
            </a:r>
            <a:r>
              <a:rPr lang="zh-CN" altLang="en-US" strike="sngStrike">
                <a:solidFill>
                  <a:schemeClr val="tx1"/>
                </a:solidFill>
                <a:sym typeface="+mn-ea"/>
              </a:rPr>
              <a:t>非常简单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的题目：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给定一个含有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n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个元素的数组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，有两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类操作：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1.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修改某个元素的值。（单点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修改）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2.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求前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k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个元素的和。（前缀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和）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进行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m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次操作，每次操作都是这两类中的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一种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思路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：暴力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---&gt;O(m*n)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可能会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超时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思路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2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：线段树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---&gt;</a:t>
            </a:r>
            <a:r>
              <a:rPr lang="en-US" altLang="zh-CN">
                <a:sym typeface="+mn-ea"/>
              </a:rPr>
              <a:t>O(m*logn)</a:t>
            </a:r>
            <a:r>
              <a:rPr lang="zh-CN" altLang="en-US">
                <a:sym typeface="+mn-ea"/>
              </a:rPr>
              <a:t>，但是线段树空间太大，</a:t>
            </a:r>
            <a:r>
              <a:rPr lang="zh-CN" altLang="en-US">
                <a:sym typeface="+mn-ea"/>
              </a:rPr>
              <a:t>而且代码好多哦</a:t>
            </a:r>
            <a:r>
              <a:rPr lang="en-US" altLang="zh-CN">
                <a:sym typeface="+mn-ea"/>
              </a:rPr>
              <a:t>~~~</a:t>
            </a: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有没有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时间复杂度和线段树差不多，空间也不太大，代码也很简洁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的思路</a:t>
            </a:r>
            <a:r>
              <a:rPr lang="zh-CN" altLang="en-US">
                <a:sym typeface="+mn-ea"/>
              </a:rPr>
              <a:t>呢？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ym typeface="+mn-ea"/>
              </a:rPr>
              <a:t>   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暴力思路，每次</a:t>
            </a:r>
            <a:r>
              <a:rPr lang="zh-CN" altLang="en-US">
                <a:sym typeface="+mn-ea"/>
              </a:rPr>
              <a:t>操作直接循环 很慢。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优化：两两求和保存在另一个数组中，后续求前缀和时时间节省一半，修改时也只需要多修改一个数即可。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但感觉还是很慢，那干脆多加几层（每一层对应一个新</a:t>
            </a:r>
            <a:r>
              <a:rPr lang="zh-CN" altLang="en-US">
                <a:sym typeface="+mn-ea"/>
              </a:rPr>
              <a:t>的数组），对第二层再两两求和，以此</a:t>
            </a:r>
            <a:r>
              <a:rPr lang="zh-CN" altLang="en-US">
                <a:sym typeface="+mn-ea"/>
              </a:rPr>
              <a:t>类推。。。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这样，</a:t>
            </a:r>
            <a:r>
              <a:rPr lang="zh-CN" altLang="en-US">
                <a:sym typeface="+mn-ea"/>
              </a:rPr>
              <a:t>每次求前缀和的时候直接利用这些数组快速求就可以</a:t>
            </a:r>
            <a:r>
              <a:rPr lang="zh-CN" altLang="en-US">
                <a:sym typeface="+mn-ea"/>
              </a:rPr>
              <a:t>了。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9600" y="3898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新的</a:t>
            </a:r>
            <a:r>
              <a:rPr lang="zh-CN" altLang="en-US"/>
              <a:t>思路：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397760" y="405765"/>
            <a:ext cx="6600825" cy="3524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793365" y="2218690"/>
            <a:ext cx="5810250" cy="7143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793365" y="3923665"/>
            <a:ext cx="5819775" cy="17430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0" indent="457200">
              <a:buNone/>
            </a:pPr>
            <a:r>
              <a:rPr lang="zh-CN" altLang="en-US">
                <a:sym typeface="+mn-ea"/>
              </a:rPr>
              <a:t> </a:t>
            </a:r>
            <a:r>
              <a:rPr lang="en-US" altLang="zh-CN">
                <a:sym typeface="+mn-ea"/>
              </a:rPr>
              <a:t>     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例如：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求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[1,13]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的前缀和：下图中的三个数相加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即可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修改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a[7]: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依次修改这些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即可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113280" y="1388110"/>
            <a:ext cx="6686550" cy="21812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776220" y="4295775"/>
            <a:ext cx="6638925" cy="22002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40576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这个结构仿佛</a:t>
            </a:r>
            <a:r>
              <a:rPr lang="zh-CN" altLang="en-US">
                <a:sym typeface="+mn-ea"/>
              </a:rPr>
              <a:t>见过：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9600" y="3898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新的</a:t>
            </a:r>
            <a:r>
              <a:rPr lang="zh-CN" altLang="en-US"/>
              <a:t>思路：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397760" y="405765"/>
            <a:ext cx="6600825" cy="3524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788285" y="1064895"/>
            <a:ext cx="5819775" cy="17430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40576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这个结构仿佛见过：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线段树！！！</a:t>
            </a:r>
            <a:endParaRPr lang="zh-CN" altLang="en-US">
              <a:solidFill>
                <a:srgbClr val="FF0000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所以，线段树也可以从这个角度理解</a:t>
            </a:r>
            <a:r>
              <a:rPr lang="zh-CN" altLang="en-US">
                <a:sym typeface="+mn-ea"/>
              </a:rPr>
              <a:t>耶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9600" y="3898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新的</a:t>
            </a:r>
            <a:r>
              <a:rPr lang="zh-CN" altLang="en-US"/>
              <a:t>思路：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397760" y="405765"/>
            <a:ext cx="6600825" cy="3524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788285" y="1064895"/>
            <a:ext cx="5819775" cy="17430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40576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我们再来研究这个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由若干个数组（一层是一个</a:t>
            </a:r>
            <a:r>
              <a:rPr lang="zh-CN" altLang="en-US">
                <a:sym typeface="+mn-ea"/>
              </a:rPr>
              <a:t>数组）组成的</a:t>
            </a:r>
            <a:r>
              <a:rPr lang="zh-CN" altLang="en-US">
                <a:sym typeface="+mn-ea"/>
              </a:rPr>
              <a:t>结构：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会发现在求前缀和的时候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每一层的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偶数下标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的元素是用不到</a:t>
            </a:r>
            <a:r>
              <a:rPr lang="zh-CN" altLang="en-US">
                <a:sym typeface="+mn-ea"/>
              </a:rPr>
              <a:t>的：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任意举例：</a:t>
            </a:r>
            <a:r>
              <a:rPr lang="en-US" altLang="zh-CN">
                <a:sym typeface="+mn-ea"/>
              </a:rPr>
              <a:t>sum[1,11]: 31+5+1   sum[1,10]: 31+5    sum[1,8]:31    sum[1,6]:19+10....</a:t>
            </a: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那么干脆把每层的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偶数下标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的元素删掉：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9600" y="3898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新的</a:t>
            </a:r>
            <a:r>
              <a:rPr lang="zh-CN" altLang="en-US"/>
              <a:t>思路：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397760" y="405765"/>
            <a:ext cx="6600825" cy="3524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252345" y="1026160"/>
            <a:ext cx="6543675" cy="20383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进行一个</a:t>
            </a:r>
            <a:r>
              <a:rPr lang="zh-CN" altLang="en-US">
                <a:sym typeface="+mn-ea"/>
              </a:rPr>
              <a:t>靠右边对齐： </a:t>
            </a:r>
            <a:r>
              <a:rPr lang="en-US" altLang="zh-CN">
                <a:sym typeface="+mn-ea"/>
              </a:rPr>
              <a:t>     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135505" y="1323975"/>
            <a:ext cx="6562725" cy="26003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789305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仍然是一个树形结构哎！！！</a:t>
            </a:r>
            <a:r>
              <a:rPr lang="zh-CN" altLang="en-US">
                <a:sym typeface="+mn-ea"/>
              </a:rPr>
              <a:t> </a:t>
            </a:r>
            <a:r>
              <a:rPr lang="en-US" altLang="zh-CN">
                <a:sym typeface="+mn-ea"/>
              </a:rPr>
              <a:t>     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400300" y="3891915"/>
            <a:ext cx="7391400" cy="24860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747645" y="381635"/>
            <a:ext cx="6696075" cy="28098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0" indent="457200">
              <a:buNone/>
            </a:pPr>
            <a:r>
              <a:rPr lang="zh-CN" altLang="en-US">
                <a:sym typeface="+mn-ea"/>
              </a:rPr>
              <a:t>而且树中刚好只有</a:t>
            </a:r>
            <a:r>
              <a:rPr lang="en-US" altLang="zh-CN">
                <a:sym typeface="+mn-ea"/>
              </a:rPr>
              <a:t>n</a:t>
            </a:r>
            <a:r>
              <a:rPr lang="zh-CN" altLang="en-US">
                <a:sym typeface="+mn-ea"/>
              </a:rPr>
              <a:t>个结点！！！</a:t>
            </a:r>
            <a:r>
              <a:rPr lang="zh-CN" altLang="en-US">
                <a:sym typeface="+mn-ea"/>
              </a:rPr>
              <a:t> </a:t>
            </a:r>
            <a:r>
              <a:rPr lang="en-US" altLang="zh-CN">
                <a:sym typeface="+mn-ea"/>
              </a:rPr>
              <a:t>  </a:t>
            </a: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直接把这若干层中的</a:t>
            </a:r>
            <a:r>
              <a:rPr lang="en-US" altLang="zh-CN">
                <a:sym typeface="+mn-ea"/>
              </a:rPr>
              <a:t>n</a:t>
            </a:r>
            <a:r>
              <a:rPr lang="zh-CN" altLang="en-US">
                <a:sym typeface="+mn-ea"/>
              </a:rPr>
              <a:t>个数字合在一个数组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中：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即是树状数组。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olidFill>
                  <a:srgbClr val="FF0000"/>
                </a:solidFill>
                <a:sym typeface="+mn-ea"/>
              </a:rPr>
              <a:t>新的思路</a:t>
            </a:r>
            <a:r>
              <a:rPr lang="zh-CN" altLang="en-US">
                <a:sym typeface="+mn-ea"/>
              </a:rPr>
              <a:t>：我们可以直接用这个树状数组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来算前缀和及进行单点修改，每次操作时间复杂度为</a:t>
            </a:r>
            <a:r>
              <a:rPr lang="en-US" altLang="zh-CN">
                <a:sym typeface="+mn-ea"/>
              </a:rPr>
              <a:t>O(logn) </a:t>
            </a:r>
            <a:endParaRPr lang="en-US" altLang="zh-CN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那么，来看一下树状数组的相关概念及性质：</a:t>
            </a:r>
            <a:r>
              <a:rPr lang="en-US" altLang="zh-CN">
                <a:sym typeface="+mn-ea"/>
              </a:rPr>
              <a:t>  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161540" y="948055"/>
            <a:ext cx="7229475" cy="4457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0" indent="457200">
              <a:buNone/>
            </a:pPr>
            <a:r>
              <a:rPr lang="zh-CN" altLang="en-US">
                <a:solidFill>
                  <a:srgbClr val="FF0000"/>
                </a:solidFill>
                <a:sym typeface="+mn-ea"/>
              </a:rPr>
              <a:t>和完全二叉树的顺序存储一样，树状数组也是用顺序存储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结构（数组）来保存一棵由区间和组成的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树。</a:t>
            </a:r>
            <a:endParaRPr lang="zh-CN" altLang="en-US">
              <a:solidFill>
                <a:srgbClr val="FF0000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olidFill>
                  <a:srgbClr val="FF0000"/>
                </a:solidFill>
                <a:sym typeface="+mn-ea"/>
              </a:rPr>
              <a:t>树状数组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：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中的每一个元素对应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树形结构中的一个结点，一个结点又对应一段区间（其值为该区间的区间和），所以树状数组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中的每一个元素就是某区间的</a:t>
            </a:r>
            <a:r>
              <a:rPr lang="zh-CN" altLang="en-US">
                <a:sym typeface="+mn-ea"/>
              </a:rPr>
              <a:t>区间和。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思考： </a:t>
            </a:r>
            <a:r>
              <a:rPr lang="en-US" altLang="zh-CN">
                <a:sym typeface="+mn-ea"/>
              </a:rPr>
              <a:t>    </a:t>
            </a:r>
            <a:r>
              <a:rPr lang="zh-CN" altLang="en-US">
                <a:sym typeface="+mn-ea"/>
              </a:rPr>
              <a:t>树状数组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中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每一个元素</a:t>
            </a:r>
            <a:r>
              <a:rPr lang="en-US" altLang="zh-CN">
                <a:sym typeface="+mn-ea"/>
              </a:rPr>
              <a:t>t[i]</a:t>
            </a:r>
            <a:r>
              <a:rPr lang="zh-CN" altLang="en-US">
                <a:sym typeface="+mn-ea"/>
              </a:rPr>
              <a:t>具体是对应那一段区间呢？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378075" y="2121535"/>
            <a:ext cx="7048500" cy="40481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0" indent="457200">
              <a:buNone/>
            </a:pPr>
            <a:r>
              <a:rPr lang="zh-CN" altLang="en-US">
                <a:sym typeface="+mn-ea"/>
              </a:rPr>
              <a:t>树状数组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：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中的每一个元素对应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树形结构中的一个结点，一个结点又对应一段区间（其值为该区间的区间和），所以树状数组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中的每一个元素就是某区间的</a:t>
            </a:r>
            <a:r>
              <a:rPr lang="zh-CN" altLang="en-US">
                <a:sym typeface="+mn-ea"/>
              </a:rPr>
              <a:t>区间和。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思考： </a:t>
            </a:r>
            <a:r>
              <a:rPr lang="en-US" altLang="zh-CN">
                <a:sym typeface="+mn-ea"/>
              </a:rPr>
              <a:t>    </a:t>
            </a:r>
            <a:r>
              <a:rPr lang="zh-CN" altLang="en-US">
                <a:sym typeface="+mn-ea"/>
              </a:rPr>
              <a:t>树状数组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中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每一个元素</a:t>
            </a:r>
            <a:r>
              <a:rPr lang="en-US" altLang="zh-CN">
                <a:sym typeface="+mn-ea"/>
              </a:rPr>
              <a:t>t[i]</a:t>
            </a:r>
            <a:r>
              <a:rPr lang="zh-CN" altLang="en-US">
                <a:sym typeface="+mn-ea"/>
              </a:rPr>
              <a:t>具体是对应那一段区间呢？好像看不出什么规律哎</a:t>
            </a:r>
            <a:r>
              <a:rPr lang="en-US" altLang="zh-CN">
                <a:sym typeface="+mn-ea"/>
              </a:rPr>
              <a:t>emmmm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t[1]=a[1]---&gt;[1,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1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]    a[i]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最小区间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t[i]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t[2]=a[1]+a[2]---&gt;[1,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2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]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t[3]=a[3]-----&gt;[3,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3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]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ym typeface="+mn-ea"/>
              </a:rPr>
              <a:t>t[4]=a[1]+a[2]+a[3]+a[4]---&gt;[1,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4</a:t>
            </a:r>
            <a:r>
              <a:rPr lang="en-US" altLang="zh-CN">
                <a:sym typeface="+mn-ea"/>
              </a:rPr>
              <a:t>]</a:t>
            </a: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t[5]=a[5]</a:t>
            </a:r>
            <a:r>
              <a:rPr lang="en-US" altLang="zh-CN">
                <a:sym typeface="+mn-ea"/>
              </a:rPr>
              <a:t>---&gt;[5,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5</a:t>
            </a:r>
            <a:r>
              <a:rPr lang="en-US" altLang="zh-CN">
                <a:sym typeface="+mn-ea"/>
              </a:rPr>
              <a:t>]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ym typeface="+mn-ea"/>
              </a:rPr>
              <a:t>t[6]=a[5]+a[6]---&gt;[5,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6</a:t>
            </a:r>
            <a:r>
              <a:rPr lang="en-US" altLang="zh-CN">
                <a:sym typeface="+mn-ea"/>
              </a:rPr>
              <a:t>]</a:t>
            </a: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ym typeface="+mn-ea"/>
              </a:rPr>
              <a:t>.......</a:t>
            </a: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可以看出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t[i]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对应的区间的右边界是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i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，但是左边界的规律看不出来。即区间到底往左延伸多少？也就是说，区间长度是多少，我们看不出来，非常隐蔽的规律，需要从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二进制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的角度来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分析！！！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188585" y="1788795"/>
            <a:ext cx="6541135" cy="4033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0" indent="457200">
              <a:buNone/>
            </a:pPr>
            <a:r>
              <a:rPr lang="zh-CN" altLang="en-US">
                <a:sym typeface="+mn-ea"/>
              </a:rPr>
              <a:t> </a:t>
            </a:r>
            <a:r>
              <a:rPr lang="en-US" altLang="zh-CN">
                <a:sym typeface="+mn-ea"/>
              </a:rPr>
              <a:t>     </a:t>
            </a:r>
            <a:r>
              <a:rPr lang="zh-CN" altLang="en-US">
                <a:sym typeface="+mn-ea"/>
              </a:rPr>
              <a:t>我们画成树的样子：然后把下标的二进制标出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680845" y="899160"/>
            <a:ext cx="8829675" cy="4381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0" indent="457200">
              <a:buNone/>
            </a:pPr>
            <a:r>
              <a:rPr lang="zh-CN" altLang="en-US">
                <a:sym typeface="+mn-ea"/>
              </a:rPr>
              <a:t> </a:t>
            </a:r>
            <a:r>
              <a:rPr lang="en-US" altLang="zh-CN">
                <a:sym typeface="+mn-ea"/>
              </a:rPr>
              <a:t>     </a:t>
            </a:r>
            <a:r>
              <a:rPr lang="zh-CN" altLang="en-US">
                <a:sym typeface="+mn-ea"/>
              </a:rPr>
              <a:t>我们画成树的样子：然后把下标的二进制标出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发现了一个很神奇的规律：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t[x]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的管辖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区间长度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恰好为 x 二进制表示中，最低位的 1 以及后面所有 0 组成的数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(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lowbit(x)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)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。并且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t[x]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的父亲结点的下标也刚好是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x+lowbit(x)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。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t[x]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的左边兄弟结点的下标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x-lowbit（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x）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680845" y="899160"/>
            <a:ext cx="8829675" cy="43815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847090" y="6208395"/>
            <a:ext cx="1622425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0" indent="457200">
              <a:buNone/>
            </a:pPr>
            <a:r>
              <a:rPr lang="zh-CN" altLang="en-US">
                <a:sym typeface="+mn-ea"/>
              </a:rPr>
              <a:t> </a:t>
            </a:r>
            <a:r>
              <a:rPr lang="en-US" altLang="zh-CN">
                <a:sym typeface="+mn-ea"/>
              </a:rPr>
              <a:t>     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lowbit(x)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：</a:t>
            </a:r>
            <a:r>
              <a:rPr lang="zh-CN" altLang="en-US">
                <a:sym typeface="+mn-ea"/>
              </a:rPr>
              <a:t>x 二进制表示中，最低位的 1 以及后面所有 0 组成的数。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怎么求？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914400" lvl="2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01011000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取反：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  10100111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+1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       10101000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01011000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ym typeface="+mn-ea"/>
              </a:rPr>
              <a:t>&amp;</a:t>
            </a:r>
            <a:endParaRPr lang="en-US" altLang="zh-CN"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ym typeface="+mn-ea"/>
              </a:rPr>
              <a:t>10101000</a:t>
            </a:r>
            <a:endParaRPr lang="en-US" altLang="zh-CN"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ym typeface="+mn-ea"/>
              </a:rPr>
              <a:t>-------------</a:t>
            </a:r>
            <a:endParaRPr lang="en-US" altLang="zh-CN"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ym typeface="+mn-ea"/>
              </a:rPr>
              <a:t>00001000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-----------------------------------------------------------------------------------------------------------------------------------------------------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在C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/C++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语言中,数据在内存中以补码形式存储。恰好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对一个数据的补码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进行取反再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+1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得到的是其相反数的补码。所以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(~x)+1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得到的是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-x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则：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202305" y="2585720"/>
            <a:ext cx="6038850" cy="10858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943225" y="5318125"/>
            <a:ext cx="6305550" cy="10477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0" indent="457200">
              <a:buNone/>
            </a:pPr>
            <a:r>
              <a:rPr lang="zh-CN" altLang="en-US">
                <a:sym typeface="+mn-ea"/>
              </a:rPr>
              <a:t>再看回原问题，此时该问题可以用树状数组</a:t>
            </a:r>
            <a:r>
              <a:rPr lang="zh-CN" altLang="en-US">
                <a:sym typeface="+mn-ea"/>
              </a:rPr>
              <a:t>解决！！！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树状数组涉及到的</a:t>
            </a:r>
            <a:r>
              <a:rPr lang="zh-CN" altLang="en-US">
                <a:sym typeface="+mn-ea"/>
              </a:rPr>
              <a:t>操作：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）构建树状数组（</a:t>
            </a:r>
            <a:r>
              <a:rPr lang="zh-CN" altLang="en-US">
                <a:sym typeface="+mn-ea"/>
              </a:rPr>
              <a:t>建树）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）单点</a:t>
            </a:r>
            <a:r>
              <a:rPr lang="zh-CN" altLang="en-US">
                <a:sym typeface="+mn-ea"/>
              </a:rPr>
              <a:t>修改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）前缀区间查询 </a:t>
            </a:r>
            <a:r>
              <a:rPr lang="en-US" altLang="zh-CN">
                <a:sym typeface="+mn-ea"/>
              </a:rPr>
              <a:t>------&gt;</a:t>
            </a:r>
            <a:r>
              <a:rPr lang="zh-CN" altLang="en-US">
                <a:sym typeface="+mn-ea"/>
              </a:rPr>
              <a:t>区间和</a:t>
            </a:r>
            <a:r>
              <a:rPr lang="en-US" altLang="zh-CN">
                <a:sym typeface="+mn-ea"/>
              </a:rPr>
              <a:t>   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409700" y="828675"/>
            <a:ext cx="4686300" cy="26003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0" indent="457200">
              <a:buNone/>
            </a:pP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）构建树状数组（建树）</a:t>
            </a:r>
            <a:r>
              <a:rPr lang="en-US" altLang="zh-CN">
                <a:sym typeface="+mn-ea"/>
              </a:rPr>
              <a:t>----&gt;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建树其实就是单点修改</a:t>
            </a:r>
            <a:r>
              <a:rPr lang="zh-CN" altLang="en-US">
                <a:sym typeface="+mn-ea"/>
              </a:rPr>
              <a:t>，一开始认为树中数据全是</a:t>
            </a:r>
            <a:r>
              <a:rPr lang="en-US" altLang="zh-CN">
                <a:sym typeface="+mn-ea"/>
              </a:rPr>
              <a:t>0</a:t>
            </a:r>
            <a:r>
              <a:rPr lang="zh-CN" altLang="en-US">
                <a:sym typeface="+mn-ea"/>
              </a:rPr>
              <a:t>，然后把数据数组</a:t>
            </a:r>
            <a:r>
              <a:rPr lang="en-US" altLang="zh-CN">
                <a:sym typeface="+mn-ea"/>
              </a:rPr>
              <a:t>a[]</a:t>
            </a:r>
            <a:r>
              <a:rPr lang="zh-CN" altLang="en-US">
                <a:sym typeface="+mn-ea"/>
              </a:rPr>
              <a:t>中的数据一个一个加到树中，不就相当于把</a:t>
            </a:r>
            <a:r>
              <a:rPr lang="en-US" altLang="zh-CN">
                <a:sym typeface="+mn-ea"/>
              </a:rPr>
              <a:t>0</a:t>
            </a:r>
            <a:r>
              <a:rPr lang="zh-CN" altLang="en-US">
                <a:sym typeface="+mn-ea"/>
              </a:rPr>
              <a:t>修改为加进的数据</a:t>
            </a:r>
            <a:r>
              <a:rPr lang="en-US" altLang="zh-CN">
                <a:sym typeface="+mn-ea"/>
              </a:rPr>
              <a:t>a[i]</a:t>
            </a:r>
            <a:r>
              <a:rPr lang="zh-CN" altLang="en-US">
                <a:sym typeface="+mn-ea"/>
              </a:rPr>
              <a:t>嘛。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）单点修改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 </a:t>
            </a:r>
            <a:r>
              <a:rPr lang="en-US" altLang="zh-CN">
                <a:sym typeface="+mn-ea"/>
              </a:rPr>
              <a:t>     </a:t>
            </a:r>
            <a:r>
              <a:rPr lang="zh-CN" altLang="en-US">
                <a:sym typeface="+mn-ea"/>
              </a:rPr>
              <a:t>例如：把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a[1]+k，那么祖先节点t[1],t[2],t[4],t[8]都需要+k更新(因为t[]表示前缀和)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通过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lowbit(x)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实现：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单次操作：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O(logn)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395220" y="1673860"/>
            <a:ext cx="6471285" cy="31134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756025" y="5147945"/>
            <a:ext cx="4200525" cy="13906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85825" y="149225"/>
            <a:ext cx="11059160" cy="6451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0" indent="457200">
              <a:buNone/>
            </a:pP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）前缀区间查询 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 </a:t>
            </a:r>
            <a:r>
              <a:rPr lang="en-US" altLang="zh-CN">
                <a:sym typeface="+mn-ea"/>
              </a:rPr>
              <a:t>     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例如：查询前7项的区间和sum[7]。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通过图中不难看出，sum[7]=t[7]+t[6]+t[4] ,我们进一步发现,6=7-lowbit(7),4=6-lowbit(6)，所以我们可以通过不断的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减lowbit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操作来实现求和。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单次操作：</a:t>
            </a:r>
            <a:r>
              <a:rPr lang="en-US" altLang="zh-CN">
                <a:sym typeface="+mn-ea"/>
              </a:rPr>
              <a:t>O(logn)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279015" y="850265"/>
            <a:ext cx="6966585" cy="31496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721100" y="4829175"/>
            <a:ext cx="4438650" cy="17716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0" indent="457200">
              <a:buNone/>
            </a:pPr>
            <a:r>
              <a:rPr lang="zh-CN" altLang="en-US">
                <a:sym typeface="+mn-ea"/>
              </a:rPr>
              <a:t> </a:t>
            </a:r>
            <a:r>
              <a:rPr lang="en-US" altLang="zh-CN">
                <a:sym typeface="+mn-ea"/>
              </a:rPr>
              <a:t>    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小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tips 1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：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olidFill>
                  <a:srgbClr val="FF0000"/>
                </a:solidFill>
                <a:sym typeface="+mn-ea"/>
              </a:rPr>
              <a:t>树状数组中的数组一定要从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 1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下标开始存数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，不能从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下标开始，会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死循环。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假设从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位置开始存数，建树时：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t[0]=a[0]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然后再更新</a:t>
            </a:r>
            <a:r>
              <a:rPr lang="en-US" altLang="zh-CN">
                <a:sym typeface="+mn-ea"/>
              </a:rPr>
              <a:t>t[0]</a:t>
            </a:r>
            <a:r>
              <a:rPr lang="zh-CN" altLang="en-US">
                <a:sym typeface="+mn-ea"/>
              </a:rPr>
              <a:t>的父亲结点</a:t>
            </a:r>
            <a:r>
              <a:rPr lang="en-US" altLang="zh-CN">
                <a:sym typeface="+mn-ea"/>
              </a:rPr>
              <a:t>t[y]   y=0+lowbit(0)</a:t>
            </a: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ym typeface="+mn-ea"/>
              </a:rPr>
              <a:t>lowbit(0)=0</a:t>
            </a: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ym typeface="+mn-ea"/>
              </a:rPr>
              <a:t>y=0+0</a:t>
            </a:r>
            <a:endParaRPr lang="en-US" altLang="zh-CN"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ym typeface="+mn-ea"/>
              </a:rPr>
              <a:t>.....</a:t>
            </a:r>
            <a:r>
              <a:rPr lang="zh-CN" altLang="en-US">
                <a:sym typeface="+mn-ea"/>
              </a:rPr>
              <a:t>会一直循环</a:t>
            </a:r>
            <a:r>
              <a:rPr lang="en-US" altLang="zh-CN">
                <a:sym typeface="+mn-ea"/>
              </a:rPr>
              <a:t>t[0]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前缀区间查询是也是一样会死循环。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ym typeface="+mn-ea"/>
              </a:rPr>
              <a:t>----------------------------------------------------------------------------------------------------------------------------------------------------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小</a:t>
            </a:r>
            <a:r>
              <a:rPr lang="en-US" altLang="zh-CN">
                <a:sym typeface="+mn-ea"/>
              </a:rPr>
              <a:t>tips 2</a:t>
            </a:r>
            <a:r>
              <a:rPr lang="zh-CN" altLang="en-US">
                <a:sym typeface="+mn-ea"/>
              </a:rPr>
              <a:t>：对于</a:t>
            </a:r>
            <a:r>
              <a:rPr lang="en-US" altLang="zh-CN">
                <a:sym typeface="+mn-ea"/>
              </a:rPr>
              <a:t>n</a:t>
            </a:r>
            <a:r>
              <a:rPr lang="zh-CN" altLang="en-US">
                <a:sym typeface="+mn-ea"/>
              </a:rPr>
              <a:t>个元素的初始数组建立树状数组。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若</a:t>
            </a:r>
            <a:r>
              <a:rPr lang="en-US" altLang="zh-CN">
                <a:sym typeface="+mn-ea"/>
              </a:rPr>
              <a:t>n</a:t>
            </a:r>
            <a:r>
              <a:rPr lang="zh-CN" altLang="en-US">
                <a:sym typeface="+mn-ea"/>
              </a:rPr>
              <a:t>可以写成</a:t>
            </a:r>
            <a:r>
              <a:rPr lang="en-US" altLang="zh-CN">
                <a:sym typeface="+mn-ea"/>
              </a:rPr>
              <a:t>2^k</a:t>
            </a:r>
            <a:r>
              <a:rPr lang="zh-CN" altLang="en-US">
                <a:sym typeface="+mn-ea"/>
              </a:rPr>
              <a:t>，树状数组存的是一棵树，否则树状数组存的是森林。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0" indent="457200">
              <a:buNone/>
            </a:pPr>
            <a:r>
              <a:rPr lang="zh-CN" altLang="en-US">
                <a:sym typeface="+mn-ea"/>
              </a:rPr>
              <a:t>综上：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ym typeface="+mn-ea"/>
              </a:rPr>
              <a:t>1.</a:t>
            </a:r>
            <a:r>
              <a:rPr lang="zh-CN" altLang="en-US">
                <a:sym typeface="+mn-ea"/>
              </a:rPr>
              <a:t>树状数组的</a:t>
            </a:r>
            <a:r>
              <a:rPr lang="zh-CN" altLang="en-US">
                <a:sym typeface="+mn-ea"/>
              </a:rPr>
              <a:t>概念：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和完全二叉树的顺序存储一样，树状数组也是用顺序存储结构（数组）来保存一棵由区间和组成的树。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在树状数组中，下标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x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结点的父亲结点是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x+lowbit(x)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。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x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的左兄弟结点下标是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x-</a:t>
            </a:r>
            <a:r>
              <a:rPr lang="en-US" altLang="zh-CN">
                <a:sym typeface="+mn-ea"/>
              </a:rPr>
              <a:t>lowbit(x)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在树状数组中，结点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x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的值是以其为根节点的树的叶子结点的和，即原数组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a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中区间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[x-lowbit(x)+1,]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的和。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2.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树状数组的基本操作：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单点修改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+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前缀区间查询（求前缀和）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单次操作时间复杂度为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O(logn)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可以通过加入其他算法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数据结构来对树状数组进行优化，从而解决更多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问题：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例如：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）想查询任意区间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[l,r]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的区间和：可以做两次</a:t>
            </a:r>
            <a:r>
              <a:rPr lang="zh-CN" altLang="en-US">
                <a:sym typeface="+mn-ea"/>
              </a:rPr>
              <a:t>前缀区间查询，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用前缀和相减，即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ask(r)-ask(l-1)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2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）可以引入差分数组，用树状数组维护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差分数组，实现：区间修改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+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单点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查询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3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）</a:t>
            </a:r>
            <a:r>
              <a:rPr lang="zh-CN" altLang="en-US">
                <a:sym typeface="+mn-ea"/>
              </a:rPr>
              <a:t>可以引入差分数组，通过推导，建立两个树状数组，实现：区间修改</a:t>
            </a:r>
            <a:r>
              <a:rPr lang="en-US" altLang="zh-CN">
                <a:sym typeface="+mn-ea"/>
              </a:rPr>
              <a:t>+</a:t>
            </a:r>
            <a:r>
              <a:rPr lang="zh-CN" altLang="en-US">
                <a:sym typeface="+mn-ea"/>
              </a:rPr>
              <a:t>区间查询，</a:t>
            </a:r>
            <a:r>
              <a:rPr lang="zh-CN" altLang="en-US">
                <a:sym typeface="+mn-ea"/>
              </a:rPr>
              <a:t>但是这一类操作使用树状数组就显得及其复杂，建议使用线段树来解决。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ym typeface="+mn-ea"/>
              </a:rPr>
              <a:t>    ......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 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344930" y="2778760"/>
            <a:ext cx="7172325" cy="11715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0" indent="457200">
              <a:buNone/>
            </a:pPr>
            <a:r>
              <a:rPr lang="en-US" altLang="zh-CN">
                <a:sym typeface="+mn-ea"/>
              </a:rPr>
              <a:t>3.</a:t>
            </a:r>
            <a:r>
              <a:rPr lang="zh-CN" altLang="en-US">
                <a:sym typeface="+mn-ea"/>
              </a:rPr>
              <a:t>树状数组与线段树的区别：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事实上，树状数组能解决的问题是线段树能解决的问题的子集：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树状数组能做的，线段树一定能做；线段树能做的，树状数组不一定可以。</a:t>
            </a:r>
            <a:r>
              <a:rPr lang="zh-CN" altLang="en-US">
                <a:sym typeface="+mn-ea"/>
              </a:rPr>
              <a:t>然而，树状数组的代码要远比线段树短，更节省空间，因此仍有学习价值。</a:t>
            </a:r>
            <a:endParaRPr lang="zh-CN" altLang="en-US"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例如：线段树本身可以维护区间最值。但是普通的树状数组不能直接维护区间最值。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但是可以通过更改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update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的思路来维护区间最值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)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zh-CN" altLang="en-US">
                <a:sym typeface="+mn-ea"/>
              </a:rPr>
              <a:t> </a:t>
            </a:r>
            <a:r>
              <a:rPr lang="en-US" altLang="zh-CN">
                <a:sym typeface="+mn-ea"/>
              </a:rPr>
              <a:t>     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en-US" altLang="zh-CN">
              <a:sym typeface="+mn-ea"/>
            </a:endParaRPr>
          </a:p>
          <a:p>
            <a:pPr marL="0" lvl="0" indent="457200">
              <a:buNone/>
            </a:pP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>
                <a:sym typeface="+mn-ea"/>
              </a:rPr>
              <a:t>https://www.luogu.com.cn/problem/P3374</a:t>
            </a:r>
            <a:endParaRPr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55065" y="1220470"/>
            <a:ext cx="10053320" cy="50469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</a:t>
            </a:r>
            <a:r>
              <a:rPr lang="zh-CN" altLang="en-US"/>
              <a:t>板子题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>
                <a:sym typeface="+mn-ea"/>
              </a:rPr>
              <a:t>https://www.luogu.com.cn/problem/P33</a:t>
            </a:r>
            <a:r>
              <a:rPr lang="en-US">
                <a:sym typeface="+mn-ea"/>
              </a:rPr>
              <a:t>68</a:t>
            </a:r>
            <a:endParaRPr lang="en-US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55065" y="1220470"/>
            <a:ext cx="10053320" cy="50469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</a:t>
            </a:r>
            <a:r>
              <a:rPr lang="zh-CN" altLang="en-US"/>
              <a:t>板子题</a:t>
            </a:r>
            <a:endParaRPr lang="zh-CN" altLang="en-US"/>
          </a:p>
          <a:p>
            <a:r>
              <a:rPr lang="en-US" altLang="zh-CN"/>
              <a:t>a【】</a:t>
            </a:r>
            <a:r>
              <a:rPr lang="zh-CN" altLang="en-US"/>
              <a:t>的差分数组</a:t>
            </a:r>
            <a:r>
              <a:rPr lang="en-US" altLang="zh-CN"/>
              <a:t>d【】</a:t>
            </a:r>
            <a:endParaRPr lang="en-US" altLang="zh-CN"/>
          </a:p>
          <a:p>
            <a:r>
              <a:rPr lang="zh-CN" altLang="en-US"/>
              <a:t>对原数组</a:t>
            </a:r>
            <a:r>
              <a:rPr lang="en-US" altLang="zh-CN"/>
              <a:t>a</a:t>
            </a:r>
            <a:r>
              <a:rPr lang="zh-CN" altLang="en-US"/>
              <a:t>进行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区间修改</a:t>
            </a:r>
            <a:r>
              <a:rPr lang="en-US" altLang="zh-CN"/>
              <a:t>：a[l]~~a[r] +k     d[l]+k    d[r+1]-k-----&gt;</a:t>
            </a:r>
            <a:r>
              <a:rPr lang="zh-CN" altLang="en-US"/>
              <a:t>对差分数组的单点</a:t>
            </a:r>
            <a:r>
              <a:rPr lang="zh-CN" altLang="en-US"/>
              <a:t>修改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单点查询</a:t>
            </a:r>
            <a:r>
              <a:rPr lang="en-US" altLang="zh-CN"/>
              <a:t>：a[x]=     d[1]~d[x]------&gt;</a:t>
            </a:r>
            <a:r>
              <a:rPr lang="zh-CN" altLang="en-US"/>
              <a:t>对差分数组进行区间查询</a:t>
            </a:r>
            <a:r>
              <a:rPr lang="en-US" altLang="zh-CN"/>
              <a:t>（</a:t>
            </a:r>
            <a:r>
              <a:rPr lang="zh-CN" altLang="en-US"/>
              <a:t>求前缀和</a:t>
            </a:r>
            <a:r>
              <a:rPr lang="en-US" altLang="zh-CN"/>
              <a:t>）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COMMONDATA" val="eyJoZGlkIjoiMjNhN2QzNzIxYTMxZDA2OTMyYTljMDA5MmRhYmMwNjc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3481</Words>
  <Application>WPS 文字</Application>
  <PresentationFormat>宽屏</PresentationFormat>
  <Paragraphs>457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汉仪旗黑</vt:lpstr>
      <vt:lpstr>Calibri</vt:lpstr>
      <vt:lpstr>Helvetica Neue</vt:lpstr>
      <vt:lpstr>微软雅黑</vt:lpstr>
      <vt:lpstr>宋体</vt:lpstr>
      <vt:lpstr>Arial Unicode MS</vt:lpstr>
      <vt:lpstr>汉仪书宋二KW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喵~</cp:lastModifiedBy>
  <cp:revision>159</cp:revision>
  <dcterms:created xsi:type="dcterms:W3CDTF">2025-06-11T12:31:41Z</dcterms:created>
  <dcterms:modified xsi:type="dcterms:W3CDTF">2025-06-11T12:31:41Z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39D95B3D507C44309E7C251695CCA2D4_12</vt:lpwstr>
  </property>
  <property fmtid="{D5CDD505-2E9C-101B-9397-08002B2CF9AE}" pid="3" name="KSOProductBuildVer">
    <vt:lpwstr>2052-7.3.1.8967</vt:lpwstr>
  </property>
</Properties>
</file>