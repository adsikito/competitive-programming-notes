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5" r:id="rId3"/>
    <p:sldId id="286" r:id="rId4"/>
    <p:sldId id="288" r:id="rId5"/>
    <p:sldId id="257" r:id="rId6"/>
    <p:sldId id="289" r:id="rId7"/>
    <p:sldId id="259" r:id="rId8"/>
    <p:sldId id="290" r:id="rId9"/>
    <p:sldId id="264" r:id="rId10"/>
  </p:sldIdLst>
  <p:sldSz cx="12192000" cy="6858000"/>
  <p:notesSz cx="6858000" cy="9144000"/>
  <p:custDataLst>
    <p:tags r:id="rId1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gs" Target="tags/tag7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.png"/><Relationship Id="rId2" Type="http://schemas.openxmlformats.org/officeDocument/2006/relationships/tags" Target="../tags/tag3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.png"/><Relationship Id="rId2" Type="http://schemas.openxmlformats.org/officeDocument/2006/relationships/tags" Target="../tags/tag5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tags" Target="../tags/tag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3319145" y="2156460"/>
            <a:ext cx="4188460" cy="23552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pPr marL="1371600" lvl="3" indent="457200"/>
            <a:r>
              <a:rPr lang="zh-CN" altLang="en-US">
                <a:sym typeface="+mn-ea"/>
              </a:rPr>
              <a:t>复习</a:t>
            </a:r>
            <a:endParaRPr lang="zh-CN" altLang="en-US">
              <a:sym typeface="+mn-ea"/>
            </a:endParaRPr>
          </a:p>
          <a:p>
            <a:pPr marL="914400" lvl="2" indent="457200">
              <a:buNone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1.Kruskal 算法</a:t>
            </a:r>
            <a:endParaRPr lang="en-US" altLang="zh-CN">
              <a:solidFill>
                <a:schemeClr val="tx1"/>
              </a:solidFill>
              <a:sym typeface="+mn-ea"/>
            </a:endParaRPr>
          </a:p>
          <a:p>
            <a:pPr marL="914400" lvl="2" indent="457200">
              <a:buNone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2.Prim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算法</a:t>
            </a:r>
            <a:endParaRPr lang="zh-CN" altLang="en-US">
              <a:sym typeface="+mn-ea"/>
            </a:endParaRPr>
          </a:p>
          <a:p>
            <a:endParaRPr lang="zh-CN" altLang="en-US"/>
          </a:p>
          <a:p/>
        </p:txBody>
      </p:sp>
      <p:sp>
        <p:nvSpPr>
          <p:cNvPr id="2" name="文本框 1"/>
          <p:cNvSpPr txBox="1"/>
          <p:nvPr/>
        </p:nvSpPr>
        <p:spPr>
          <a:xfrm>
            <a:off x="2057400" y="1340485"/>
            <a:ext cx="8437245" cy="10839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sym typeface="+mn-ea"/>
              </a:rPr>
              <a:t>最小生成树：对于连通网来说，边是带权值的，生成树的各边也带权值，因此把生成树各边的权值总和称为生成树的权，把权值最小的生成树称为最小生成树。</a:t>
            </a:r>
            <a:endParaRPr lang="zh-CN" altLang="en-US">
              <a:sym typeface="+mn-ea"/>
            </a:endParaRPr>
          </a:p>
          <a:p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057400" y="458470"/>
            <a:ext cx="8305165" cy="6578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sym typeface="+mn-ea"/>
              </a:rPr>
              <a:t>生成树：</a:t>
            </a:r>
            <a:r>
              <a:rPr lang="zh-CN" altLang="en-US"/>
              <a:t>对于有n个顶点的连通图，至少有n-1条边，那么连接所有顶点的极小连通子图就是生成树。如果在图的生成树中任意加一条边，则必然形成回路。</a:t>
            </a:r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91185" y="849630"/>
            <a:ext cx="11009630" cy="47631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lvl="2" indent="457200"/>
            <a:r>
              <a:rPr lang="en-US" altLang="zh-CN">
                <a:solidFill>
                  <a:schemeClr val="tx1"/>
                </a:solidFill>
                <a:sym typeface="+mn-ea"/>
              </a:rPr>
              <a:t>1.</a:t>
            </a:r>
            <a:r>
              <a:rPr lang="en-US" altLang="zh-CN">
                <a:sym typeface="+mn-ea"/>
              </a:rPr>
              <a:t>Kruskal 算法</a:t>
            </a:r>
            <a:r>
              <a:rPr lang="zh-CN" altLang="en-US">
                <a:sym typeface="+mn-ea"/>
              </a:rPr>
              <a:t>：由 Kruskal 发明。该算法的基本思想是从小到大加入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边</a:t>
            </a:r>
            <a:r>
              <a:rPr lang="zh-CN" altLang="en-US">
                <a:sym typeface="+mn-ea"/>
              </a:rPr>
              <a:t>，是个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贪心</a:t>
            </a:r>
            <a:r>
              <a:rPr lang="zh-CN" altLang="en-US">
                <a:sym typeface="+mn-ea"/>
              </a:rPr>
              <a:t>算法。在加入边时，需要通过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并查集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来判断该边的两个端点是否属于同一集合（树），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避免形成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 “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环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”</a:t>
            </a:r>
            <a:r>
              <a:rPr lang="zh-CN" altLang="en-US">
                <a:sym typeface="+mn-ea"/>
              </a:rPr>
              <a:t>。</a:t>
            </a:r>
            <a:endParaRPr lang="zh-CN" altLang="en-US">
              <a:sym typeface="+mn-ea"/>
            </a:endParaRPr>
          </a:p>
          <a:p>
            <a:pPr marL="0" lvl="2" indent="457200"/>
            <a:r>
              <a:rPr lang="zh-CN" altLang="en-US">
                <a:sym typeface="+mn-ea"/>
              </a:rPr>
              <a:t>时间复杂度</a:t>
            </a:r>
            <a:r>
              <a:rPr lang="en-US" altLang="zh-CN">
                <a:sym typeface="+mn-ea"/>
              </a:rPr>
              <a:t> O</a:t>
            </a: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ElogE</a:t>
            </a:r>
            <a:r>
              <a:rPr lang="zh-CN" altLang="en-US">
                <a:sym typeface="+mn-ea"/>
              </a:rPr>
              <a:t>）</a:t>
            </a:r>
            <a:r>
              <a:rPr lang="en-US" altLang="zh-CN">
                <a:sym typeface="+mn-ea"/>
              </a:rPr>
              <a:t>------</a:t>
            </a:r>
            <a:r>
              <a:rPr lang="zh-CN" altLang="en-US">
                <a:sym typeface="+mn-ea"/>
              </a:rPr>
              <a:t>》</a:t>
            </a:r>
            <a:r>
              <a:rPr lang="zh-CN" altLang="en-US">
                <a:sym typeface="+mn-ea"/>
              </a:rPr>
              <a:t>稀疏图</a:t>
            </a:r>
            <a:endParaRPr lang="zh-CN" altLang="en-US">
              <a:sym typeface="+mn-ea"/>
            </a:endParaRPr>
          </a:p>
          <a:p>
            <a:pPr marL="0" lvl="2" indent="457200"/>
            <a:endParaRPr lang="zh-CN" altLang="en-US">
              <a:solidFill>
                <a:srgbClr val="FF0000"/>
              </a:solidFill>
              <a:sym typeface="+mn-ea"/>
            </a:endParaRPr>
          </a:p>
          <a:p>
            <a:pPr marL="0" lvl="2" indent="457200"/>
            <a:endParaRPr lang="en-US" altLang="zh-CN">
              <a:solidFill>
                <a:schemeClr val="tx1"/>
              </a:solidFill>
              <a:sym typeface="+mn-ea"/>
            </a:endParaRPr>
          </a:p>
          <a:p>
            <a:pPr marL="0" lvl="2" indent="457200"/>
            <a:endParaRPr lang="en-US" altLang="zh-CN">
              <a:solidFill>
                <a:schemeClr val="tx1"/>
              </a:solidFill>
              <a:sym typeface="+mn-ea"/>
            </a:endParaRPr>
          </a:p>
          <a:p>
            <a:pPr marL="0" lvl="2" indent="457200"/>
            <a:endParaRPr lang="en-US" altLang="zh-CN">
              <a:solidFill>
                <a:schemeClr val="tx1"/>
              </a:solidFill>
              <a:sym typeface="+mn-ea"/>
            </a:endParaRPr>
          </a:p>
          <a:p>
            <a:pPr marL="0" lvl="2" indent="457200"/>
            <a:endParaRPr lang="en-US" altLang="zh-CN">
              <a:solidFill>
                <a:schemeClr val="tx1"/>
              </a:solidFill>
              <a:sym typeface="+mn-ea"/>
            </a:endParaRPr>
          </a:p>
          <a:p>
            <a:pPr marL="0" lvl="2" indent="457200"/>
            <a:endParaRPr lang="en-US" altLang="zh-CN">
              <a:solidFill>
                <a:schemeClr val="tx1"/>
              </a:solidFill>
              <a:sym typeface="+mn-ea"/>
            </a:endParaRPr>
          </a:p>
          <a:p>
            <a:pPr marL="0" lvl="2" indent="457200"/>
            <a:endParaRPr lang="en-US" altLang="zh-CN">
              <a:solidFill>
                <a:schemeClr val="tx1"/>
              </a:solidFill>
              <a:sym typeface="+mn-ea"/>
            </a:endParaRPr>
          </a:p>
          <a:p>
            <a:pPr marL="0" lvl="2" indent="457200"/>
            <a:endParaRPr lang="en-US" altLang="zh-CN">
              <a:solidFill>
                <a:schemeClr val="tx1"/>
              </a:solidFill>
              <a:sym typeface="+mn-ea"/>
            </a:endParaRPr>
          </a:p>
          <a:p>
            <a:pPr marL="0" lvl="2" indent="457200"/>
            <a:endParaRPr lang="en-US" altLang="zh-CN">
              <a:solidFill>
                <a:schemeClr val="tx1"/>
              </a:solidFill>
              <a:sym typeface="+mn-ea"/>
            </a:endParaRPr>
          </a:p>
          <a:p>
            <a:pPr marL="0" lvl="2" indent="457200"/>
            <a:endParaRPr lang="en-US" altLang="zh-CN">
              <a:solidFill>
                <a:schemeClr val="tx1"/>
              </a:solidFill>
              <a:sym typeface="+mn-ea"/>
            </a:endParaRPr>
          </a:p>
          <a:p>
            <a:pPr marL="0" lvl="2" indent="457200"/>
            <a:endParaRPr lang="en-US" altLang="zh-CN">
              <a:solidFill>
                <a:schemeClr val="tx1"/>
              </a:solidFill>
              <a:sym typeface="+mn-ea"/>
            </a:endParaRPr>
          </a:p>
          <a:p>
            <a:pPr marL="0" lvl="2" indent="457200"/>
            <a:endParaRPr lang="en-US" altLang="zh-CN">
              <a:solidFill>
                <a:schemeClr val="tx1"/>
              </a:solidFill>
              <a:sym typeface="+mn-ea"/>
            </a:endParaRPr>
          </a:p>
          <a:p>
            <a:pPr marL="0" lvl="2" indent="457200"/>
            <a:r>
              <a:rPr lang="zh-CN" altLang="en-US">
                <a:solidFill>
                  <a:schemeClr val="tx1"/>
                </a:solidFill>
                <a:sym typeface="+mn-ea"/>
              </a:rPr>
              <a:t>请看：代码模板。</a:t>
            </a:r>
            <a:endParaRPr lang="en-US" altLang="zh-CN">
              <a:solidFill>
                <a:schemeClr val="tx1"/>
              </a:solidFill>
              <a:sym typeface="+mn-ea"/>
            </a:endParaRPr>
          </a:p>
          <a:p>
            <a:pPr indent="457200"/>
            <a:endParaRPr lang="en-US" altLang="zh-CN">
              <a:solidFill>
                <a:schemeClr val="tx1"/>
              </a:solidFill>
              <a:sym typeface="+mn-ea"/>
            </a:endParaRPr>
          </a:p>
          <a:p>
            <a:pPr indent="457200"/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endParaRPr lang="zh-CN" altLang="en-US"/>
          </a:p>
          <a:p/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212850" y="2283460"/>
            <a:ext cx="8689975" cy="21431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91185" y="849630"/>
            <a:ext cx="11009630" cy="47631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lvl="2" indent="457200"/>
            <a:r>
              <a:rPr lang="en-US" altLang="zh-CN">
                <a:sym typeface="+mn-ea"/>
              </a:rPr>
              <a:t>2.Prim</a:t>
            </a:r>
            <a:r>
              <a:rPr lang="zh-CN" altLang="en-US">
                <a:sym typeface="+mn-ea"/>
              </a:rPr>
              <a:t>算法</a:t>
            </a:r>
            <a:r>
              <a:rPr lang="zh-CN" altLang="en-US">
                <a:sym typeface="+mn-ea"/>
              </a:rPr>
              <a:t>：由</a:t>
            </a:r>
            <a:r>
              <a:rPr lang="en-US" altLang="zh-CN">
                <a:sym typeface="+mn-ea"/>
              </a:rPr>
              <a:t>Prim</a:t>
            </a:r>
            <a:r>
              <a:rPr lang="zh-CN" altLang="en-US">
                <a:sym typeface="+mn-ea"/>
              </a:rPr>
              <a:t>提出。该算法的基本思想是从一个结点开始，不断加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点</a:t>
            </a:r>
            <a:r>
              <a:rPr lang="zh-CN" altLang="en-US">
                <a:sym typeface="+mn-ea"/>
              </a:rPr>
              <a:t>（而不是 Kruskal 算法的加边）。每次总是选出一个离生成树距离最小的点去加入生成树，最后实现最小生成树。类似</a:t>
            </a:r>
            <a:r>
              <a:rPr lang="en-US" altLang="zh-CN">
                <a:sym typeface="+mn-ea"/>
              </a:rPr>
              <a:t>Dijkstra</a:t>
            </a:r>
            <a:r>
              <a:rPr lang="zh-CN" altLang="en-US">
                <a:sym typeface="+mn-ea"/>
              </a:rPr>
              <a:t>算法。</a:t>
            </a:r>
            <a:endParaRPr lang="zh-CN" altLang="en-US">
              <a:sym typeface="+mn-ea"/>
            </a:endParaRPr>
          </a:p>
          <a:p>
            <a:pPr marL="0" lvl="2" indent="457200"/>
            <a:r>
              <a:rPr lang="zh-CN" altLang="en-US">
                <a:sym typeface="+mn-ea"/>
              </a:rPr>
              <a:t>时间复杂度</a:t>
            </a:r>
            <a:r>
              <a:rPr lang="en-US" altLang="zh-CN">
                <a:sym typeface="+mn-ea"/>
              </a:rPr>
              <a:t> O</a:t>
            </a: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V^2</a:t>
            </a:r>
            <a:r>
              <a:rPr lang="zh-CN" altLang="en-US">
                <a:sym typeface="+mn-ea"/>
              </a:rPr>
              <a:t>）</a:t>
            </a:r>
            <a:r>
              <a:rPr lang="en-US" altLang="zh-CN">
                <a:sym typeface="+mn-ea"/>
              </a:rPr>
              <a:t>-------》</a:t>
            </a:r>
            <a:r>
              <a:rPr lang="zh-CN" altLang="en-US">
                <a:sym typeface="+mn-ea"/>
              </a:rPr>
              <a:t>稠密</a:t>
            </a:r>
            <a:r>
              <a:rPr lang="zh-CN" altLang="en-US">
                <a:sym typeface="+mn-ea"/>
              </a:rPr>
              <a:t>图</a:t>
            </a:r>
            <a:endParaRPr lang="zh-CN" altLang="en-US">
              <a:sym typeface="+mn-ea"/>
            </a:endParaRPr>
          </a:p>
          <a:p>
            <a:pPr marL="0" lvl="2" indent="457200"/>
            <a:endParaRPr lang="zh-CN" altLang="en-US">
              <a:solidFill>
                <a:srgbClr val="FF0000"/>
              </a:solidFill>
              <a:sym typeface="+mn-ea"/>
            </a:endParaRPr>
          </a:p>
          <a:p>
            <a:pPr marL="0" lvl="2" indent="457200"/>
            <a:endParaRPr lang="en-US" altLang="zh-CN">
              <a:solidFill>
                <a:schemeClr val="tx1"/>
              </a:solidFill>
              <a:sym typeface="+mn-ea"/>
            </a:endParaRPr>
          </a:p>
          <a:p>
            <a:pPr marL="0" lvl="2" indent="457200"/>
            <a:endParaRPr lang="en-US" altLang="zh-CN">
              <a:solidFill>
                <a:schemeClr val="tx1"/>
              </a:solidFill>
              <a:sym typeface="+mn-ea"/>
            </a:endParaRPr>
          </a:p>
          <a:p>
            <a:pPr marL="0" lvl="2" indent="457200"/>
            <a:endParaRPr lang="en-US" altLang="zh-CN">
              <a:solidFill>
                <a:schemeClr val="tx1"/>
              </a:solidFill>
              <a:sym typeface="+mn-ea"/>
            </a:endParaRPr>
          </a:p>
          <a:p>
            <a:pPr marL="0" lvl="2" indent="457200"/>
            <a:endParaRPr lang="en-US" altLang="zh-CN">
              <a:solidFill>
                <a:schemeClr val="tx1"/>
              </a:solidFill>
              <a:sym typeface="+mn-ea"/>
            </a:endParaRPr>
          </a:p>
          <a:p>
            <a:pPr marL="0" lvl="2" indent="457200"/>
            <a:endParaRPr lang="en-US" altLang="zh-CN">
              <a:solidFill>
                <a:schemeClr val="tx1"/>
              </a:solidFill>
              <a:sym typeface="+mn-ea"/>
            </a:endParaRPr>
          </a:p>
          <a:p>
            <a:pPr marL="0" lvl="2" indent="457200"/>
            <a:endParaRPr lang="en-US" altLang="zh-CN">
              <a:solidFill>
                <a:schemeClr val="tx1"/>
              </a:solidFill>
              <a:sym typeface="+mn-ea"/>
            </a:endParaRPr>
          </a:p>
          <a:p>
            <a:pPr marL="0" lvl="2" indent="457200"/>
            <a:endParaRPr lang="en-US" altLang="zh-CN">
              <a:solidFill>
                <a:schemeClr val="tx1"/>
              </a:solidFill>
              <a:sym typeface="+mn-ea"/>
            </a:endParaRPr>
          </a:p>
          <a:p>
            <a:pPr marL="0" lvl="2" indent="457200"/>
            <a:endParaRPr lang="en-US" altLang="zh-CN">
              <a:solidFill>
                <a:schemeClr val="tx1"/>
              </a:solidFill>
              <a:sym typeface="+mn-ea"/>
            </a:endParaRPr>
          </a:p>
          <a:p>
            <a:pPr marL="0" lvl="2" indent="457200"/>
            <a:endParaRPr lang="en-US" altLang="zh-CN">
              <a:solidFill>
                <a:schemeClr val="tx1"/>
              </a:solidFill>
              <a:sym typeface="+mn-ea"/>
            </a:endParaRPr>
          </a:p>
          <a:p>
            <a:pPr marL="0" lvl="2" indent="457200"/>
            <a:endParaRPr lang="en-US" altLang="zh-CN">
              <a:solidFill>
                <a:schemeClr val="tx1"/>
              </a:solidFill>
              <a:sym typeface="+mn-ea"/>
            </a:endParaRPr>
          </a:p>
          <a:p>
            <a:pPr marL="0" lvl="2" indent="457200"/>
            <a:endParaRPr lang="en-US" altLang="zh-CN">
              <a:solidFill>
                <a:schemeClr val="tx1"/>
              </a:solidFill>
              <a:sym typeface="+mn-ea"/>
            </a:endParaRPr>
          </a:p>
          <a:p>
            <a:pPr marL="0" lvl="2" indent="457200"/>
            <a:r>
              <a:rPr lang="zh-CN" altLang="en-US">
                <a:solidFill>
                  <a:schemeClr val="tx1"/>
                </a:solidFill>
                <a:sym typeface="+mn-ea"/>
              </a:rPr>
              <a:t>请看：代码模板。</a:t>
            </a:r>
            <a:endParaRPr lang="en-US" altLang="zh-CN">
              <a:solidFill>
                <a:schemeClr val="tx1"/>
              </a:solidFill>
              <a:sym typeface="+mn-ea"/>
            </a:endParaRPr>
          </a:p>
          <a:p>
            <a:pPr indent="457200"/>
            <a:endParaRPr lang="en-US" altLang="zh-CN">
              <a:solidFill>
                <a:schemeClr val="tx1"/>
              </a:solidFill>
              <a:sym typeface="+mn-ea"/>
            </a:endParaRPr>
          </a:p>
          <a:p>
            <a:pPr indent="457200"/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endParaRPr lang="zh-CN" altLang="en-US"/>
          </a:p>
          <a:p/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781810" y="2081530"/>
            <a:ext cx="8760460" cy="191071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221105" y="325755"/>
            <a:ext cx="8776970" cy="8947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https://www.luogu.com.cn/problem/P1194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221105" y="1301750"/>
            <a:ext cx="77781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思路：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221105" y="325755"/>
            <a:ext cx="8776970" cy="8947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https://www.luogu.com.cn/problem/P1194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221105" y="1301750"/>
            <a:ext cx="7778115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思路：</a:t>
            </a:r>
            <a:endParaRPr lang="zh-CN" altLang="en-US"/>
          </a:p>
          <a:p>
            <a:r>
              <a:rPr lang="zh-CN" altLang="en-US"/>
              <a:t>把所有的物品都看作节点，那么购买所有物品所花费的最小值，就应该是把所有点连接起来的最小代价，也就是该图的</a:t>
            </a:r>
            <a:r>
              <a:rPr lang="zh-CN" altLang="en-US">
                <a:solidFill>
                  <a:srgbClr val="FF0000"/>
                </a:solidFill>
              </a:rPr>
              <a:t>最小生成树</a:t>
            </a:r>
            <a:r>
              <a:rPr lang="zh-CN" altLang="en-US"/>
              <a:t>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如果两个物品之间存在关系，那么可以有优惠，就把两个两个点连起来，增加一条边。对所有的节点，我们都可以直接购买，所有的节点都增加一条边指向一个公共的根节点，边权值为</a:t>
            </a:r>
            <a:r>
              <a:rPr lang="en-US" altLang="zh-CN"/>
              <a:t>A</a:t>
            </a:r>
            <a:r>
              <a:rPr lang="zh-CN" altLang="en-US"/>
              <a:t>。然后求出最小生成树的值即可。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221105" y="325755"/>
            <a:ext cx="8776970" cy="8947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https://www.luogu.com.cn/problem/P1265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221105" y="1100455"/>
            <a:ext cx="77781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思路：</a:t>
            </a:r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221105" y="325755"/>
            <a:ext cx="8776970" cy="8947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https://www.luogu.com.cn/problem/P1265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221105" y="1100455"/>
            <a:ext cx="10178415" cy="53460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思路：重点是理解三条</a:t>
            </a:r>
            <a:r>
              <a:rPr lang="zh-CN" altLang="en-US"/>
              <a:t>规则：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1</a:t>
            </a:r>
            <a:r>
              <a:rPr lang="en-US" altLang="zh-CN"/>
              <a:t>.</a:t>
            </a:r>
            <a:r>
              <a:rPr lang="zh-CN" altLang="en-US"/>
              <a:t>简化一下理解就是连接两个点</a:t>
            </a:r>
            <a:endParaRPr lang="zh-CN" altLang="en-US"/>
          </a:p>
          <a:p>
            <a:r>
              <a:rPr lang="zh-CN" altLang="en-US"/>
              <a:t>2</a:t>
            </a:r>
            <a:r>
              <a:rPr lang="en-US" altLang="zh-CN"/>
              <a:t>.</a:t>
            </a:r>
            <a:r>
              <a:rPr lang="zh-CN" altLang="en-US"/>
              <a:t>这种情况根本不可能出现</a:t>
            </a:r>
            <a:endParaRPr lang="zh-CN" altLang="en-US"/>
          </a:p>
          <a:p>
            <a:r>
              <a:rPr lang="zh-CN" altLang="en-US"/>
              <a:t>假设有三个城市A，B，C，AB距离为a，BC距离为b，AC距离为c</a:t>
            </a:r>
            <a:r>
              <a:rPr lang="en-US" altLang="zh-CN"/>
              <a:t>:</a:t>
            </a:r>
            <a:endParaRPr lang="zh-CN" altLang="en-US"/>
          </a:p>
          <a:p>
            <a:r>
              <a:rPr lang="zh-CN" altLang="en-US"/>
              <a:t>如果A要连B，那么有a &lt; c;</a:t>
            </a:r>
            <a:endParaRPr lang="zh-CN" altLang="en-US"/>
          </a:p>
          <a:p>
            <a:r>
              <a:rPr lang="zh-CN" altLang="en-US"/>
              <a:t>如果B要连C，那么有b &lt; a;</a:t>
            </a:r>
            <a:endParaRPr lang="zh-CN" altLang="en-US"/>
          </a:p>
          <a:p>
            <a:r>
              <a:rPr lang="zh-CN" altLang="en-US"/>
              <a:t>如果C要连A，那么有c &lt; b;</a:t>
            </a:r>
            <a:endParaRPr lang="zh-CN" altLang="en-US"/>
          </a:p>
          <a:p>
            <a:r>
              <a:rPr lang="zh-CN" altLang="en-US"/>
              <a:t>显然不可能成立。</a:t>
            </a:r>
            <a:endParaRPr lang="en-US" altLang="zh-CN"/>
          </a:p>
          <a:p>
            <a:endParaRPr lang="zh-CN" altLang="en-US"/>
          </a:p>
          <a:p>
            <a:r>
              <a:rPr lang="zh-CN" altLang="en-US"/>
              <a:t>显然本题就是求最小生成树。</a:t>
            </a:r>
            <a:endParaRPr lang="zh-CN" altLang="en-US"/>
          </a:p>
          <a:p>
            <a:r>
              <a:rPr lang="zh-CN" altLang="en-US"/>
              <a:t>注意：</a:t>
            </a:r>
            <a:endParaRPr lang="zh-CN" altLang="en-US"/>
          </a:p>
          <a:p>
            <a:r>
              <a:rPr lang="zh-CN" altLang="en-US"/>
              <a:t>（</a:t>
            </a:r>
            <a:r>
              <a:rPr lang="en-US" altLang="zh-CN"/>
              <a:t>1</a:t>
            </a:r>
            <a:r>
              <a:rPr lang="zh-CN" altLang="en-US"/>
              <a:t>）稠密图，用kruskal跑太慢了，</a:t>
            </a:r>
            <a:endParaRPr lang="zh-CN" altLang="en-US"/>
          </a:p>
          <a:p>
            <a:r>
              <a:rPr lang="zh-CN" altLang="en-US"/>
              <a:t>显然用prim会更快一点</a:t>
            </a:r>
            <a:endParaRPr lang="zh-CN" altLang="en-US"/>
          </a:p>
          <a:p>
            <a:r>
              <a:rPr lang="zh-CN" altLang="en-US"/>
              <a:t>（</a:t>
            </a:r>
            <a:r>
              <a:rPr lang="en-US" altLang="zh-CN"/>
              <a:t>2</a:t>
            </a:r>
            <a:r>
              <a:rPr lang="zh-CN" altLang="en-US"/>
              <a:t>）开5000*5000邻接矩阵的话会MLE，</a:t>
            </a:r>
            <a:endParaRPr lang="zh-CN" altLang="en-US"/>
          </a:p>
          <a:p>
            <a:r>
              <a:rPr lang="zh-CN" altLang="en-US"/>
              <a:t>因此没有必要把边权预处理出来保存在矩阵里，</a:t>
            </a:r>
            <a:endParaRPr lang="zh-CN" altLang="en-US"/>
          </a:p>
          <a:p>
            <a:r>
              <a:rPr lang="zh-CN" altLang="en-US"/>
              <a:t>每次需要用到的时候直接计算即可。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210300" y="3226435"/>
            <a:ext cx="3840480" cy="26797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2662555" y="2198370"/>
            <a:ext cx="6465570" cy="10579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欧拉路径和欧拉</a:t>
            </a:r>
            <a:r>
              <a:rPr lang="zh-CN" altLang="en-US"/>
              <a:t>回路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COMMONDATA" val="eyJoZGlkIjoiMjNhN2QzNzIxYTMxZDA2OTMyYTljMDA5MmRhYmMwNjc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993</Words>
  <Application>WPS 演示</Application>
  <PresentationFormat>宽屏</PresentationFormat>
  <Paragraphs>94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Arial</vt:lpstr>
      <vt:lpstr>宋体</vt:lpstr>
      <vt:lpstr>Wingdings</vt:lpstr>
      <vt:lpstr>Calibri</vt:lpstr>
      <vt:lpstr>Helvetica Neue</vt:lpstr>
      <vt:lpstr>微软雅黑</vt:lpstr>
      <vt:lpstr>汉仪旗黑</vt:lpstr>
      <vt:lpstr>微软雅黑</vt:lpstr>
      <vt:lpstr>宋体</vt:lpstr>
      <vt:lpstr>Arial Unicode MS</vt:lpstr>
      <vt:lpstr>汉仪书宋二KW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喵~</cp:lastModifiedBy>
  <cp:revision>27</cp:revision>
  <dcterms:created xsi:type="dcterms:W3CDTF">2025-04-22T13:42:12Z</dcterms:created>
  <dcterms:modified xsi:type="dcterms:W3CDTF">2025-04-22T13:42:12Z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39D95B3D507C44309E7C251695CCA2D4_12</vt:lpwstr>
  </property>
  <property fmtid="{D5CDD505-2E9C-101B-9397-08002B2CF9AE}" pid="3" name="KSOProductBuildVer">
    <vt:lpwstr>2052-6.15.2.8936</vt:lpwstr>
  </property>
</Properties>
</file>