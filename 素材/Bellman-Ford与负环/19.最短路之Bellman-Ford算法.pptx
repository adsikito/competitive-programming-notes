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98" r:id="rId3"/>
    <p:sldId id="299" r:id="rId4"/>
    <p:sldId id="265" r:id="rId5"/>
    <p:sldId id="285" r:id="rId6"/>
    <p:sldId id="286" r:id="rId7"/>
    <p:sldId id="287" r:id="rId8"/>
    <p:sldId id="288" r:id="rId9"/>
    <p:sldId id="290" r:id="rId11"/>
    <p:sldId id="291" r:id="rId12"/>
    <p:sldId id="294" r:id="rId13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0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https://blog.csdn.net/m0_58151858/article/details/124204854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9.xml"/><Relationship Id="rId3" Type="http://schemas.openxmlformats.org/officeDocument/2006/relationships/image" Target="../media/image5.png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847215" y="1311275"/>
            <a:ext cx="8719820" cy="4234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最短路</a:t>
            </a:r>
            <a:r>
              <a:rPr lang="zh-CN" altLang="en-US">
                <a:sym typeface="+mn-ea"/>
              </a:rPr>
              <a:t>算法：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pPr indent="457200"/>
            <a:r>
              <a:rPr lang="zh-CN" altLang="en-US" dirty="0">
                <a:sym typeface="+mn-ea"/>
              </a:rPr>
              <a:t>1.Floyed算法</a:t>
            </a:r>
            <a:endParaRPr lang="zh-CN" altLang="en-US" dirty="0">
              <a:sym typeface="+mn-ea"/>
            </a:endParaRPr>
          </a:p>
          <a:p>
            <a:pPr indent="457200"/>
            <a:endParaRPr lang="zh-CN" altLang="en-US" dirty="0">
              <a:sym typeface="+mn-ea"/>
            </a:endParaRPr>
          </a:p>
          <a:p>
            <a:pPr indent="457200"/>
            <a:r>
              <a:rPr lang="zh-CN" altLang="en-US" dirty="0">
                <a:sym typeface="宋体" pitchFamily="2" charset="-122"/>
              </a:rPr>
              <a:t>2.</a:t>
            </a:r>
            <a:r>
              <a:rPr lang="zh-CN" altLang="en-US" dirty="0">
                <a:sym typeface="Times New Roman" panose="02020503050405090304" pitchFamily="18" charset="0"/>
              </a:rPr>
              <a:t>Dijkstra</a:t>
            </a:r>
            <a:r>
              <a:rPr lang="zh-CN" altLang="en-US" dirty="0">
                <a:sym typeface="宋体" pitchFamily="2" charset="-122"/>
              </a:rPr>
              <a:t>算法</a:t>
            </a:r>
            <a:endParaRPr lang="zh-CN" altLang="en-US" dirty="0">
              <a:sym typeface="宋体" pitchFamily="2" charset="-122"/>
            </a:endParaRPr>
          </a:p>
          <a:p>
            <a:pPr indent="457200"/>
            <a:endParaRPr lang="zh-CN" altLang="en-US" dirty="0">
              <a:sym typeface="宋体" pitchFamily="2" charset="-122"/>
            </a:endParaRPr>
          </a:p>
          <a:p>
            <a:pPr indent="457200" algn="l">
              <a:buClrTx/>
              <a:buSzTx/>
              <a:buNone/>
            </a:pPr>
            <a:r>
              <a:rPr lang="zh-CN" altLang="en-US" dirty="0">
                <a:solidFill>
                  <a:srgbClr val="FF0000"/>
                </a:solidFill>
                <a:sym typeface="宋体" pitchFamily="2" charset="-122"/>
              </a:rPr>
              <a:t>3.</a:t>
            </a:r>
            <a:r>
              <a:rPr lang="zh-CN" altLang="en-US" dirty="0">
                <a:solidFill>
                  <a:srgbClr val="FF0000"/>
                </a:solidFill>
                <a:sym typeface="Times New Roman" panose="02020503050405090304" pitchFamily="18" charset="0"/>
              </a:rPr>
              <a:t>Bellman-Ford</a:t>
            </a:r>
            <a:r>
              <a:rPr lang="zh-CN" altLang="en-US" dirty="0">
                <a:solidFill>
                  <a:srgbClr val="FF0000"/>
                </a:solidFill>
                <a:sym typeface="宋体" pitchFamily="2" charset="-122"/>
              </a:rPr>
              <a:t>算法</a:t>
            </a:r>
            <a:endParaRPr lang="zh-CN" altLang="en-US" dirty="0">
              <a:solidFill>
                <a:srgbClr val="FF0000"/>
              </a:solidFill>
              <a:sym typeface="宋体" pitchFamily="2" charset="-122"/>
            </a:endParaRPr>
          </a:p>
          <a:p>
            <a:pPr indent="457200" algn="l">
              <a:buClrTx/>
              <a:buSzTx/>
              <a:buNone/>
            </a:pPr>
            <a:endParaRPr lang="zh-CN" altLang="en-US" dirty="0">
              <a:solidFill>
                <a:srgbClr val="FF0000"/>
              </a:solidFill>
              <a:sym typeface="宋体" pitchFamily="2" charset="-122"/>
            </a:endParaRPr>
          </a:p>
          <a:p>
            <a:pPr indent="457200" algn="l">
              <a:buClrTx/>
              <a:buSzTx/>
              <a:buNone/>
            </a:pPr>
            <a:r>
              <a:rPr lang="zh-CN" altLang="en-US" dirty="0">
                <a:sym typeface="宋体" pitchFamily="2" charset="-122"/>
              </a:rPr>
              <a:t>4</a:t>
            </a:r>
            <a:r>
              <a:rPr lang="en-US" altLang="zh-CN" dirty="0">
                <a:sym typeface="宋体" pitchFamily="2" charset="-122"/>
              </a:rPr>
              <a:t>.</a:t>
            </a:r>
            <a:r>
              <a:rPr lang="zh-CN" altLang="en-US" dirty="0">
                <a:sym typeface="Times New Roman" panose="02020503050405090304" pitchFamily="18" charset="0"/>
              </a:rPr>
              <a:t>SPFA</a:t>
            </a:r>
            <a:r>
              <a:rPr lang="zh-CN" altLang="en-US" dirty="0">
                <a:sym typeface="宋体" pitchFamily="2" charset="-122"/>
              </a:rPr>
              <a:t>算法</a:t>
            </a:r>
            <a:endParaRPr lang="zh-CN" altLang="en-US" dirty="0">
              <a:sym typeface="宋体" pitchFamily="2" charset="-122"/>
            </a:endParaRPr>
          </a:p>
          <a:p>
            <a:pPr marL="0" lvl="0" indent="0" algn="l">
              <a:buClrTx/>
              <a:buSzTx/>
              <a:buNone/>
            </a:pP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0" lvl="0" indent="0" algn="l">
              <a:buClrTx/>
              <a:buSzTx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关注：算法流程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思路，时间复杂度，适用情况（单源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多源，负边权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负边权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回路）。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15640" y="1633220"/>
            <a:ext cx="4184015" cy="2716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先</a:t>
            </a:r>
            <a:r>
              <a:rPr lang="zh-CN" altLang="en-US">
                <a:sym typeface="+mn-ea"/>
              </a:rPr>
              <a:t>复习：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pPr indent="457200"/>
            <a:r>
              <a:rPr lang="zh-CN" altLang="en-US" dirty="0">
                <a:sym typeface="+mn-ea"/>
              </a:rPr>
              <a:t>1.Floyed算法</a:t>
            </a:r>
            <a:endParaRPr lang="zh-CN" altLang="en-US" dirty="0">
              <a:sym typeface="+mn-ea"/>
            </a:endParaRPr>
          </a:p>
          <a:p>
            <a:pPr indent="457200"/>
            <a:endParaRPr lang="zh-CN" altLang="en-US" dirty="0">
              <a:sym typeface="+mn-ea"/>
            </a:endParaRPr>
          </a:p>
          <a:p>
            <a:pPr indent="457200"/>
            <a:r>
              <a:rPr lang="zh-CN" altLang="en-US" dirty="0">
                <a:sym typeface="宋体" pitchFamily="2" charset="-122"/>
              </a:rPr>
              <a:t>2.</a:t>
            </a:r>
            <a:r>
              <a:rPr lang="zh-CN" altLang="en-US" dirty="0">
                <a:sym typeface="Times New Roman" panose="02020503050405090304" pitchFamily="18" charset="0"/>
              </a:rPr>
              <a:t>Dijkstra</a:t>
            </a:r>
            <a:r>
              <a:rPr lang="zh-CN" altLang="en-US" dirty="0">
                <a:sym typeface="宋体" pitchFamily="2" charset="-122"/>
              </a:rPr>
              <a:t>算法</a:t>
            </a:r>
            <a:endParaRPr lang="zh-CN" altLang="en-US" dirty="0">
              <a:sym typeface="宋体" pitchFamily="2" charset="-122"/>
            </a:endParaRPr>
          </a:p>
          <a:p>
            <a:pPr indent="457200"/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79500" y="729615"/>
            <a:ext cx="10503535" cy="5558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1.Floyd-Warshall算法 O(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|v|^3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) 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---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多源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　　简称Floyd(弗洛伊德)算法，是最简单的最短路径算法，可以计算图中任意两点间的最短路径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多源最短路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)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。Floyd的时间复杂度是O (</a:t>
            </a:r>
            <a:r>
              <a:rPr lang="en-US" altLang="zh-CN" dirty="0">
                <a:sym typeface="+mn-ea"/>
              </a:rPr>
              <a:t>|v|^3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)，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适用于出现负边权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的情况，</a:t>
            </a:r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但</a:t>
            </a:r>
            <a:r>
              <a:rPr lang="zh-CN" altLang="en-US" dirty="0">
                <a:solidFill>
                  <a:srgbClr val="FF0000"/>
                </a:solidFill>
                <a:sym typeface="宋体" pitchFamily="2" charset="-122"/>
              </a:rPr>
              <a:t>无法处理存在负权回路</a:t>
            </a:r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的情况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。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算法描述：</a:t>
            </a:r>
            <a:endParaRPr lang="zh-CN" altLang="en-US" dirty="0">
              <a:solidFill>
                <a:schemeClr val="tx1"/>
              </a:solidFill>
            </a:endParaRPr>
          </a:p>
          <a:p>
            <a:pPr indent="457200"/>
            <a:r>
              <a:rPr lang="zh-CN" altLang="en-US" dirty="0">
                <a:solidFill>
                  <a:schemeClr val="tx1"/>
                </a:solidFill>
                <a:sym typeface="+mn-ea"/>
              </a:rPr>
              <a:t>初始化：点u、v如果有边相连，则dis[u][v]=w[u][v]。如果不相连则dis[u][v]=0x7fffffff。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indent="457200"/>
            <a:r>
              <a:rPr lang="zh-CN" altLang="en-US" dirty="0">
                <a:solidFill>
                  <a:schemeClr val="tx1"/>
                </a:solidFill>
                <a:sym typeface="+mn-ea"/>
              </a:rPr>
              <a:t>算法结束：dis[i][j]得出的就是从i到j的最短路径。</a:t>
            </a:r>
            <a:endParaRPr lang="zh-CN" altLang="en-US" dirty="0">
              <a:solidFill>
                <a:schemeClr val="tx1"/>
              </a:solidFill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92580" y="2378710"/>
            <a:ext cx="5953125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89000" y="723265"/>
            <a:ext cx="10414635" cy="5275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2.</a:t>
            </a:r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Dijkstra</a:t>
            </a:r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算法</a:t>
            </a:r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O (</a:t>
            </a:r>
            <a:r>
              <a:rPr lang="en-US" altLang="zh-CN" dirty="0">
                <a:sym typeface="+mn-ea"/>
              </a:rPr>
              <a:t>|v|^2</a:t>
            </a:r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)</a:t>
            </a:r>
            <a:r>
              <a:rPr lang="en-US" altLang="zh-CN" dirty="0">
                <a:solidFill>
                  <a:schemeClr val="tx1"/>
                </a:solidFill>
                <a:sym typeface="Times New Roman" panose="02020503050405090304" pitchFamily="18" charset="0"/>
              </a:rPr>
              <a:t>----</a:t>
            </a:r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边权不能是负数</a:t>
            </a:r>
            <a:r>
              <a:rPr lang="en-US" altLang="zh-CN" dirty="0">
                <a:solidFill>
                  <a:schemeClr val="tx1"/>
                </a:solidFill>
                <a:sym typeface="Times New Roman" panose="02020503050405090304" pitchFamily="18" charset="0"/>
              </a:rPr>
              <a:t>----&gt;</a:t>
            </a:r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链式前向星或者</a:t>
            </a:r>
            <a:r>
              <a:rPr lang="en-US" altLang="zh-CN" dirty="0">
                <a:solidFill>
                  <a:schemeClr val="tx1"/>
                </a:solidFill>
                <a:sym typeface="Times New Roman" panose="02020503050405090304" pitchFamily="18" charset="0"/>
              </a:rPr>
              <a:t>vector</a:t>
            </a:r>
            <a:endParaRPr lang="zh-CN" altLang="en-US" dirty="0">
              <a:solidFill>
                <a:schemeClr val="tx1"/>
              </a:solidFill>
              <a:sym typeface="宋体" pitchFamily="2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用来计算从一个点到其他所有点的最短路径的算法，是一种单源最短路径算法。也就是说，只能计算起点只有一个的情况。</a:t>
            </a:r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D</a:t>
            </a:r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ijkstra的时间复杂度是</a:t>
            </a:r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O (</a:t>
            </a:r>
            <a:r>
              <a:rPr lang="en-US" altLang="zh-CN" dirty="0">
                <a:sym typeface="+mn-ea"/>
              </a:rPr>
              <a:t>|v|^2</a:t>
            </a:r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)</a:t>
            </a:r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，它</a:t>
            </a:r>
            <a:r>
              <a:rPr lang="zh-CN" altLang="en-US" dirty="0">
                <a:solidFill>
                  <a:srgbClr val="FF0000"/>
                </a:solidFill>
                <a:sym typeface="宋体" pitchFamily="2" charset="-122"/>
              </a:rPr>
              <a:t>不能处理存在负边权</a:t>
            </a:r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的情况。</a:t>
            </a:r>
            <a:endParaRPr lang="zh-CN" altLang="en-US" dirty="0">
              <a:solidFill>
                <a:schemeClr val="tx1"/>
              </a:solidFill>
              <a:sym typeface="宋体" pitchFamily="2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算法描述：</a:t>
            </a:r>
            <a:endParaRPr lang="zh-CN" altLang="en-US" dirty="0">
              <a:solidFill>
                <a:schemeClr val="tx1"/>
              </a:solidFill>
              <a:sym typeface="Times New Roman" panose="02020503050405090304" pitchFamily="18" charset="0"/>
            </a:endParaRPr>
          </a:p>
          <a:p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       </a:t>
            </a:r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设起点为</a:t>
            </a:r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s</a:t>
            </a:r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，</a:t>
            </a:r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dis[v]</a:t>
            </a:r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表示从</a:t>
            </a:r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s</a:t>
            </a:r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到</a:t>
            </a:r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v</a:t>
            </a:r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的最短路径，</a:t>
            </a:r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pre[v]</a:t>
            </a:r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为</a:t>
            </a:r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v</a:t>
            </a:r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的前驱节点，用来输出路径。</a:t>
            </a:r>
            <a:endParaRPr lang="zh-CN" altLang="en-US" dirty="0">
              <a:solidFill>
                <a:schemeClr val="tx1"/>
              </a:solidFill>
              <a:sym typeface="Times New Roman" panose="02020503050405090304" pitchFamily="18" charset="0"/>
            </a:endParaRPr>
          </a:p>
          <a:p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       </a:t>
            </a:r>
            <a:endParaRPr lang="zh-CN" altLang="en-US" dirty="0">
              <a:solidFill>
                <a:schemeClr val="tx1"/>
              </a:solidFill>
              <a:sym typeface="Times New Roman" panose="02020503050405090304" pitchFamily="18" charset="0"/>
            </a:endParaRPr>
          </a:p>
          <a:p>
            <a:endParaRPr lang="zh-CN" altLang="en-US" dirty="0">
              <a:solidFill>
                <a:schemeClr val="tx1"/>
              </a:solidFill>
              <a:sym typeface="Times New Roman" panose="02020503050405090304" pitchFamily="18" charset="0"/>
            </a:endParaRPr>
          </a:p>
          <a:p>
            <a:endParaRPr lang="zh-CN" altLang="en-US" dirty="0">
              <a:solidFill>
                <a:schemeClr val="tx1"/>
              </a:solidFill>
              <a:sym typeface="Times New Roman" panose="02020503050405090304" pitchFamily="18" charset="0"/>
            </a:endParaRPr>
          </a:p>
          <a:p>
            <a:endParaRPr lang="zh-CN" altLang="en-US" dirty="0">
              <a:solidFill>
                <a:schemeClr val="tx1"/>
              </a:solidFill>
              <a:sym typeface="Times New Roman" panose="02020503050405090304" pitchFamily="18" charset="0"/>
            </a:endParaRPr>
          </a:p>
          <a:p>
            <a:endParaRPr lang="zh-CN" altLang="en-US" dirty="0">
              <a:solidFill>
                <a:schemeClr val="tx1"/>
              </a:solidFill>
              <a:sym typeface="Times New Roman" panose="02020503050405090304" pitchFamily="18" charset="0"/>
            </a:endParaRPr>
          </a:p>
          <a:p>
            <a:endParaRPr lang="zh-CN" altLang="en-US" dirty="0">
              <a:solidFill>
                <a:schemeClr val="tx1"/>
              </a:solidFill>
              <a:sym typeface="Times New Roman" panose="02020503050405090304" pitchFamily="18" charset="0"/>
            </a:endParaRPr>
          </a:p>
          <a:p>
            <a:endParaRPr lang="zh-CN" altLang="en-US" dirty="0">
              <a:solidFill>
                <a:schemeClr val="tx1"/>
              </a:solidFill>
              <a:sym typeface="Times New Roman" panose="02020503050405090304" pitchFamily="18" charset="0"/>
            </a:endParaRPr>
          </a:p>
          <a:p>
            <a:endParaRPr lang="zh-CN" altLang="en-US" dirty="0">
              <a:solidFill>
                <a:schemeClr val="tx1"/>
              </a:solidFill>
              <a:sym typeface="Times New Roman" panose="02020503050405090304" pitchFamily="18" charset="0"/>
            </a:endParaRPr>
          </a:p>
          <a:p>
            <a:endParaRPr lang="zh-CN" altLang="en-US" dirty="0">
              <a:solidFill>
                <a:schemeClr val="tx1"/>
              </a:solidFill>
              <a:sym typeface="Times New Roman" panose="02020503050405090304" pitchFamily="18" charset="0"/>
            </a:endParaRPr>
          </a:p>
          <a:p>
            <a:endParaRPr lang="zh-CN" altLang="en-US" dirty="0">
              <a:solidFill>
                <a:schemeClr val="tx1"/>
              </a:solidFill>
              <a:sym typeface="Times New Roman" panose="02020503050405090304" pitchFamily="18" charset="0"/>
            </a:endParaRPr>
          </a:p>
          <a:p>
            <a:endParaRPr lang="zh-CN" altLang="en-US" dirty="0">
              <a:solidFill>
                <a:schemeClr val="tx1"/>
              </a:solidFill>
              <a:sym typeface="Times New Roman" panose="02020503050405090304" pitchFamily="18" charset="0"/>
            </a:endParaRPr>
          </a:p>
          <a:p>
            <a:endParaRPr lang="zh-CN" altLang="en-US" dirty="0">
              <a:solidFill>
                <a:schemeClr val="tx1"/>
              </a:solidFill>
              <a:sym typeface="Times New Roman" panose="02020503050405090304" pitchFamily="18" charset="0"/>
            </a:endParaRPr>
          </a:p>
          <a:p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        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endParaRPr lang="zh-CN" altLang="en-US">
              <a:solidFill>
                <a:schemeClr val="tx1"/>
              </a:solidFill>
              <a:sym typeface="+mn-ea"/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65885" y="2225675"/>
            <a:ext cx="9131300" cy="36468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03045" y="1430020"/>
            <a:ext cx="9618345" cy="425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dirty="0">
                <a:sym typeface="+mn-ea"/>
              </a:rPr>
              <a:t>Floyed算法和</a:t>
            </a:r>
            <a:r>
              <a:rPr lang="zh-CN" altLang="en-US" dirty="0">
                <a:sym typeface="Times New Roman" panose="02020503050405090304" pitchFamily="18" charset="0"/>
              </a:rPr>
              <a:t>Dijkstra</a:t>
            </a:r>
            <a:r>
              <a:rPr lang="zh-CN" altLang="en-US" dirty="0">
                <a:sym typeface="宋体" pitchFamily="2" charset="-122"/>
              </a:rPr>
              <a:t>算法有何共性？</a:t>
            </a:r>
            <a:endParaRPr lang="zh-CN" altLang="en-US" dirty="0">
              <a:sym typeface="宋体" pitchFamily="2" charset="-122"/>
            </a:endParaRPr>
          </a:p>
          <a:p>
            <a:pPr indent="457200"/>
            <a:endParaRPr lang="zh-CN" altLang="en-US" dirty="0">
              <a:sym typeface="宋体" pitchFamily="2" charset="-122"/>
            </a:endParaRPr>
          </a:p>
          <a:p>
            <a:pPr indent="457200"/>
            <a:r>
              <a:rPr lang="zh-CN" altLang="en-US" dirty="0">
                <a:sym typeface="宋体" pitchFamily="2" charset="-122"/>
              </a:rPr>
              <a:t>假设起点</a:t>
            </a:r>
            <a:r>
              <a:rPr lang="en-US" altLang="zh-CN" dirty="0">
                <a:sym typeface="宋体" pitchFamily="2" charset="-122"/>
              </a:rPr>
              <a:t> s</a:t>
            </a:r>
            <a:r>
              <a:rPr lang="zh-CN" altLang="en-US" dirty="0">
                <a:sym typeface="宋体" pitchFamily="2" charset="-122"/>
              </a:rPr>
              <a:t>，</a:t>
            </a:r>
            <a:r>
              <a:rPr lang="en-US" altLang="zh-CN" dirty="0">
                <a:sym typeface="宋体" pitchFamily="2" charset="-122"/>
              </a:rPr>
              <a:t>dis[i]/dis[s][i] </a:t>
            </a:r>
            <a:r>
              <a:rPr lang="zh-CN" altLang="en-US" dirty="0">
                <a:sym typeface="宋体" pitchFamily="2" charset="-122"/>
              </a:rPr>
              <a:t>表示</a:t>
            </a:r>
            <a:r>
              <a:rPr lang="en-US" altLang="zh-CN" dirty="0">
                <a:sym typeface="宋体" pitchFamily="2" charset="-122"/>
              </a:rPr>
              <a:t> s </a:t>
            </a:r>
            <a:r>
              <a:rPr lang="zh-CN" altLang="en-US" dirty="0">
                <a:sym typeface="宋体" pitchFamily="2" charset="-122"/>
              </a:rPr>
              <a:t>到</a:t>
            </a:r>
            <a:r>
              <a:rPr lang="en-US" altLang="zh-CN" dirty="0">
                <a:sym typeface="宋体" pitchFamily="2" charset="-122"/>
              </a:rPr>
              <a:t> i </a:t>
            </a:r>
            <a:r>
              <a:rPr lang="zh-CN" altLang="en-US" dirty="0">
                <a:sym typeface="宋体" pitchFamily="2" charset="-122"/>
              </a:rPr>
              <a:t>的最短（路径的）距离。</a:t>
            </a:r>
            <a:r>
              <a:rPr lang="en-US" altLang="zh-CN" dirty="0">
                <a:sym typeface="宋体" pitchFamily="2" charset="-122"/>
              </a:rPr>
              <a:t>w[i][j] </a:t>
            </a:r>
            <a:r>
              <a:rPr lang="zh-CN" altLang="en-US" dirty="0">
                <a:sym typeface="宋体" pitchFamily="2" charset="-122"/>
              </a:rPr>
              <a:t>表示</a:t>
            </a:r>
            <a:r>
              <a:rPr lang="en-US" altLang="zh-CN" dirty="0">
                <a:sym typeface="宋体" pitchFamily="2" charset="-122"/>
              </a:rPr>
              <a:t> </a:t>
            </a:r>
            <a:r>
              <a:rPr lang="zh-CN" altLang="en-US" dirty="0">
                <a:sym typeface="宋体" pitchFamily="2" charset="-122"/>
              </a:rPr>
              <a:t>边</a:t>
            </a:r>
            <a:r>
              <a:rPr lang="en-US" altLang="zh-CN" dirty="0">
                <a:sym typeface="宋体" pitchFamily="2" charset="-122"/>
              </a:rPr>
              <a:t>&lt;i,j&gt;</a:t>
            </a:r>
            <a:r>
              <a:rPr lang="zh-CN" altLang="en-US" dirty="0">
                <a:sym typeface="宋体" pitchFamily="2" charset="-122"/>
              </a:rPr>
              <a:t>的权值。</a:t>
            </a:r>
            <a:endParaRPr lang="zh-CN" altLang="en-US" dirty="0">
              <a:sym typeface="宋体" pitchFamily="2" charset="-122"/>
            </a:endParaRPr>
          </a:p>
          <a:p>
            <a:pPr indent="457200"/>
            <a:r>
              <a:rPr lang="zh-CN" altLang="en-US" dirty="0">
                <a:sym typeface="宋体" pitchFamily="2" charset="-122"/>
              </a:rPr>
              <a:t>若已知</a:t>
            </a:r>
            <a:r>
              <a:rPr lang="en-US" altLang="zh-CN" dirty="0">
                <a:sym typeface="宋体" pitchFamily="2" charset="-122"/>
              </a:rPr>
              <a:t> dis[i]/dis[s][i]</a:t>
            </a:r>
            <a:r>
              <a:rPr lang="zh-CN" altLang="en-US" dirty="0">
                <a:sym typeface="宋体" pitchFamily="2" charset="-122"/>
              </a:rPr>
              <a:t>，则有</a:t>
            </a:r>
            <a:r>
              <a:rPr lang="en-US" altLang="zh-CN" dirty="0">
                <a:sym typeface="宋体" pitchFamily="2" charset="-122"/>
              </a:rPr>
              <a:t> </a:t>
            </a:r>
            <a:endParaRPr lang="en-US" altLang="zh-CN" dirty="0">
              <a:sym typeface="宋体" pitchFamily="2" charset="-122"/>
            </a:endParaRPr>
          </a:p>
          <a:p>
            <a:pPr indent="457200"/>
            <a:endParaRPr lang="en-US" altLang="zh-CN" dirty="0">
              <a:sym typeface="宋体" pitchFamily="2" charset="-122"/>
            </a:endParaRPr>
          </a:p>
          <a:p>
            <a:pPr marL="457200" lvl="1" indent="457200"/>
            <a:r>
              <a:rPr lang="en-US" altLang="zh-CN" dirty="0">
                <a:sym typeface="宋体" pitchFamily="2" charset="-122"/>
              </a:rPr>
              <a:t>dis[s][j] = min(dis[s][j], dis[s][i]+w[i][j])</a:t>
            </a:r>
            <a:r>
              <a:rPr lang="zh-CN" altLang="en-US" dirty="0">
                <a:sym typeface="宋体" pitchFamily="2" charset="-122"/>
              </a:rPr>
              <a:t>。</a:t>
            </a:r>
            <a:r>
              <a:rPr lang="en-US" altLang="zh-CN" dirty="0">
                <a:sym typeface="宋体" pitchFamily="2" charset="-122"/>
              </a:rPr>
              <a:t>----</a:t>
            </a:r>
            <a:r>
              <a:rPr lang="zh-CN" altLang="en-US" dirty="0">
                <a:sym typeface="+mn-ea"/>
              </a:rPr>
              <a:t>Floyed</a:t>
            </a:r>
            <a:endParaRPr lang="zh-CN" altLang="en-US" dirty="0">
              <a:sym typeface="宋体" pitchFamily="2" charset="-122"/>
            </a:endParaRPr>
          </a:p>
          <a:p>
            <a:pPr marL="457200" lvl="1" indent="457200"/>
            <a:r>
              <a:rPr lang="en-US" altLang="zh-CN" dirty="0">
                <a:sym typeface="宋体" pitchFamily="2" charset="-122"/>
              </a:rPr>
              <a:t>dis[j]= min(dis[j], dis[i]+w[i][j])</a:t>
            </a:r>
            <a:r>
              <a:rPr lang="zh-CN" altLang="en-US" dirty="0">
                <a:sym typeface="宋体" pitchFamily="2" charset="-122"/>
              </a:rPr>
              <a:t>。</a:t>
            </a:r>
            <a:r>
              <a:rPr lang="en-US" altLang="zh-CN" dirty="0">
                <a:sym typeface="宋体" pitchFamily="2" charset="-122"/>
              </a:rPr>
              <a:t>              ----</a:t>
            </a:r>
            <a:r>
              <a:rPr lang="zh-CN" altLang="en-US" dirty="0">
                <a:sym typeface="Times New Roman" panose="02020503050405090304" pitchFamily="18" charset="0"/>
              </a:rPr>
              <a:t>Dijkstra</a:t>
            </a:r>
            <a:endParaRPr lang="zh-CN" altLang="en-US" dirty="0">
              <a:sym typeface="宋体" pitchFamily="2" charset="-122"/>
            </a:endParaRPr>
          </a:p>
          <a:p>
            <a:pPr marL="457200" lvl="1" indent="457200"/>
            <a:endParaRPr lang="zh-CN" altLang="en-US" dirty="0">
              <a:sym typeface="宋体" pitchFamily="2" charset="-122"/>
            </a:endParaRPr>
          </a:p>
          <a:p>
            <a:pPr indent="457200"/>
            <a:r>
              <a:rPr lang="zh-CN" altLang="en-US" dirty="0">
                <a:sym typeface="宋体" pitchFamily="2" charset="-122"/>
              </a:rPr>
              <a:t>即用</a:t>
            </a:r>
            <a:r>
              <a:rPr lang="en-US" altLang="zh-CN" dirty="0">
                <a:sym typeface="宋体" pitchFamily="2" charset="-122"/>
              </a:rPr>
              <a:t> i </a:t>
            </a:r>
            <a:r>
              <a:rPr lang="zh-CN" altLang="en-US" dirty="0">
                <a:sym typeface="宋体" pitchFamily="2" charset="-122"/>
              </a:rPr>
              <a:t>做中转点，来不断缩短</a:t>
            </a:r>
            <a:r>
              <a:rPr lang="en-US" altLang="zh-CN" dirty="0">
                <a:sym typeface="宋体" pitchFamily="2" charset="-122"/>
              </a:rPr>
              <a:t> s </a:t>
            </a:r>
            <a:r>
              <a:rPr lang="zh-CN" altLang="en-US" dirty="0">
                <a:sym typeface="宋体" pitchFamily="2" charset="-122"/>
              </a:rPr>
              <a:t>到</a:t>
            </a:r>
            <a:r>
              <a:rPr lang="en-US" altLang="zh-CN" dirty="0">
                <a:sym typeface="宋体" pitchFamily="2" charset="-122"/>
              </a:rPr>
              <a:t> j </a:t>
            </a:r>
            <a:r>
              <a:rPr lang="zh-CN" altLang="en-US" dirty="0">
                <a:sym typeface="宋体" pitchFamily="2" charset="-122"/>
              </a:rPr>
              <a:t>的距离。将此操作称为</a:t>
            </a:r>
            <a:r>
              <a:rPr lang="en-US" altLang="zh-CN" dirty="0">
                <a:sym typeface="宋体" pitchFamily="2" charset="-122"/>
              </a:rPr>
              <a:t> </a:t>
            </a:r>
            <a:r>
              <a:rPr lang="zh-CN" altLang="en-US" dirty="0">
                <a:sym typeface="宋体" pitchFamily="2" charset="-122"/>
              </a:rPr>
              <a:t>对边的</a:t>
            </a:r>
            <a:r>
              <a:rPr lang="en-US" altLang="zh-CN" dirty="0">
                <a:solidFill>
                  <a:srgbClr val="FF0000"/>
                </a:solidFill>
                <a:sym typeface="宋体" pitchFamily="2" charset="-122"/>
              </a:rPr>
              <a:t>松弛（relax</a:t>
            </a:r>
            <a:r>
              <a:rPr lang="zh-CN" altLang="en-US" dirty="0">
                <a:solidFill>
                  <a:srgbClr val="FF0000"/>
                </a:solidFill>
                <a:sym typeface="宋体" pitchFamily="2" charset="-122"/>
              </a:rPr>
              <a:t>）</a:t>
            </a:r>
            <a:r>
              <a:rPr lang="en-US" altLang="zh-CN" dirty="0">
                <a:sym typeface="宋体" pitchFamily="2" charset="-122"/>
              </a:rPr>
              <a:t>操作</a:t>
            </a:r>
            <a:endParaRPr lang="en-US" altLang="zh-CN" dirty="0">
              <a:sym typeface="宋体" pitchFamily="2" charset="-122"/>
            </a:endParaRPr>
          </a:p>
          <a:p>
            <a:pPr indent="457200"/>
            <a:endParaRPr lang="en-US" altLang="zh-CN" dirty="0">
              <a:sym typeface="宋体" pitchFamily="2" charset="-122"/>
            </a:endParaRPr>
          </a:p>
          <a:p>
            <a:pPr indent="457200"/>
            <a:endParaRPr lang="en-US" altLang="zh-CN" dirty="0">
              <a:sym typeface="宋体" pitchFamily="2" charset="-122"/>
            </a:endParaRPr>
          </a:p>
          <a:p>
            <a:pPr indent="457200"/>
            <a:r>
              <a:rPr lang="en-US" altLang="zh-CN" dirty="0">
                <a:sym typeface="宋体" pitchFamily="2" charset="-122"/>
              </a:rPr>
              <a:t>在Dijkstra算法中，对每条边执行一次松弛操作</a:t>
            </a:r>
            <a:r>
              <a:rPr lang="zh-CN" altLang="en-US" dirty="0">
                <a:sym typeface="宋体" pitchFamily="2" charset="-122"/>
              </a:rPr>
              <a:t>：</a:t>
            </a:r>
            <a:r>
              <a:rPr lang="zh-CN" altLang="en-US" dirty="0">
                <a:sym typeface="宋体" pitchFamily="2" charset="-122"/>
              </a:rPr>
              <a:t>贪心</a:t>
            </a:r>
            <a:r>
              <a:rPr lang="en-US" altLang="zh-CN" dirty="0">
                <a:sym typeface="宋体" pitchFamily="2" charset="-122"/>
              </a:rPr>
              <a:t>+</a:t>
            </a:r>
            <a:r>
              <a:rPr lang="zh-CN" altLang="en-US" dirty="0">
                <a:sym typeface="宋体" pitchFamily="2" charset="-122"/>
              </a:rPr>
              <a:t>松弛</a:t>
            </a:r>
            <a:endParaRPr lang="en-US" altLang="zh-CN" dirty="0">
              <a:sym typeface="宋体" pitchFamily="2" charset="-122"/>
            </a:endParaRPr>
          </a:p>
          <a:p>
            <a:pPr indent="457200"/>
            <a:endParaRPr lang="en-US" altLang="zh-CN" dirty="0">
              <a:sym typeface="宋体" pitchFamily="2" charset="-122"/>
            </a:endParaRPr>
          </a:p>
          <a:p>
            <a:pPr indent="457200"/>
            <a:endParaRPr lang="zh-CN" altLang="en-US" dirty="0">
              <a:sym typeface="宋体" pitchFamily="2" charset="-122"/>
            </a:endParaRPr>
          </a:p>
          <a:p>
            <a:pPr indent="457200"/>
            <a:endParaRPr lang="zh-CN" altLang="en-US" dirty="0">
              <a:solidFill>
                <a:schemeClr val="tx1"/>
              </a:solidFill>
              <a:sym typeface="宋体" pitchFamily="2" charset="-122"/>
            </a:endParaRPr>
          </a:p>
          <a:p>
            <a:pPr indent="457200"/>
            <a:endParaRPr lang="zh-CN" altLang="en-US" dirty="0">
              <a:sym typeface="宋体" pitchFamily="2" charset="-122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49910" y="196215"/>
            <a:ext cx="6180455" cy="503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学习：</a:t>
            </a:r>
            <a:r>
              <a:rPr lang="zh-CN" altLang="en-US" dirty="0">
                <a:solidFill>
                  <a:srgbClr val="FF0000"/>
                </a:solidFill>
                <a:sym typeface="宋体" pitchFamily="2" charset="-122"/>
              </a:rPr>
              <a:t>3.</a:t>
            </a:r>
            <a:r>
              <a:rPr lang="zh-CN" altLang="en-US" dirty="0">
                <a:solidFill>
                  <a:srgbClr val="FF0000"/>
                </a:solidFill>
                <a:sym typeface="Times New Roman" panose="02020503050405090304" pitchFamily="18" charset="0"/>
              </a:rPr>
              <a:t>Bellman-Ford</a:t>
            </a:r>
            <a:r>
              <a:rPr lang="zh-CN" altLang="en-US" dirty="0">
                <a:solidFill>
                  <a:srgbClr val="FF0000"/>
                </a:solidFill>
                <a:sym typeface="宋体" pitchFamily="2" charset="-122"/>
              </a:rPr>
              <a:t>算法</a:t>
            </a:r>
            <a:r>
              <a:rPr lang="en-US" altLang="zh-CN" dirty="0">
                <a:solidFill>
                  <a:srgbClr val="FF0000"/>
                </a:solidFill>
                <a:sym typeface="宋体" pitchFamily="2" charset="-122"/>
              </a:rPr>
              <a:t>：</a:t>
            </a:r>
            <a:r>
              <a:rPr lang="zh-CN" altLang="en-US" dirty="0">
                <a:solidFill>
                  <a:srgbClr val="FF0000"/>
                </a:solidFill>
                <a:sym typeface="宋体" pitchFamily="2" charset="-122"/>
              </a:rPr>
              <a:t>对所有的边进行暴力</a:t>
            </a:r>
            <a:r>
              <a:rPr lang="zh-CN" altLang="en-US" dirty="0">
                <a:solidFill>
                  <a:srgbClr val="FF0000"/>
                </a:solidFill>
                <a:sym typeface="宋体" pitchFamily="2" charset="-122"/>
              </a:rPr>
              <a:t>松弛</a:t>
            </a:r>
            <a:endParaRPr lang="zh-CN" altLang="en-US" dirty="0">
              <a:solidFill>
                <a:srgbClr val="FF0000"/>
              </a:solidFill>
              <a:sym typeface="宋体" pitchFamily="2" charset="-122"/>
            </a:endParaRPr>
          </a:p>
          <a:p>
            <a:pPr indent="457200"/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636905" y="520065"/>
            <a:ext cx="11075670" cy="5361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dirty="0">
                <a:sym typeface="宋体" pitchFamily="2" charset="-122"/>
              </a:rPr>
              <a:t>Bellman–Ford 算法所做的，就是不断尝试对图中的每一条边进行松弛。我们每进行一轮循环，就对图上所有的边都尝试进行一次松弛操作，当一次循环中没有成功的松弛操作时，算法停止：暴力遍历，无脑松驰。</a:t>
            </a:r>
            <a:endParaRPr lang="zh-CN" altLang="en-US" dirty="0">
              <a:sym typeface="宋体" pitchFamily="2" charset="-122"/>
            </a:endParaRPr>
          </a:p>
          <a:p>
            <a:endParaRPr lang="zh-CN" altLang="en-US"/>
          </a:p>
          <a:p>
            <a:r>
              <a:rPr lang="zh-CN" altLang="en-US"/>
              <a:t>显然：每次循环是 O(</a:t>
            </a:r>
            <a:r>
              <a:rPr lang="en-US" altLang="zh-CN"/>
              <a:t>|E|</a:t>
            </a:r>
            <a:r>
              <a:rPr lang="zh-CN" altLang="en-US"/>
              <a:t>) 的，那么最多会循环多少次呢？</a:t>
            </a:r>
            <a:endParaRPr lang="zh-CN" altLang="en-US"/>
          </a:p>
          <a:p>
            <a:pPr indent="457200"/>
            <a:r>
              <a:rPr lang="zh-CN" altLang="en-US"/>
              <a:t>在最短路存在的情况下，由于一次松弛操作会使最短路的边数至少 +1，而最短路的边数最多为 </a:t>
            </a:r>
            <a:r>
              <a:rPr lang="en-US" altLang="zh-CN"/>
              <a:t>|v|</a:t>
            </a:r>
            <a:r>
              <a:rPr lang="zh-CN" altLang="en-US"/>
              <a:t>-1，因此整个算法</a:t>
            </a:r>
            <a:r>
              <a:rPr lang="zh-CN" altLang="en-US">
                <a:solidFill>
                  <a:srgbClr val="FF0000"/>
                </a:solidFill>
              </a:rPr>
              <a:t>最多执行 </a:t>
            </a:r>
            <a:r>
              <a:rPr lang="en-US" altLang="zh-CN">
                <a:solidFill>
                  <a:srgbClr val="FF0000"/>
                </a:solidFill>
              </a:rPr>
              <a:t>|v|</a:t>
            </a:r>
            <a:r>
              <a:rPr lang="zh-CN" altLang="en-US">
                <a:solidFill>
                  <a:srgbClr val="FF0000"/>
                </a:solidFill>
              </a:rPr>
              <a:t>-1 轮松弛操作</a:t>
            </a:r>
            <a:r>
              <a:rPr lang="zh-CN" altLang="en-US"/>
              <a:t>。故总时间复杂度为 O(</a:t>
            </a:r>
            <a:r>
              <a:rPr lang="en-US" altLang="zh-CN"/>
              <a:t>|</a:t>
            </a:r>
            <a:r>
              <a:rPr lang="en-US" altLang="zh-CN"/>
              <a:t>v||e|</a:t>
            </a:r>
            <a:r>
              <a:rPr lang="zh-CN" altLang="en-US"/>
              <a:t>)。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178685" y="2720975"/>
            <a:ext cx="7515225" cy="3409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Text Box 2"/>
          <p:cNvSpPr txBox="1"/>
          <p:nvPr>
            <p:custDataLst>
              <p:tags r:id="rId1"/>
            </p:custDataLst>
          </p:nvPr>
        </p:nvSpPr>
        <p:spPr>
          <a:xfrm>
            <a:off x="1795145" y="869315"/>
            <a:ext cx="8742680" cy="111125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algn="l">
              <a:buClrTx/>
              <a:buSzTx/>
              <a:buFontTx/>
            </a:pPr>
            <a:r>
              <a:rPr lang="zh-CN" altLang="en-US" sz="1800" dirty="0">
                <a:solidFill>
                  <a:schemeClr val="tx1"/>
                </a:solidFill>
                <a:sym typeface="宋体" pitchFamily="2" charset="-122"/>
              </a:rPr>
              <a:t>算法分析&amp;思想讲解：</a:t>
            </a:r>
            <a:endParaRPr lang="zh-CN" altLang="en-US" sz="1400" dirty="0">
              <a:solidFill>
                <a:schemeClr val="tx1"/>
              </a:solidFill>
              <a:latin typeface="宋体" pitchFamily="2" charset="-122"/>
              <a:sym typeface="宋体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081530" y="1804035"/>
            <a:ext cx="5867400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Text Box 2"/>
          <p:cNvSpPr txBox="1"/>
          <p:nvPr>
            <p:custDataLst>
              <p:tags r:id="rId1"/>
            </p:custDataLst>
          </p:nvPr>
        </p:nvSpPr>
        <p:spPr>
          <a:xfrm>
            <a:off x="1508760" y="424180"/>
            <a:ext cx="8062913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buClrTx/>
              <a:buSzTx/>
              <a:buNone/>
            </a:pPr>
            <a:r>
              <a:rPr lang="zh-CN" altLang="en-US" sz="1800" dirty="0">
                <a:solidFill>
                  <a:schemeClr val="tx1"/>
                </a:solidFill>
                <a:sym typeface="宋体" pitchFamily="2" charset="-122"/>
              </a:rPr>
              <a:t>负权回路：</a:t>
            </a:r>
            <a:endParaRPr lang="zh-CN" altLang="en-US" sz="1800" dirty="0">
              <a:solidFill>
                <a:schemeClr val="tx1"/>
              </a:solidFill>
              <a:sym typeface="宋体" pitchFamily="2" charset="-122"/>
            </a:endParaRPr>
          </a:p>
          <a:p>
            <a:pPr algn="l">
              <a:buClrTx/>
              <a:buSzTx/>
              <a:buNone/>
            </a:pPr>
            <a:endParaRPr lang="zh-CN" altLang="en-US" sz="1800" dirty="0">
              <a:solidFill>
                <a:schemeClr val="tx1"/>
              </a:solidFill>
              <a:sym typeface="宋体" pitchFamily="2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800" dirty="0">
                <a:solidFill>
                  <a:schemeClr val="tx1"/>
                </a:solidFill>
                <a:sym typeface="宋体" pitchFamily="2" charset="-122"/>
              </a:rPr>
              <a:t>虽然</a:t>
            </a:r>
            <a:r>
              <a:rPr lang="zh-CN" altLang="en-US" sz="1800" dirty="0">
                <a:solidFill>
                  <a:schemeClr val="tx1"/>
                </a:solidFill>
                <a:sym typeface="Times New Roman" panose="02020503050405090304" pitchFamily="18" charset="0"/>
              </a:rPr>
              <a:t>Bellman-Ford</a:t>
            </a:r>
            <a:r>
              <a:rPr lang="zh-CN" altLang="en-US" sz="1800" dirty="0">
                <a:solidFill>
                  <a:schemeClr val="tx1"/>
                </a:solidFill>
                <a:sym typeface="宋体" pitchFamily="2" charset="-122"/>
              </a:rPr>
              <a:t>算法可以求出存在负边权情况下的最短路径，却无法解决存在负权回路的情况。</a:t>
            </a:r>
            <a:endParaRPr lang="zh-CN" altLang="en-US" sz="1800" dirty="0">
              <a:solidFill>
                <a:schemeClr val="tx1"/>
              </a:solidFill>
              <a:sym typeface="宋体" pitchFamily="2" charset="-122"/>
            </a:endParaRPr>
          </a:p>
        </p:txBody>
      </p:sp>
      <p:pic>
        <p:nvPicPr>
          <p:cNvPr id="28675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10193" y="1825625"/>
            <a:ext cx="4103687" cy="1603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76" name="Text Box 4"/>
          <p:cNvSpPr txBox="1"/>
          <p:nvPr>
            <p:custDataLst>
              <p:tags r:id="rId4"/>
            </p:custDataLst>
          </p:nvPr>
        </p:nvSpPr>
        <p:spPr>
          <a:xfrm>
            <a:off x="1508760" y="3867150"/>
            <a:ext cx="8718550" cy="2790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457200" algn="l">
              <a:buClrTx/>
              <a:buSzTx/>
              <a:buNone/>
            </a:pPr>
            <a:r>
              <a:rPr lang="zh-CN" altLang="en-US" sz="1800" dirty="0">
                <a:solidFill>
                  <a:schemeClr val="tx1"/>
                </a:solidFill>
                <a:sym typeface="宋体" pitchFamily="2" charset="-122"/>
              </a:rPr>
              <a:t>负权回路是指边权之和为负数的一条回路，上图中②-④-⑤-③-②这条回路的边权之和为</a:t>
            </a:r>
            <a:r>
              <a:rPr lang="zh-CN" altLang="en-US" sz="1800" dirty="0">
                <a:solidFill>
                  <a:schemeClr val="tx1"/>
                </a:solidFill>
                <a:sym typeface="Times New Roman" panose="02020503050405090304" pitchFamily="18" charset="0"/>
              </a:rPr>
              <a:t>-3</a:t>
            </a:r>
            <a:r>
              <a:rPr lang="zh-CN" altLang="en-US" sz="1800" dirty="0">
                <a:solidFill>
                  <a:schemeClr val="tx1"/>
                </a:solidFill>
                <a:sym typeface="宋体" pitchFamily="2" charset="-122"/>
              </a:rPr>
              <a:t>。在有负权回路的情况下，从</a:t>
            </a:r>
            <a:r>
              <a:rPr lang="zh-CN" altLang="en-US" sz="1800" dirty="0">
                <a:solidFill>
                  <a:schemeClr val="tx1"/>
                </a:solidFill>
                <a:sym typeface="Times New Roman" panose="02020503050405090304" pitchFamily="18" charset="0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sym typeface="宋体" pitchFamily="2" charset="-122"/>
              </a:rPr>
              <a:t>到</a:t>
            </a:r>
            <a:r>
              <a:rPr lang="zh-CN" altLang="en-US" sz="1800" dirty="0">
                <a:solidFill>
                  <a:schemeClr val="tx1"/>
                </a:solidFill>
                <a:sym typeface="Times New Roman" panose="02020503050405090304" pitchFamily="18" charset="0"/>
              </a:rPr>
              <a:t>6</a:t>
            </a:r>
            <a:r>
              <a:rPr lang="zh-CN" altLang="en-US" sz="1800" dirty="0">
                <a:solidFill>
                  <a:schemeClr val="tx1"/>
                </a:solidFill>
                <a:sym typeface="宋体" pitchFamily="2" charset="-122"/>
              </a:rPr>
              <a:t>的最短路径是多少？答案是无穷小，因为我们可以绕这条负权回路走无数圈，每走一圈路径值就减去</a:t>
            </a:r>
            <a:r>
              <a:rPr lang="zh-CN" altLang="en-US" sz="1800" dirty="0">
                <a:solidFill>
                  <a:schemeClr val="tx1"/>
                </a:solidFill>
                <a:sym typeface="Times New Roman" panose="02020503050405090304" pitchFamily="18" charset="0"/>
              </a:rPr>
              <a:t>3</a:t>
            </a:r>
            <a:r>
              <a:rPr lang="zh-CN" altLang="en-US" sz="1800" dirty="0">
                <a:solidFill>
                  <a:schemeClr val="tx1"/>
                </a:solidFill>
                <a:sym typeface="宋体" pitchFamily="2" charset="-122"/>
              </a:rPr>
              <a:t>，最终达到无穷小。</a:t>
            </a:r>
            <a:endParaRPr lang="zh-CN" altLang="en-US" sz="1800" dirty="0">
              <a:solidFill>
                <a:schemeClr val="tx1"/>
              </a:solidFill>
              <a:sym typeface="宋体" pitchFamily="2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800" dirty="0">
                <a:solidFill>
                  <a:schemeClr val="tx1"/>
                </a:solidFill>
                <a:sym typeface="宋体" pitchFamily="2" charset="-122"/>
              </a:rPr>
              <a:t>所以说存在负权回路的图无法求出最短路径。</a:t>
            </a:r>
            <a:endParaRPr lang="zh-CN" altLang="en-US" sz="1800" dirty="0">
              <a:solidFill>
                <a:schemeClr val="tx1"/>
              </a:solidFill>
              <a:sym typeface="宋体" pitchFamily="2" charset="-122"/>
            </a:endParaRPr>
          </a:p>
          <a:p>
            <a:pPr indent="457200" algn="l">
              <a:buClrTx/>
              <a:buSzTx/>
              <a:buNone/>
            </a:pPr>
            <a:endParaRPr lang="zh-CN" altLang="en-US" sz="1800" dirty="0">
              <a:solidFill>
                <a:schemeClr val="tx1"/>
              </a:solidFill>
            </a:endParaRPr>
          </a:p>
          <a:p>
            <a:pPr indent="457200" algn="l">
              <a:buClrTx/>
              <a:buSzTx/>
              <a:buNone/>
            </a:pPr>
            <a:r>
              <a:rPr lang="zh-CN" altLang="en-US" sz="1800" dirty="0">
                <a:solidFill>
                  <a:schemeClr val="tx1"/>
                </a:solidFill>
              </a:rPr>
              <a:t>如果从 </a:t>
            </a:r>
            <a:r>
              <a:rPr lang="zh-CN" altLang="en-US" sz="1800" dirty="0">
                <a:solidFill>
                  <a:schemeClr val="tx1"/>
                </a:solidFill>
              </a:rPr>
              <a:t>起点S 出发，抵达一个负环时，松弛操作会无休止地进行下去。注意到前面的论证中已经说明了，对于最短路存在的图，松弛操作最多只会执行 n-1 轮，因此如果第 n 轮循环时仍然存在能松弛的边，说明从 S 点出发，能够抵达一个负环。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960245" y="1684655"/>
            <a:ext cx="83851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Bellman-Ford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  <a:sym typeface="宋体" pitchFamily="2" charset="-122"/>
              </a:rPr>
              <a:t>算法</a:t>
            </a:r>
            <a:endParaRPr lang="zh-CN" altLang="en-US" dirty="0">
              <a:solidFill>
                <a:schemeClr val="tx1"/>
              </a:solidFill>
              <a:latin typeface="宋体" pitchFamily="2" charset="-122"/>
              <a:sym typeface="宋体" pitchFamily="2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宋体" pitchFamily="2" charset="-122"/>
                <a:sym typeface="宋体" pitchFamily="2" charset="-122"/>
              </a:rPr>
              <a:t>简称Ford（福特）算法，用来计算从一个点到其他所有点的最短路径的算法，也是一种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  <a:sym typeface="宋体" pitchFamily="2" charset="-122"/>
              </a:rPr>
              <a:t>单源最短路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  <a:sym typeface="宋体" pitchFamily="2" charset="-122"/>
              </a:rPr>
              <a:t>径算法。时间复杂度</a:t>
            </a:r>
            <a:r>
              <a:rPr lang="en-US" altLang="zh-CN" dirty="0">
                <a:solidFill>
                  <a:schemeClr val="tx1"/>
                </a:solidFill>
                <a:latin typeface="宋体" pitchFamily="2" charset="-122"/>
                <a:sym typeface="宋体" pitchFamily="2" charset="-122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O(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|v|*|e|</a:t>
            </a:r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)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。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  <a:sym typeface="宋体" pitchFamily="2" charset="-122"/>
              </a:rPr>
              <a:t>能够处理存在负边权的情况，但无法处理存在负权回路的情况。但是可以用来判断</a:t>
            </a:r>
            <a:r>
              <a:rPr lang="zh-CN" altLang="en-US" dirty="0">
                <a:latin typeface="宋体" pitchFamily="2" charset="-122"/>
                <a:sym typeface="宋体" pitchFamily="2" charset="-122"/>
              </a:rPr>
              <a:t>负权回路。</a:t>
            </a:r>
            <a:endParaRPr lang="zh-CN" altLang="en-US" dirty="0">
              <a:solidFill>
                <a:schemeClr val="tx1"/>
              </a:solidFill>
              <a:latin typeface="宋体" pitchFamily="2" charset="-122"/>
              <a:sym typeface="宋体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17905" y="1385570"/>
            <a:ext cx="10379710" cy="2699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COMMONDATA" val="eyJoZGlkIjoiMjNhN2QzNzIxYTMxZDA2OTMyYTljMDA5MmRhYmMwNj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1560</Words>
  <Application>WPS 演示</Application>
  <PresentationFormat>宽屏</PresentationFormat>
  <Paragraphs>114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汉仪书宋二KW</vt:lpstr>
      <vt:lpstr>Times New Roman</vt:lpstr>
      <vt:lpstr>微软雅黑</vt:lpstr>
      <vt:lpstr>汉仪旗黑</vt:lpstr>
      <vt:lpstr>Calibri</vt:lpstr>
      <vt:lpstr>Helvetica Neue</vt:lpstr>
      <vt:lpstr>微软雅黑</vt:lpstr>
      <vt:lpstr>宋体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喵~</cp:lastModifiedBy>
  <cp:revision>40</cp:revision>
  <dcterms:created xsi:type="dcterms:W3CDTF">2025-04-08T14:08:38Z</dcterms:created>
  <dcterms:modified xsi:type="dcterms:W3CDTF">2025-04-08T14:08:38Z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39D95B3D507C44309E7C251695CCA2D4_12</vt:lpwstr>
  </property>
  <property fmtid="{D5CDD505-2E9C-101B-9397-08002B2CF9AE}" pid="3" name="KSOProductBuildVer">
    <vt:lpwstr>2052-6.15.2.8936</vt:lpwstr>
  </property>
</Properties>
</file>