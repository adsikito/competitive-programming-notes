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5" r:id="rId3"/>
    <p:sldId id="257" r:id="rId4"/>
    <p:sldId id="282" r:id="rId5"/>
    <p:sldId id="259" r:id="rId6"/>
    <p:sldId id="283" r:id="rId7"/>
    <p:sldId id="264" r:id="rId8"/>
  </p:sldIdLst>
  <p:sldSz cx="12192000" cy="6858000"/>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gs" Target="tags/tag2.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02920" y="867410"/>
            <a:ext cx="11433175" cy="4842510"/>
          </a:xfrm>
          <a:prstGeom prst="rect">
            <a:avLst/>
          </a:prstGeom>
          <a:noFill/>
        </p:spPr>
        <p:txBody>
          <a:bodyPr wrap="square" rtlCol="0">
            <a:noAutofit/>
          </a:bodyPr>
          <a:p>
            <a:r>
              <a:rPr lang="zh-CN" altLang="en-US">
                <a:sym typeface="+mn-ea"/>
              </a:rPr>
              <a:t>最短路</a:t>
            </a:r>
            <a:r>
              <a:rPr lang="zh-CN" altLang="en-US">
                <a:sym typeface="+mn-ea"/>
              </a:rPr>
              <a:t>算法：</a:t>
            </a:r>
            <a:endParaRPr lang="zh-CN" altLang="en-US">
              <a:sym typeface="+mn-ea"/>
            </a:endParaRPr>
          </a:p>
          <a:p>
            <a:endParaRPr lang="zh-CN" altLang="en-US">
              <a:sym typeface="+mn-ea"/>
            </a:endParaRPr>
          </a:p>
          <a:p>
            <a:pPr indent="457200"/>
            <a:r>
              <a:rPr lang="zh-CN" altLang="en-US" dirty="0">
                <a:sym typeface="+mn-ea"/>
              </a:rPr>
              <a:t>1.Floyd算法：</a:t>
            </a:r>
            <a:r>
              <a:rPr lang="en-US" altLang="zh-CN" dirty="0">
                <a:sym typeface="+mn-ea"/>
              </a:rPr>
              <a:t>O(|V|^3)</a:t>
            </a:r>
            <a:r>
              <a:rPr lang="zh-CN" altLang="en-US" dirty="0">
                <a:sym typeface="+mn-ea"/>
              </a:rPr>
              <a:t>，多源最短路，</a:t>
            </a:r>
            <a:r>
              <a:rPr lang="zh-CN" altLang="en-US" dirty="0">
                <a:solidFill>
                  <a:srgbClr val="FF0000"/>
                </a:solidFill>
                <a:sym typeface="+mn-ea"/>
              </a:rPr>
              <a:t>适用于出现负边权</a:t>
            </a:r>
            <a:r>
              <a:rPr lang="zh-CN" altLang="en-US" dirty="0">
                <a:sym typeface="+mn-ea"/>
              </a:rPr>
              <a:t>的情况，</a:t>
            </a:r>
            <a:r>
              <a:rPr lang="zh-CN" altLang="en-US" dirty="0">
                <a:sym typeface="宋体" pitchFamily="2" charset="-122"/>
              </a:rPr>
              <a:t>但</a:t>
            </a:r>
            <a:r>
              <a:rPr lang="zh-CN" altLang="en-US" dirty="0">
                <a:solidFill>
                  <a:srgbClr val="FF0000"/>
                </a:solidFill>
                <a:sym typeface="宋体" pitchFamily="2" charset="-122"/>
              </a:rPr>
              <a:t>无法处理存在负权回路</a:t>
            </a:r>
            <a:r>
              <a:rPr lang="zh-CN" altLang="en-US" dirty="0">
                <a:sym typeface="宋体" pitchFamily="2" charset="-122"/>
              </a:rPr>
              <a:t>的情况</a:t>
            </a:r>
            <a:r>
              <a:rPr lang="zh-CN" altLang="en-US" dirty="0">
                <a:sym typeface="+mn-ea"/>
              </a:rPr>
              <a:t>。</a:t>
            </a:r>
            <a:endParaRPr lang="zh-CN" altLang="en-US" dirty="0">
              <a:sym typeface="+mn-ea"/>
            </a:endParaRPr>
          </a:p>
          <a:p>
            <a:pPr indent="457200"/>
            <a:endParaRPr lang="zh-CN" altLang="en-US" dirty="0">
              <a:sym typeface="+mn-ea"/>
            </a:endParaRPr>
          </a:p>
          <a:p>
            <a:pPr indent="457200"/>
            <a:r>
              <a:rPr lang="zh-CN" altLang="en-US" dirty="0">
                <a:sym typeface="宋体" pitchFamily="2" charset="-122"/>
              </a:rPr>
              <a:t>2.</a:t>
            </a:r>
            <a:r>
              <a:rPr lang="zh-CN" altLang="en-US" dirty="0">
                <a:sym typeface="Times New Roman" panose="02020503050405090304" pitchFamily="18" charset="0"/>
              </a:rPr>
              <a:t>Dijkstra</a:t>
            </a:r>
            <a:r>
              <a:rPr lang="zh-CN" altLang="en-US" dirty="0">
                <a:sym typeface="宋体" pitchFamily="2" charset="-122"/>
              </a:rPr>
              <a:t>算法：</a:t>
            </a:r>
            <a:r>
              <a:rPr lang="zh-CN" altLang="en-US" dirty="0">
                <a:sym typeface="+mn-ea"/>
              </a:rPr>
              <a:t>O(</a:t>
            </a:r>
            <a:r>
              <a:rPr lang="en-US" altLang="zh-CN" dirty="0">
                <a:sym typeface="+mn-ea"/>
              </a:rPr>
              <a:t>|V|^2</a:t>
            </a:r>
            <a:r>
              <a:rPr lang="zh-CN" altLang="en-US" dirty="0">
                <a:sym typeface="+mn-ea"/>
              </a:rPr>
              <a:t>)，单源最短路，</a:t>
            </a:r>
            <a:r>
              <a:rPr lang="zh-CN" altLang="en-US" dirty="0">
                <a:solidFill>
                  <a:srgbClr val="FF0000"/>
                </a:solidFill>
                <a:sym typeface="宋体" pitchFamily="2" charset="-122"/>
              </a:rPr>
              <a:t>不能处理存在负边权</a:t>
            </a:r>
            <a:r>
              <a:rPr lang="zh-CN" altLang="en-US" dirty="0">
                <a:sym typeface="宋体" pitchFamily="2" charset="-122"/>
              </a:rPr>
              <a:t>的情况。</a:t>
            </a:r>
            <a:endParaRPr lang="zh-CN" altLang="en-US" dirty="0">
              <a:solidFill>
                <a:schemeClr val="tx1"/>
              </a:solidFill>
            </a:endParaRPr>
          </a:p>
          <a:p>
            <a:pPr indent="457200"/>
            <a:endParaRPr lang="zh-CN" altLang="en-US" dirty="0">
              <a:sym typeface="宋体" pitchFamily="2" charset="-122"/>
            </a:endParaRPr>
          </a:p>
          <a:p>
            <a:pPr indent="457200" algn="l">
              <a:buClrTx/>
              <a:buSzTx/>
              <a:buNone/>
            </a:pPr>
            <a:r>
              <a:rPr lang="zh-CN" altLang="en-US" dirty="0">
                <a:sym typeface="宋体" pitchFamily="2" charset="-122"/>
              </a:rPr>
              <a:t>3.</a:t>
            </a:r>
            <a:r>
              <a:rPr lang="zh-CN" altLang="en-US" dirty="0">
                <a:sym typeface="Times New Roman" panose="02020503050405090304" pitchFamily="18" charset="0"/>
              </a:rPr>
              <a:t>Bellman-Ford</a:t>
            </a:r>
            <a:r>
              <a:rPr lang="zh-CN" altLang="en-US" dirty="0">
                <a:sym typeface="宋体" pitchFamily="2" charset="-122"/>
              </a:rPr>
              <a:t>算法：</a:t>
            </a:r>
            <a:r>
              <a:rPr lang="zh-CN" altLang="en-US" dirty="0">
                <a:sym typeface="+mn-ea"/>
              </a:rPr>
              <a:t>O(</a:t>
            </a:r>
            <a:r>
              <a:rPr lang="en-US" altLang="zh-CN" dirty="0">
                <a:sym typeface="+mn-ea"/>
              </a:rPr>
              <a:t>|V||E|</a:t>
            </a:r>
            <a:r>
              <a:rPr lang="zh-CN" altLang="en-US" dirty="0">
                <a:sym typeface="+mn-ea"/>
              </a:rPr>
              <a:t>)，单源最短路，</a:t>
            </a:r>
            <a:r>
              <a:rPr lang="zh-CN" altLang="en-US" dirty="0">
                <a:solidFill>
                  <a:srgbClr val="FF0000"/>
                </a:solidFill>
                <a:sym typeface="+mn-ea"/>
              </a:rPr>
              <a:t>适用于出现负边权</a:t>
            </a:r>
            <a:r>
              <a:rPr lang="zh-CN" altLang="en-US" dirty="0">
                <a:sym typeface="+mn-ea"/>
              </a:rPr>
              <a:t>的情况，</a:t>
            </a:r>
            <a:r>
              <a:rPr lang="zh-CN" altLang="en-US" dirty="0">
                <a:sym typeface="宋体" pitchFamily="2" charset="-122"/>
              </a:rPr>
              <a:t>但</a:t>
            </a:r>
            <a:r>
              <a:rPr lang="zh-CN" altLang="en-US" dirty="0">
                <a:solidFill>
                  <a:srgbClr val="FF0000"/>
                </a:solidFill>
                <a:sym typeface="宋体" pitchFamily="2" charset="-122"/>
              </a:rPr>
              <a:t>无法处理存在负权回路</a:t>
            </a:r>
            <a:r>
              <a:rPr lang="zh-CN" altLang="en-US" dirty="0">
                <a:sym typeface="宋体" pitchFamily="2" charset="-122"/>
              </a:rPr>
              <a:t>的情况</a:t>
            </a:r>
            <a:r>
              <a:rPr lang="zh-CN" altLang="en-US" dirty="0">
                <a:sym typeface="+mn-ea"/>
              </a:rPr>
              <a:t>。</a:t>
            </a:r>
            <a:endParaRPr lang="zh-CN" altLang="en-US" dirty="0">
              <a:solidFill>
                <a:srgbClr val="FF0000"/>
              </a:solidFill>
              <a:sym typeface="宋体" pitchFamily="2" charset="-122"/>
            </a:endParaRPr>
          </a:p>
          <a:p>
            <a:pPr indent="457200" algn="l">
              <a:buClrTx/>
              <a:buSzTx/>
              <a:buNone/>
            </a:pPr>
            <a:endParaRPr lang="zh-CN" altLang="en-US" dirty="0">
              <a:solidFill>
                <a:schemeClr val="tx1"/>
              </a:solidFill>
              <a:sym typeface="+mn-ea"/>
            </a:endParaRPr>
          </a:p>
          <a:p>
            <a:pPr indent="457200"/>
            <a:r>
              <a:rPr lang="en-US" altLang="zh-CN" dirty="0">
                <a:solidFill>
                  <a:schemeClr val="tx1"/>
                </a:solidFill>
                <a:sym typeface="+mn-ea"/>
              </a:rPr>
              <a:t>4.</a:t>
            </a:r>
            <a:r>
              <a:rPr lang="zh-CN" altLang="en-US" dirty="0">
                <a:solidFill>
                  <a:schemeClr val="tx1"/>
                </a:solidFill>
                <a:sym typeface="+mn-ea"/>
              </a:rPr>
              <a:t>堆优化</a:t>
            </a:r>
            <a:r>
              <a:rPr lang="zh-CN" altLang="en-US" dirty="0">
                <a:sym typeface="Times New Roman" panose="02020503050405090304" pitchFamily="18" charset="0"/>
              </a:rPr>
              <a:t>Dijkstra</a:t>
            </a:r>
            <a:r>
              <a:rPr lang="zh-CN" altLang="en-US" dirty="0">
                <a:sym typeface="宋体" pitchFamily="2" charset="-122"/>
              </a:rPr>
              <a:t>算法：</a:t>
            </a:r>
            <a:r>
              <a:rPr lang="en-US" altLang="zh-CN" dirty="0">
                <a:sym typeface="宋体" pitchFamily="2" charset="-122"/>
              </a:rPr>
              <a:t>O((|V|+|E|)*log|V|)</a:t>
            </a:r>
            <a:r>
              <a:rPr lang="zh-CN" altLang="en-US" dirty="0">
                <a:sym typeface="宋体" pitchFamily="2" charset="-122"/>
              </a:rPr>
              <a:t>，</a:t>
            </a:r>
            <a:r>
              <a:rPr lang="zh-CN" altLang="en-US" dirty="0">
                <a:sym typeface="+mn-ea"/>
              </a:rPr>
              <a:t>单源最短路，</a:t>
            </a:r>
            <a:r>
              <a:rPr lang="zh-CN" altLang="en-US" dirty="0">
                <a:solidFill>
                  <a:srgbClr val="FF0000"/>
                </a:solidFill>
                <a:sym typeface="宋体" pitchFamily="2" charset="-122"/>
              </a:rPr>
              <a:t>不能处理存在负边权</a:t>
            </a:r>
            <a:r>
              <a:rPr lang="zh-CN" altLang="en-US" dirty="0">
                <a:sym typeface="宋体" pitchFamily="2" charset="-122"/>
              </a:rPr>
              <a:t>的情况。</a:t>
            </a:r>
            <a:endParaRPr lang="zh-CN" altLang="en-US" dirty="0">
              <a:solidFill>
                <a:schemeClr val="tx1"/>
              </a:solidFill>
            </a:endParaRPr>
          </a:p>
          <a:p>
            <a:pPr indent="457200"/>
            <a:endParaRPr lang="zh-CN" altLang="en-US" dirty="0">
              <a:sym typeface="宋体" pitchFamily="2" charset="-122"/>
            </a:endParaRPr>
          </a:p>
          <a:p>
            <a:pPr indent="457200" algn="l">
              <a:buClrTx/>
              <a:buSzTx/>
              <a:buNone/>
            </a:pPr>
            <a:r>
              <a:rPr lang="en-US" altLang="zh-CN" dirty="0">
                <a:solidFill>
                  <a:schemeClr val="tx1"/>
                </a:solidFill>
                <a:sym typeface="+mn-ea"/>
              </a:rPr>
              <a:t>5.</a:t>
            </a:r>
            <a:r>
              <a:rPr lang="zh-CN" altLang="en-US" dirty="0">
                <a:solidFill>
                  <a:schemeClr val="tx1"/>
                </a:solidFill>
                <a:sym typeface="+mn-ea"/>
              </a:rPr>
              <a:t>队列优化</a:t>
            </a:r>
            <a:r>
              <a:rPr lang="zh-CN" altLang="en-US" dirty="0">
                <a:sym typeface="Times New Roman" panose="02020503050405090304" pitchFamily="18" charset="0"/>
              </a:rPr>
              <a:t>Bellman-Ford</a:t>
            </a:r>
            <a:r>
              <a:rPr lang="zh-CN" altLang="en-US" dirty="0">
                <a:sym typeface="宋体" pitchFamily="2" charset="-122"/>
              </a:rPr>
              <a:t>算法（</a:t>
            </a:r>
            <a:r>
              <a:rPr lang="en-US" altLang="zh-CN" dirty="0">
                <a:sym typeface="宋体" pitchFamily="2" charset="-122"/>
              </a:rPr>
              <a:t>SPFA</a:t>
            </a:r>
            <a:r>
              <a:rPr lang="zh-CN" altLang="en-US" dirty="0">
                <a:sym typeface="宋体" pitchFamily="2" charset="-122"/>
              </a:rPr>
              <a:t>）：时间复杂度玄学，</a:t>
            </a:r>
            <a:r>
              <a:rPr lang="zh-CN" altLang="en-US" dirty="0">
                <a:sym typeface="+mn-ea"/>
              </a:rPr>
              <a:t>单源最短路，</a:t>
            </a:r>
            <a:r>
              <a:rPr lang="zh-CN" altLang="en-US" dirty="0">
                <a:solidFill>
                  <a:srgbClr val="FF0000"/>
                </a:solidFill>
                <a:sym typeface="+mn-ea"/>
              </a:rPr>
              <a:t>适用于出现负边权</a:t>
            </a:r>
            <a:r>
              <a:rPr lang="zh-CN" altLang="en-US" dirty="0">
                <a:sym typeface="+mn-ea"/>
              </a:rPr>
              <a:t>的情况，</a:t>
            </a:r>
            <a:r>
              <a:rPr lang="zh-CN" altLang="en-US" dirty="0">
                <a:sym typeface="宋体" pitchFamily="2" charset="-122"/>
              </a:rPr>
              <a:t>但</a:t>
            </a:r>
            <a:r>
              <a:rPr lang="zh-CN" altLang="en-US" dirty="0">
                <a:solidFill>
                  <a:srgbClr val="FF0000"/>
                </a:solidFill>
                <a:sym typeface="宋体" pitchFamily="2" charset="-122"/>
              </a:rPr>
              <a:t>无法处理存在负权回路</a:t>
            </a:r>
            <a:r>
              <a:rPr lang="zh-CN" altLang="en-US" dirty="0">
                <a:sym typeface="宋体" pitchFamily="2" charset="-122"/>
              </a:rPr>
              <a:t>的情况</a:t>
            </a:r>
            <a:r>
              <a:rPr lang="zh-CN" altLang="en-US" dirty="0">
                <a:sym typeface="+mn-ea"/>
              </a:rPr>
              <a:t>。</a:t>
            </a:r>
            <a:endParaRPr lang="zh-CN" altLang="en-US" dirty="0">
              <a:solidFill>
                <a:schemeClr val="tx1"/>
              </a:solidFill>
              <a:sym typeface="+mn-ea"/>
            </a:endParaRPr>
          </a:p>
          <a:p>
            <a:pPr indent="457200"/>
            <a:endParaRPr lang="zh-CN" altLang="en-US">
              <a:sym typeface="+mn-ea"/>
            </a:endParaRPr>
          </a:p>
          <a:p>
            <a:pPr indent="457200"/>
            <a:r>
              <a:rPr lang="zh-CN" altLang="en-US">
                <a:sym typeface="+mn-ea"/>
              </a:rPr>
              <a:t>权值非负</a:t>
            </a:r>
            <a:r>
              <a:rPr lang="en-US" altLang="zh-CN">
                <a:sym typeface="+mn-ea"/>
              </a:rPr>
              <a:t>：</a:t>
            </a:r>
            <a:r>
              <a:rPr lang="zh-CN" altLang="en-US" dirty="0">
                <a:sym typeface="+mn-ea"/>
              </a:rPr>
              <a:t>堆优化</a:t>
            </a:r>
            <a:r>
              <a:rPr lang="zh-CN" altLang="en-US" dirty="0">
                <a:sym typeface="Times New Roman" panose="02020503050405090304" pitchFamily="18" charset="0"/>
              </a:rPr>
              <a:t>Dijkstra</a:t>
            </a:r>
            <a:r>
              <a:rPr lang="en-US" altLang="zh-CN" dirty="0">
                <a:sym typeface="Times New Roman" panose="02020503050405090304" pitchFamily="18" charset="0"/>
              </a:rPr>
              <a:t>-----&gt;SPFA</a:t>
            </a:r>
            <a:endParaRPr lang="en-US" altLang="zh-CN" dirty="0">
              <a:sym typeface="Times New Roman" panose="02020503050405090304" pitchFamily="18" charset="0"/>
            </a:endParaRPr>
          </a:p>
          <a:p>
            <a:pPr indent="457200"/>
            <a:r>
              <a:rPr lang="zh-CN" altLang="en-US">
                <a:sym typeface="+mn-ea"/>
              </a:rPr>
              <a:t>有负边权</a:t>
            </a:r>
            <a:r>
              <a:rPr lang="en-US" altLang="zh-CN">
                <a:sym typeface="+mn-ea"/>
              </a:rPr>
              <a:t>：SPFA</a:t>
            </a:r>
            <a:endParaRPr lang="zh-CN" altLang="en-US">
              <a:sym typeface="+mn-ea"/>
            </a:endParaRPr>
          </a:p>
          <a:p>
            <a:endParaRPr lang="zh-CN" altLang="en-US">
              <a:sym typeface="+mn-ea"/>
            </a:endParaRPr>
          </a:p>
          <a:p>
            <a:endParaRPr lang="zh-CN" altLang="en-US"/>
          </a:p>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325755"/>
            <a:ext cx="8776970" cy="894715"/>
          </a:xfrm>
          <a:prstGeom prst="rect">
            <a:avLst/>
          </a:prstGeom>
          <a:noFill/>
        </p:spPr>
        <p:txBody>
          <a:bodyPr wrap="square" rtlCol="0">
            <a:noAutofit/>
          </a:bodyPr>
          <a:p>
            <a:r>
              <a:rPr lang="zh-CN" altLang="en-US"/>
              <a:t>https://www.luogu.com.cn/problem/P8802</a:t>
            </a:r>
            <a:endParaRPr lang="zh-CN" altLang="en-US"/>
          </a:p>
        </p:txBody>
      </p:sp>
      <p:sp>
        <p:nvSpPr>
          <p:cNvPr id="3" name="文本框 2"/>
          <p:cNvSpPr txBox="1"/>
          <p:nvPr/>
        </p:nvSpPr>
        <p:spPr>
          <a:xfrm>
            <a:off x="1221105" y="1301750"/>
            <a:ext cx="7778115" cy="645160"/>
          </a:xfrm>
          <a:prstGeom prst="rect">
            <a:avLst/>
          </a:prstGeom>
          <a:noFill/>
        </p:spPr>
        <p:txBody>
          <a:bodyPr wrap="square" rtlCol="0">
            <a:spAutoFit/>
          </a:bodyPr>
          <a:p>
            <a:r>
              <a:rPr lang="zh-CN" altLang="en-US"/>
              <a:t>思路：</a:t>
            </a:r>
            <a:endParaRPr lang="zh-CN" altLang="en-US"/>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325755"/>
            <a:ext cx="8776970" cy="894715"/>
          </a:xfrm>
          <a:prstGeom prst="rect">
            <a:avLst/>
          </a:prstGeom>
          <a:noFill/>
        </p:spPr>
        <p:txBody>
          <a:bodyPr wrap="square" rtlCol="0">
            <a:noAutofit/>
          </a:bodyPr>
          <a:p>
            <a:r>
              <a:rPr lang="zh-CN" altLang="en-US"/>
              <a:t>https://www.luogu.com.cn/problem/P8802</a:t>
            </a:r>
            <a:endParaRPr lang="zh-CN" altLang="en-US"/>
          </a:p>
        </p:txBody>
      </p:sp>
      <p:sp>
        <p:nvSpPr>
          <p:cNvPr id="3" name="文本框 2"/>
          <p:cNvSpPr txBox="1"/>
          <p:nvPr/>
        </p:nvSpPr>
        <p:spPr>
          <a:xfrm>
            <a:off x="1221105" y="1301750"/>
            <a:ext cx="8776970" cy="3158490"/>
          </a:xfrm>
          <a:prstGeom prst="rect">
            <a:avLst/>
          </a:prstGeom>
          <a:noFill/>
        </p:spPr>
        <p:txBody>
          <a:bodyPr wrap="square" rtlCol="0">
            <a:noAutofit/>
          </a:bodyPr>
          <a:p>
            <a:r>
              <a:rPr lang="zh-CN" altLang="en-US"/>
              <a:t>思路：堆优化</a:t>
            </a:r>
            <a:r>
              <a:rPr lang="en-US" altLang="zh-CN"/>
              <a:t>Dijkstra/SPFA</a:t>
            </a:r>
            <a:endParaRPr lang="zh-CN" altLang="en-US"/>
          </a:p>
          <a:p>
            <a:endParaRPr lang="zh-CN" altLang="en-US"/>
          </a:p>
          <a:p>
            <a:r>
              <a:rPr lang="zh-CN" altLang="en-US"/>
              <a:t>本题特殊之处在于有一个隔离时间，但是非常好处理，直接在存图的过程中把两点间的权值改成原权值加上到达点的隔离时间即可，同时本题的数据非常小，dijkstra 算法及 spfa 算法</a:t>
            </a:r>
            <a:r>
              <a:rPr lang="zh-CN" altLang="en-US"/>
              <a:t>均能通过。</a:t>
            </a:r>
            <a:endParaRPr lang="zh-CN" altLang="en-US"/>
          </a:p>
          <a:p>
            <a:endParaRPr lang="zh-CN" altLang="en-US"/>
          </a:p>
          <a:p>
            <a:r>
              <a:rPr lang="zh-CN" altLang="en-US"/>
              <a:t>注意两</a:t>
            </a:r>
            <a:r>
              <a:rPr lang="zh-CN" altLang="en-US">
                <a:sym typeface="+mn-ea"/>
              </a:rPr>
              <a:t>个</a:t>
            </a:r>
            <a:r>
              <a:rPr lang="zh-CN" altLang="en-US"/>
              <a:t>细节，题目说不需要计算 N 点的隔离时间，因此输出最短路径的时候记得减去 N 点的隔离时间。图为无向图，链式前向星开两倍</a:t>
            </a:r>
            <a:r>
              <a:rPr lang="zh-CN" altLang="en-US"/>
              <a:t>空间。</a:t>
            </a:r>
            <a:endParaRPr lang="zh-CN" altLang="en-US"/>
          </a:p>
          <a:p>
            <a:endParaRPr lang="zh-CN" altLang="en-US"/>
          </a:p>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325755"/>
            <a:ext cx="8776970" cy="894715"/>
          </a:xfrm>
          <a:prstGeom prst="rect">
            <a:avLst/>
          </a:prstGeom>
          <a:noFill/>
        </p:spPr>
        <p:txBody>
          <a:bodyPr wrap="square" rtlCol="0">
            <a:noAutofit/>
          </a:bodyPr>
          <a:p>
            <a:r>
              <a:rPr lang="zh-CN" altLang="en-US"/>
              <a:t>https://www.luogu.com.cn/problem/P1462</a:t>
            </a:r>
            <a:endParaRPr lang="zh-CN" altLang="en-US"/>
          </a:p>
        </p:txBody>
      </p:sp>
      <p:sp>
        <p:nvSpPr>
          <p:cNvPr id="3" name="文本框 2"/>
          <p:cNvSpPr txBox="1"/>
          <p:nvPr/>
        </p:nvSpPr>
        <p:spPr>
          <a:xfrm>
            <a:off x="1221105" y="1100455"/>
            <a:ext cx="7778115" cy="368300"/>
          </a:xfrm>
          <a:prstGeom prst="rect">
            <a:avLst/>
          </a:prstGeom>
          <a:noFill/>
        </p:spPr>
        <p:txBody>
          <a:bodyPr wrap="square" rtlCol="0">
            <a:spAutoFit/>
          </a:bodyPr>
          <a:p>
            <a:r>
              <a:rPr lang="zh-CN" altLang="en-US"/>
              <a:t>思路：</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325755"/>
            <a:ext cx="8776970" cy="894715"/>
          </a:xfrm>
          <a:prstGeom prst="rect">
            <a:avLst/>
          </a:prstGeom>
          <a:noFill/>
        </p:spPr>
        <p:txBody>
          <a:bodyPr wrap="square" rtlCol="0">
            <a:noAutofit/>
          </a:bodyPr>
          <a:p>
            <a:r>
              <a:rPr lang="zh-CN" altLang="en-US"/>
              <a:t>https://www.luogu.com.cn/problem/P1462</a:t>
            </a:r>
            <a:endParaRPr lang="zh-CN" altLang="en-US"/>
          </a:p>
        </p:txBody>
      </p:sp>
      <p:sp>
        <p:nvSpPr>
          <p:cNvPr id="3" name="文本框 2"/>
          <p:cNvSpPr txBox="1"/>
          <p:nvPr/>
        </p:nvSpPr>
        <p:spPr>
          <a:xfrm>
            <a:off x="1221105" y="1100455"/>
            <a:ext cx="9889490" cy="4972050"/>
          </a:xfrm>
          <a:prstGeom prst="rect">
            <a:avLst/>
          </a:prstGeom>
          <a:noFill/>
        </p:spPr>
        <p:txBody>
          <a:bodyPr wrap="square" rtlCol="0">
            <a:noAutofit/>
          </a:bodyPr>
          <a:p>
            <a:r>
              <a:rPr lang="zh-CN" altLang="en-US"/>
              <a:t>思路：</a:t>
            </a:r>
            <a:endParaRPr lang="zh-CN" altLang="en-US"/>
          </a:p>
          <a:p>
            <a:r>
              <a:rPr lang="zh-CN" altLang="en-US"/>
              <a:t>求</a:t>
            </a:r>
            <a:r>
              <a:rPr lang="en-US" altLang="zh-CN"/>
              <a:t>“</a:t>
            </a:r>
            <a:r>
              <a:rPr lang="zh-CN" altLang="en-US"/>
              <a:t>他所经过的所有城市中最多的一次收取的费用的最小值是多少。</a:t>
            </a:r>
            <a:r>
              <a:rPr lang="en-US" altLang="zh-CN"/>
              <a:t>”---</a:t>
            </a:r>
            <a:r>
              <a:rPr lang="zh-CN" altLang="en-US"/>
              <a:t>最小化最大值：</a:t>
            </a:r>
            <a:r>
              <a:rPr lang="zh-CN" altLang="en-US"/>
              <a:t>二分。</a:t>
            </a:r>
            <a:endParaRPr lang="zh-CN" altLang="en-US"/>
          </a:p>
          <a:p>
            <a:endParaRPr lang="zh-CN" altLang="en-US"/>
          </a:p>
          <a:p>
            <a:r>
              <a:rPr lang="zh-CN" altLang="en-US"/>
              <a:t>因为要求的是收费所以就二分金钱即可，二分的条件就是 以当前值为最大值 判断是否有一条路可以使得：每条边的收费都小于等于此值 并且 走到终点之后血量不会被扣光（边界应该是血量&lt;=0就算死了）</a:t>
            </a:r>
            <a:r>
              <a:rPr lang="en-US" altLang="zh-CN"/>
              <a:t> check()</a:t>
            </a:r>
            <a:r>
              <a:rPr lang="zh-CN" altLang="en-US"/>
              <a:t>函数跑</a:t>
            </a:r>
            <a:r>
              <a:rPr lang="zh-CN" altLang="en-US"/>
              <a:t>最短路。</a:t>
            </a:r>
            <a:endParaRPr lang="zh-CN" altLang="en-US"/>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MjNhN2QzNzIxYTMxZDA2OTMyYTljMDA5MmRhYmMwNj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811</Words>
  <Application>WPS 演示</Application>
  <PresentationFormat>宽屏</PresentationFormat>
  <Paragraphs>45</Paragraphs>
  <Slides>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vt:i4>
      </vt:variant>
    </vt:vector>
  </HeadingPairs>
  <TitlesOfParts>
    <vt:vector size="19" baseType="lpstr">
      <vt:lpstr>Arial</vt:lpstr>
      <vt:lpstr>宋体</vt:lpstr>
      <vt:lpstr>Wingdings</vt:lpstr>
      <vt:lpstr>汉仪书宋二KW</vt:lpstr>
      <vt:lpstr>Times New Roman</vt:lpstr>
      <vt:lpstr>微软雅黑</vt:lpstr>
      <vt:lpstr>汉仪旗黑</vt:lpstr>
      <vt:lpstr>Calibri</vt:lpstr>
      <vt:lpstr>Helvetica Neue</vt:lpstr>
      <vt:lpstr>微软雅黑</vt:lpstr>
      <vt:lpstr>宋体</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pipi</cp:lastModifiedBy>
  <cp:revision>24</cp:revision>
  <dcterms:created xsi:type="dcterms:W3CDTF">2025-04-15T14:00:17Z</dcterms:created>
  <dcterms:modified xsi:type="dcterms:W3CDTF">2025-04-15T14:00:17Z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39D95B3D507C44309E7C251695CCA2D4_12</vt:lpwstr>
  </property>
  <property fmtid="{D5CDD505-2E9C-101B-9397-08002B2CF9AE}" pid="3" name="KSOProductBuildVer">
    <vt:lpwstr>2052-6.15.2.8936</vt:lpwstr>
  </property>
</Properties>
</file>