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5" r:id="rId3"/>
    <p:sldId id="286" r:id="rId4"/>
    <p:sldId id="288" r:id="rId5"/>
    <p:sldId id="299" r:id="rId7"/>
    <p:sldId id="301" r:id="rId8"/>
    <p:sldId id="303" r:id="rId9"/>
    <p:sldId id="304" r:id="rId10"/>
    <p:sldId id="302" r:id="rId11"/>
    <p:sldId id="305" r:id="rId12"/>
    <p:sldId id="264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0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ags" Target="../tags/tag4.xml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tags" Target="../tags/tag9.xml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69285" y="161925"/>
            <a:ext cx="4479290" cy="1021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marL="1371600" lvl="3" indent="457200"/>
            <a:r>
              <a:rPr lang="zh-CN" altLang="en-US">
                <a:sym typeface="+mn-ea"/>
              </a:rPr>
              <a:t>复习</a:t>
            </a:r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sp>
        <p:nvSpPr>
          <p:cNvPr id="5" name="文本框 4"/>
          <p:cNvSpPr txBox="1"/>
          <p:nvPr/>
        </p:nvSpPr>
        <p:spPr>
          <a:xfrm>
            <a:off x="1259205" y="1243965"/>
            <a:ext cx="9906635" cy="4229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1.DAG</a:t>
            </a:r>
            <a:r>
              <a:rPr lang="zh-CN" altLang="en-US"/>
              <a:t>图：一个无环的有向图，即有向无环</a:t>
            </a:r>
            <a:r>
              <a:rPr lang="zh-CN" altLang="en-US"/>
              <a:t>图。</a:t>
            </a:r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en-US" altLang="zh-CN"/>
              <a:t>2.AOV网络：在⼀个表示⼯程的有向图中，⽤顶点表示活动，⽤弧表示活动之间的优先关系的有向图称为顶点表示活动的⽹（Activity On Vertex Network），简称AOV⽹。</a:t>
            </a:r>
            <a:endParaRPr lang="en-US" altLang="zh-CN"/>
          </a:p>
          <a:p>
            <a:pPr algn="l">
              <a:buClrTx/>
              <a:buSzTx/>
              <a:buFontTx/>
            </a:pPr>
            <a:endParaRPr lang="en-US" altLang="zh-CN"/>
          </a:p>
          <a:p>
            <a:pPr algn="l">
              <a:buClrTx/>
              <a:buSzTx/>
              <a:buFontTx/>
            </a:pPr>
            <a:r>
              <a:rPr lang="en-US" altLang="zh-CN"/>
              <a:t>3.</a:t>
            </a:r>
            <a:r>
              <a:rPr lang="zh-CN" altLang="en-US"/>
              <a:t>拓扑</a:t>
            </a:r>
            <a:r>
              <a:rPr lang="zh-CN" altLang="en-US"/>
              <a:t>序列：设G=(V,E)是⼀个具有n个顶点的有向图，V中的顶点序列 V1,V2,V3.......Vn满⾜若从顶点Vi到Vj有⼀条路径，则在顶点序列中顶点Vi必在顶点Vj之前。则我们称这样的顶点序列为⼀个拓扑序列。</a:t>
            </a:r>
            <a:endParaRPr lang="zh-CN" altLang="en-US"/>
          </a:p>
          <a:p>
            <a:pPr algn="l">
              <a:buClrTx/>
              <a:buSzTx/>
              <a:buFontTx/>
            </a:pPr>
            <a:endParaRPr lang="zh-CN" altLang="en-US"/>
          </a:p>
          <a:p>
            <a:pPr algn="l">
              <a:buClrTx/>
              <a:buSzTx/>
              <a:buFontTx/>
            </a:pPr>
            <a:r>
              <a:rPr lang="en-US" altLang="zh-CN"/>
              <a:t>4.</a:t>
            </a:r>
            <a:r>
              <a:rPr lang="zh-CN" altLang="en-US"/>
              <a:t>拓扑排序：其实就是对⼀个</a:t>
            </a:r>
            <a:r>
              <a:rPr lang="en-US" altLang="zh-CN">
                <a:sym typeface="+mn-ea"/>
              </a:rPr>
              <a:t>DAG</a:t>
            </a:r>
            <a:r>
              <a:rPr lang="zh-CN" altLang="en-US"/>
              <a:t>图构造拓扑序列的过程。</a:t>
            </a:r>
            <a:endParaRPr lang="zh-CN" altLang="en-US"/>
          </a:p>
          <a:p>
            <a:pPr algn="l">
              <a:buClrTx/>
              <a:buSzTx/>
              <a:buFontTx/>
            </a:pPr>
            <a:endParaRPr lang="zh-CN" altLang="en-US"/>
          </a:p>
          <a:p>
            <a:pPr algn="l">
              <a:buClrTx/>
              <a:buSzTx/>
              <a:buFontTx/>
            </a:pPr>
            <a:r>
              <a:rPr lang="en-US" altLang="zh-CN"/>
              <a:t>5.</a:t>
            </a:r>
            <a:r>
              <a:rPr lang="zh-CN" altLang="en-US"/>
              <a:t>拓扑排序算法：</a:t>
            </a:r>
            <a:r>
              <a:rPr lang="en-US" altLang="zh-CN">
                <a:solidFill>
                  <a:srgbClr val="FF0000"/>
                </a:solidFill>
              </a:rPr>
              <a:t>kahn（</a:t>
            </a:r>
            <a:r>
              <a:rPr lang="zh-CN" altLang="en-US">
                <a:solidFill>
                  <a:srgbClr val="FF0000"/>
                </a:solidFill>
              </a:rPr>
              <a:t>卡恩</a:t>
            </a:r>
            <a:r>
              <a:rPr lang="en-US" altLang="zh-CN">
                <a:solidFill>
                  <a:srgbClr val="FF0000"/>
                </a:solidFill>
              </a:rPr>
              <a:t>）</a:t>
            </a:r>
            <a:r>
              <a:rPr lang="zh-CN" altLang="en-US">
                <a:solidFill>
                  <a:srgbClr val="FF0000"/>
                </a:solidFill>
              </a:rPr>
              <a:t>算法</a:t>
            </a:r>
            <a:r>
              <a:rPr lang="zh-CN" altLang="en-US"/>
              <a:t>（基于</a:t>
            </a:r>
            <a:r>
              <a:rPr lang="en-US" altLang="zh-CN"/>
              <a:t>BFS</a:t>
            </a:r>
            <a:r>
              <a:rPr lang="zh-CN" altLang="en-US"/>
              <a:t>）和</a:t>
            </a:r>
            <a:r>
              <a:rPr lang="en-US" altLang="zh-CN"/>
              <a:t>  </a:t>
            </a:r>
            <a:r>
              <a:rPr lang="zh-CN" altLang="en-US">
                <a:solidFill>
                  <a:srgbClr val="FF0000"/>
                </a:solidFill>
              </a:rPr>
              <a:t>基于</a:t>
            </a:r>
            <a:r>
              <a:rPr lang="en-US" altLang="zh-CN">
                <a:solidFill>
                  <a:srgbClr val="FF0000"/>
                </a:solidFill>
              </a:rPr>
              <a:t>DFS</a:t>
            </a:r>
            <a:r>
              <a:rPr lang="zh-CN" altLang="en-US">
                <a:solidFill>
                  <a:srgbClr val="FF0000"/>
                </a:solidFill>
              </a:rPr>
              <a:t>的算法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2" indent="457200"/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en-US" altLang="zh-CN">
                <a:sym typeface="+mn-ea"/>
              </a:rPr>
              <a:t>Kahn 算法</a:t>
            </a:r>
            <a:r>
              <a:rPr lang="zh-CN" altLang="en-US">
                <a:sym typeface="+mn-ea"/>
              </a:rPr>
              <a:t>：其实就是在《数据结构》课程中所学过的算法。</a:t>
            </a:r>
            <a:endParaRPr lang="zh-CN" altLang="en-US">
              <a:sym typeface="+mn-ea"/>
            </a:endParaRPr>
          </a:p>
          <a:p>
            <a:pPr marL="0" lvl="2" indent="457200"/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算法流程：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具体实现：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时间复杂度：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V+E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48815" y="1388745"/>
            <a:ext cx="7677150" cy="1485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38375" y="3719830"/>
            <a:ext cx="7960360" cy="1755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91185" y="761365"/>
            <a:ext cx="11009630" cy="4763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2" indent="457200"/>
            <a:r>
              <a:rPr lang="en-US" altLang="zh-CN">
                <a:sym typeface="+mn-ea"/>
              </a:rPr>
              <a:t>2.DFS</a:t>
            </a:r>
            <a:r>
              <a:rPr lang="zh-CN" altLang="en-US">
                <a:sym typeface="+mn-ea"/>
              </a:rPr>
              <a:t>算法：</a:t>
            </a:r>
            <a:r>
              <a:rPr lang="en-US" altLang="zh-CN">
                <a:sym typeface="+mn-ea"/>
              </a:rPr>
              <a:t>使用 DFS 算法遍历图，并且在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回溯</a:t>
            </a:r>
            <a:r>
              <a:rPr lang="en-US" altLang="zh-CN">
                <a:sym typeface="+mn-ea"/>
              </a:rPr>
              <a:t>的时候将遍历的顶点入栈，那么先入栈的顶点必定入度不为 0，而入度为 0 的顶点必定是最后入栈（</a:t>
            </a:r>
            <a:r>
              <a:rPr lang="zh-CN" altLang="en-US">
                <a:sym typeface="+mn-ea"/>
              </a:rPr>
              <a:t>第一个入栈的顶点必定出度为</a:t>
            </a:r>
            <a:r>
              <a:rPr lang="en-US" altLang="zh-CN">
                <a:sym typeface="+mn-ea"/>
              </a:rPr>
              <a:t> 0</a:t>
            </a:r>
            <a:r>
              <a:rPr lang="zh-CN" altLang="en-US">
                <a:sym typeface="+mn-ea"/>
              </a:rPr>
              <a:t>，而出度不为</a:t>
            </a:r>
            <a:r>
              <a:rPr lang="en-US" altLang="zh-CN">
                <a:sym typeface="+mn-ea"/>
              </a:rPr>
              <a:t> 0 </a:t>
            </a:r>
            <a:r>
              <a:rPr lang="zh-CN" altLang="en-US">
                <a:sym typeface="+mn-ea"/>
              </a:rPr>
              <a:t>的顶点必定是后入栈</a:t>
            </a:r>
            <a:r>
              <a:rPr lang="en-US" altLang="zh-CN">
                <a:sym typeface="+mn-ea"/>
              </a:rPr>
              <a:t>）。</a:t>
            </a:r>
            <a:r>
              <a:rPr lang="zh-CN" altLang="en-US">
                <a:sym typeface="+mn-ea"/>
              </a:rPr>
              <a:t>最后将栈自顶向下输出，即为拓扑序列。</a:t>
            </a:r>
            <a:endParaRPr lang="zh-CN" altLang="en-US">
              <a:sym typeface="+mn-ea"/>
            </a:endParaRPr>
          </a:p>
          <a:p>
            <a:pPr marL="0" lvl="2" indent="457200"/>
            <a:r>
              <a:rPr lang="zh-CN" altLang="en-US">
                <a:sym typeface="+mn-ea"/>
              </a:rPr>
              <a:t>以下例子：</a:t>
            </a:r>
            <a:r>
              <a:rPr lang="en-US" altLang="zh-CN">
                <a:sym typeface="+mn-ea"/>
              </a:rPr>
              <a:t>DAG</a:t>
            </a:r>
            <a:r>
              <a:rPr lang="zh-CN" altLang="en-US">
                <a:sym typeface="+mn-ea"/>
              </a:rPr>
              <a:t>图</a:t>
            </a:r>
            <a:endParaRPr lang="en-US" altLang="zh-CN"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pPr marL="0" lvl="1"/>
            <a:r>
              <a:rPr lang="zh-CN" altLang="en-US">
                <a:sym typeface="+mn-ea"/>
              </a:rPr>
              <a:t>时间复杂度：</a:t>
            </a:r>
            <a:r>
              <a:rPr lang="en-US" altLang="zh-CN">
                <a:sym typeface="+mn-ea"/>
              </a:rPr>
              <a:t>O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V+E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91565" y="2296160"/>
            <a:ext cx="4344670" cy="31546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8220" y="2451100"/>
            <a:ext cx="5231130" cy="2999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0 1 2 3 5 4 6 7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7 6 4 5 3 2 1 0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vis[i]=0   </a:t>
            </a:r>
            <a:r>
              <a:rPr lang="zh-CN" altLang="en-US"/>
              <a:t>还未走过</a:t>
            </a:r>
            <a:r>
              <a:rPr lang="en-US" altLang="zh-CN"/>
              <a:t>/</a:t>
            </a:r>
            <a:r>
              <a:rPr lang="zh-CN" altLang="en-US"/>
              <a:t>还未遍历过</a:t>
            </a:r>
            <a:endParaRPr lang="en-US" altLang="zh-CN"/>
          </a:p>
          <a:p>
            <a:r>
              <a:rPr lang="en-US" altLang="zh-CN"/>
              <a:t>       =1   </a:t>
            </a:r>
            <a:r>
              <a:rPr lang="zh-CN" altLang="en-US"/>
              <a:t>该点及其后面所有的点已经访问完了</a:t>
            </a:r>
            <a:endParaRPr lang="en-US" altLang="zh-CN"/>
          </a:p>
          <a:p>
            <a:r>
              <a:rPr lang="en-US" altLang="zh-CN"/>
              <a:t>       =2   </a:t>
            </a:r>
            <a:r>
              <a:rPr lang="zh-CN" altLang="en-US"/>
              <a:t>这个点走过一次了</a:t>
            </a:r>
            <a:r>
              <a:rPr lang="en-US" altLang="zh-CN"/>
              <a:t> </a:t>
            </a:r>
            <a:r>
              <a:rPr lang="zh-CN" altLang="en-US"/>
              <a:t>现在正在遍历该点后面的点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91185" y="761365"/>
            <a:ext cx="11009630" cy="4763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2" indent="457200"/>
            <a:r>
              <a:rPr lang="en-US" altLang="zh-CN">
                <a:solidFill>
                  <a:schemeClr val="tx1"/>
                </a:solidFill>
                <a:sym typeface="+mn-ea"/>
              </a:rPr>
              <a:t>DFS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算法如何判环呢？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3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对于某个结点，在搜索过程中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给与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三种状态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0 1 2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3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3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3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3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3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3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具体流程：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4910" y="1616710"/>
            <a:ext cx="8867775" cy="9048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80490" y="3112135"/>
            <a:ext cx="8972550" cy="1905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28000" y="482790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vis[i]=0   </a:t>
            </a:r>
            <a:r>
              <a:rPr lang="zh-CN" altLang="en-US">
                <a:sym typeface="+mn-ea"/>
              </a:rPr>
              <a:t>还未走过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还未遍历过</a:t>
            </a:r>
            <a:endParaRPr lang="en-US" altLang="zh-CN"/>
          </a:p>
          <a:p>
            <a:r>
              <a:rPr lang="en-US" altLang="zh-CN">
                <a:sym typeface="+mn-ea"/>
              </a:rPr>
              <a:t>       =1   </a:t>
            </a:r>
            <a:r>
              <a:rPr lang="zh-CN" altLang="en-US">
                <a:sym typeface="+mn-ea"/>
              </a:rPr>
              <a:t>该点及其后面所有的点已经访问完了</a:t>
            </a:r>
            <a:endParaRPr lang="en-US" altLang="zh-CN"/>
          </a:p>
          <a:p>
            <a:r>
              <a:rPr lang="en-US" altLang="zh-CN">
                <a:sym typeface="+mn-ea"/>
              </a:rPr>
              <a:t>       =2   </a:t>
            </a:r>
            <a:r>
              <a:rPr lang="zh-CN" altLang="en-US">
                <a:sym typeface="+mn-ea"/>
              </a:rPr>
              <a:t>这个点走过一次了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现在正在遍历该点后面的点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https://www.luogu.com.cn/problem/P1113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https://www.luogu.com.cn/problem/P1113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853295" cy="446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思路：拓扑排序；</a:t>
            </a:r>
            <a:r>
              <a:rPr lang="en-US" altLang="zh-CN"/>
              <a:t>Kahn</a:t>
            </a:r>
            <a:r>
              <a:rPr lang="zh-CN" altLang="en-US"/>
              <a:t>算法</a:t>
            </a:r>
            <a:endParaRPr lang="zh-CN" altLang="en-US"/>
          </a:p>
          <a:p>
            <a:r>
              <a:rPr lang="zh-CN" altLang="en-US"/>
              <a:t>划重点：</a:t>
            </a:r>
            <a:r>
              <a:rPr lang="en-US" altLang="zh-CN"/>
              <a:t>“</a:t>
            </a:r>
            <a:r>
              <a:rPr lang="zh-CN" altLang="en-US"/>
              <a:t>互相没有关系的杂务可以</a:t>
            </a:r>
            <a:r>
              <a:rPr lang="zh-CN" altLang="en-US">
                <a:solidFill>
                  <a:srgbClr val="FF0000"/>
                </a:solidFill>
              </a:rPr>
              <a:t>同时工作</a:t>
            </a:r>
            <a:r>
              <a:rPr lang="zh-CN" altLang="en-US"/>
              <a:t>，并且，你可以假定 John 的农场有足够多的工人来同时完成任意多项任务。</a:t>
            </a:r>
            <a:r>
              <a:rPr lang="en-US" altLang="zh-CN"/>
              <a:t>” </a:t>
            </a:r>
            <a:endParaRPr lang="en-US" altLang="zh-CN"/>
          </a:p>
          <a:p>
            <a:r>
              <a:rPr lang="zh-CN" altLang="en-US"/>
              <a:t>则：假设做杂务</a:t>
            </a:r>
            <a:r>
              <a:rPr lang="en-US" altLang="zh-CN"/>
              <a:t>x </a:t>
            </a:r>
            <a:r>
              <a:rPr lang="zh-CN" altLang="en-US"/>
              <a:t>需要做准备工作（杂物）：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zh-CN" altLang="en-US"/>
              <a:t>。且若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c</a:t>
            </a:r>
            <a:r>
              <a:rPr lang="zh-CN" altLang="en-US"/>
              <a:t>相互</a:t>
            </a:r>
            <a:r>
              <a:rPr lang="zh-CN" altLang="en-US">
                <a:sym typeface="+mn-ea"/>
              </a:rPr>
              <a:t>没有关系，则</a:t>
            </a:r>
            <a:r>
              <a:rPr lang="en-US" altLang="zh-CN">
                <a:sym typeface="+mn-ea"/>
              </a:rPr>
              <a:t> a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，可以同时做，可推出开始做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的时间是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做</a:t>
            </a:r>
            <a:r>
              <a:rPr lang="en-US" altLang="zh-CN">
                <a:sym typeface="+mn-ea"/>
              </a:rPr>
              <a:t>a,b,c</a:t>
            </a:r>
            <a:r>
              <a:rPr lang="zh-CN" altLang="en-US">
                <a:sym typeface="+mn-ea"/>
              </a:rPr>
              <a:t>花费的时间取</a:t>
            </a:r>
            <a:r>
              <a:rPr lang="en-US" altLang="zh-CN">
                <a:sym typeface="+mn-ea"/>
              </a:rPr>
              <a:t>max</a:t>
            </a:r>
            <a:r>
              <a:rPr lang="zh-CN" altLang="en-US">
                <a:sym typeface="+mn-ea"/>
              </a:rPr>
              <a:t>。完成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的时间是</a:t>
            </a:r>
            <a:r>
              <a:rPr lang="en-US" altLang="zh-CN">
                <a:sym typeface="+mn-ea"/>
              </a:rPr>
              <a:t>max+x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步骤：</a:t>
            </a:r>
            <a:endParaRPr lang="zh-CN" altLang="en-US"/>
          </a:p>
          <a:p>
            <a:r>
              <a:rPr lang="zh-CN" altLang="en-US"/>
              <a:t>1.输入杂物耗时</a:t>
            </a:r>
            <a:r>
              <a:rPr lang="en-US" altLang="zh-CN"/>
              <a:t>ti</a:t>
            </a:r>
            <a:r>
              <a:rPr lang="zh-CN" altLang="en-US"/>
              <a:t>，建图，建立准备工作</a:t>
            </a:r>
            <a:r>
              <a:rPr lang="en-US" altLang="zh-CN"/>
              <a:t> j </a:t>
            </a:r>
            <a:r>
              <a:rPr lang="zh-CN" altLang="en-US"/>
              <a:t>指向该工作</a:t>
            </a:r>
            <a:r>
              <a:rPr lang="en-US" altLang="zh-CN"/>
              <a:t> i</a:t>
            </a:r>
            <a:r>
              <a:rPr lang="zh-CN" altLang="en-US"/>
              <a:t>的有向边，并记录</a:t>
            </a:r>
            <a:r>
              <a:rPr lang="zh-CN" altLang="en-US"/>
              <a:t>入度。</a:t>
            </a:r>
            <a:endParaRPr lang="zh-CN" altLang="en-US"/>
          </a:p>
          <a:p>
            <a:r>
              <a:rPr lang="zh-CN" altLang="en-US"/>
              <a:t>2.将所有入度为0的点入队列。</a:t>
            </a:r>
            <a:endParaRPr lang="zh-CN" altLang="en-US"/>
          </a:p>
          <a:p>
            <a:r>
              <a:rPr lang="zh-CN" altLang="en-US"/>
              <a:t>3.只要队列不空，拿出队列顶端的杂物</a:t>
            </a:r>
            <a:r>
              <a:rPr lang="en-US" altLang="zh-CN"/>
              <a:t>u</a:t>
            </a:r>
            <a:r>
              <a:rPr lang="zh-CN" altLang="en-US"/>
              <a:t>并更新以</a:t>
            </a:r>
            <a:r>
              <a:rPr lang="en-US" altLang="zh-CN"/>
              <a:t>u</a:t>
            </a:r>
            <a:r>
              <a:rPr lang="zh-CN" altLang="en-US"/>
              <a:t>为先决杂物的杂物</a:t>
            </a:r>
            <a:r>
              <a:rPr lang="en-US" altLang="zh-CN"/>
              <a:t>v</a:t>
            </a:r>
            <a:r>
              <a:rPr lang="zh-CN" altLang="en-US"/>
              <a:t>的完成时间：</a:t>
            </a:r>
            <a:endParaRPr lang="zh-CN" altLang="en-US"/>
          </a:p>
          <a:p>
            <a:r>
              <a:rPr lang="en-US" altLang="zh-CN">
                <a:highlight>
                  <a:srgbClr val="FFFF00"/>
                </a:highlight>
              </a:rPr>
              <a:t>time[v]=max(time[v]</a:t>
            </a:r>
            <a:r>
              <a:rPr lang="zh-CN" altLang="en-US">
                <a:highlight>
                  <a:srgbClr val="FFFF00"/>
                </a:highlight>
              </a:rPr>
              <a:t>，</a:t>
            </a:r>
            <a:r>
              <a:rPr lang="en-US" altLang="zh-CN">
                <a:highlight>
                  <a:srgbClr val="FFFF00"/>
                </a:highlight>
              </a:rPr>
              <a:t>time[u]+tv)</a:t>
            </a:r>
            <a:r>
              <a:rPr lang="zh-CN" altLang="en-US"/>
              <a:t>。然后</a:t>
            </a:r>
            <a:r>
              <a:rPr lang="en-US" altLang="zh-CN"/>
              <a:t>v</a:t>
            </a:r>
            <a:r>
              <a:rPr lang="zh-CN" altLang="en-US"/>
              <a:t>的入度</a:t>
            </a:r>
            <a:r>
              <a:rPr lang="en-US" altLang="zh-CN"/>
              <a:t>--</a:t>
            </a:r>
            <a:r>
              <a:rPr lang="zh-CN" altLang="en-US"/>
              <a:t>，为</a:t>
            </a:r>
            <a:r>
              <a:rPr lang="en-US" altLang="zh-CN"/>
              <a:t>0</a:t>
            </a:r>
            <a:r>
              <a:rPr lang="zh-CN" altLang="en-US"/>
              <a:t>时</a:t>
            </a:r>
            <a:r>
              <a:rPr lang="zh-CN" altLang="en-US"/>
              <a:t>入队。</a:t>
            </a:r>
            <a:endParaRPr lang="zh-CN" altLang="en-US"/>
          </a:p>
          <a:p>
            <a:r>
              <a:rPr lang="zh-CN" altLang="en-US"/>
              <a:t>4.求出所有</a:t>
            </a:r>
            <a:r>
              <a:rPr lang="en-US" altLang="zh-CN"/>
              <a:t>time</a:t>
            </a:r>
            <a:r>
              <a:rPr lang="zh-CN" altLang="en-US"/>
              <a:t>[i]的最大值ans就是</a:t>
            </a:r>
            <a:r>
              <a:rPr lang="zh-CN" altLang="en-US"/>
              <a:t>答案。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https://www.luogu.com.cn/problem/P1113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853295" cy="349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</a:t>
            </a:r>
            <a:r>
              <a:rPr lang="en-US" altLang="zh-CN"/>
              <a:t>2</a:t>
            </a:r>
            <a:r>
              <a:rPr lang="zh-CN" altLang="en-US"/>
              <a:t>：拓扑排序；</a:t>
            </a:r>
            <a:r>
              <a:rPr lang="en-US" altLang="zh-CN"/>
              <a:t>Kahn</a:t>
            </a:r>
            <a:r>
              <a:rPr lang="zh-CN" altLang="en-US"/>
              <a:t>算法</a:t>
            </a:r>
            <a:r>
              <a:rPr lang="en-US" altLang="zh-CN"/>
              <a:t>------&gt;</a:t>
            </a:r>
            <a:r>
              <a:rPr lang="zh-CN" altLang="en-US"/>
              <a:t>简化为</a:t>
            </a:r>
            <a:r>
              <a:rPr lang="en-US" altLang="zh-CN"/>
              <a:t>DP</a:t>
            </a:r>
            <a:r>
              <a:rPr lang="zh-CN" altLang="en-US"/>
              <a:t>（学有余力的同学可以</a:t>
            </a:r>
            <a:r>
              <a:rPr lang="zh-CN" altLang="en-US"/>
              <a:t>看看）</a:t>
            </a:r>
            <a:endParaRPr lang="zh-CN" altLang="en-US"/>
          </a:p>
          <a:p>
            <a:r>
              <a:rPr lang="zh-CN" altLang="en-US"/>
              <a:t>划重点：</a:t>
            </a:r>
            <a:r>
              <a:rPr lang="en-US" altLang="zh-CN"/>
              <a:t>“</a:t>
            </a:r>
            <a:r>
              <a:rPr lang="zh-CN" altLang="en-US"/>
              <a:t>互相没有关系的杂务可以</a:t>
            </a:r>
            <a:r>
              <a:rPr lang="zh-CN" altLang="en-US">
                <a:solidFill>
                  <a:srgbClr val="FF0000"/>
                </a:solidFill>
              </a:rPr>
              <a:t>同时工作</a:t>
            </a:r>
            <a:r>
              <a:rPr lang="zh-CN" altLang="en-US"/>
              <a:t>，并且，你可以假定 John 的农场有足够多的工人来同时完成任意多项任务。</a:t>
            </a:r>
            <a:r>
              <a:rPr lang="en-US" altLang="zh-CN"/>
              <a:t>” </a:t>
            </a:r>
            <a:endParaRPr lang="en-US" altLang="zh-CN"/>
          </a:p>
          <a:p>
            <a:r>
              <a:rPr lang="zh-CN" altLang="en-US"/>
              <a:t>则：假设做杂务</a:t>
            </a:r>
            <a:r>
              <a:rPr lang="en-US" altLang="zh-CN"/>
              <a:t>x </a:t>
            </a:r>
            <a:r>
              <a:rPr lang="zh-CN" altLang="en-US"/>
              <a:t>需要做准备工作（杂物）：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zh-CN" altLang="en-US"/>
              <a:t>。且若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c</a:t>
            </a:r>
            <a:r>
              <a:rPr lang="zh-CN" altLang="en-US"/>
              <a:t>相互</a:t>
            </a:r>
            <a:r>
              <a:rPr lang="zh-CN" altLang="en-US">
                <a:sym typeface="+mn-ea"/>
              </a:rPr>
              <a:t>没有关系，则</a:t>
            </a:r>
            <a:r>
              <a:rPr lang="en-US" altLang="zh-CN">
                <a:sym typeface="+mn-ea"/>
              </a:rPr>
              <a:t> a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，可以同时做，可推出开始做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的时间是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做</a:t>
            </a:r>
            <a:r>
              <a:rPr lang="en-US" altLang="zh-CN">
                <a:sym typeface="+mn-ea"/>
              </a:rPr>
              <a:t>a,b,c</a:t>
            </a:r>
            <a:r>
              <a:rPr lang="zh-CN" altLang="en-US">
                <a:sym typeface="+mn-ea"/>
              </a:rPr>
              <a:t>花费的时间取</a:t>
            </a:r>
            <a:r>
              <a:rPr lang="en-US" altLang="zh-CN">
                <a:sym typeface="+mn-ea"/>
              </a:rPr>
              <a:t>max</a:t>
            </a:r>
            <a:r>
              <a:rPr lang="zh-CN" altLang="en-US">
                <a:sym typeface="+mn-ea"/>
              </a:rPr>
              <a:t>。完成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的时间是</a:t>
            </a:r>
            <a:r>
              <a:rPr lang="en-US" altLang="zh-CN">
                <a:sym typeface="+mn-ea"/>
              </a:rPr>
              <a:t>max+x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因为任务可以并发，所以一个任务如果有前驱的话，最优方案便是在它的最晚一个前驱结束后就立即开始，而且</a:t>
            </a:r>
            <a:r>
              <a:rPr lang="zh-CN" altLang="en-US">
                <a:solidFill>
                  <a:srgbClr val="FF0000"/>
                </a:solidFill>
              </a:rPr>
              <a:t>任务k的前驱节点一定小于k</a:t>
            </a:r>
            <a:r>
              <a:rPr lang="zh-CN" altLang="en-US"/>
              <a:t>，所以读入时顺便从它的前驱里挑一个最大的转移即可。同时可以更新最终答案。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</a:t>
            </a:r>
            <a:r>
              <a:rPr lang="en-US" altLang="zh-CN"/>
              <a:t>983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</a:t>
            </a:r>
            <a:r>
              <a:rPr lang="en-US" altLang="zh-CN"/>
              <a:t>983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8872220" cy="4172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zh-CN" altLang="en-US"/>
              <a:t>两个核心推论：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level</a:t>
            </a:r>
            <a:r>
              <a:rPr lang="en-US" altLang="zh-CN"/>
              <a:t> </a:t>
            </a:r>
            <a:r>
              <a:rPr lang="zh-CN" altLang="en-US"/>
              <a:t>临时停靠站的级别都要大于</a:t>
            </a:r>
            <a:r>
              <a:rPr lang="zh-CN" altLang="en-US"/>
              <a:t>等于停靠的最小</a:t>
            </a:r>
            <a:r>
              <a:rPr lang="zh-CN" altLang="en-US"/>
              <a:t>级别</a:t>
            </a:r>
            <a:endParaRPr lang="zh-CN" altLang="en-US"/>
          </a:p>
          <a:p>
            <a:r>
              <a:rPr lang="zh-CN" altLang="en-US"/>
              <a:t>level</a:t>
            </a:r>
            <a:r>
              <a:rPr lang="en-US" altLang="zh-CN"/>
              <a:t> </a:t>
            </a:r>
            <a:r>
              <a:rPr lang="zh-CN" altLang="en-US"/>
              <a:t>非停靠站＜level停靠站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因此就有了划分等级的方法，用</a:t>
            </a:r>
            <a:r>
              <a:rPr lang="zh-CN" altLang="en-US"/>
              <a:t>图中的一条“停靠站”（A）指向“非停靠站”（B）的有向边，表示“停靠站”（A）比“非停靠站”（B）大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最后再从所有入度为0的点出发出发，求出最长的路径，即为至少要分的级数。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052320" y="1012190"/>
            <a:ext cx="7842250" cy="3763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下节课课上</a:t>
            </a:r>
            <a:r>
              <a:rPr lang="zh-CN" altLang="en-US"/>
              <a:t>例题</a:t>
            </a:r>
            <a:endParaRPr lang="zh-CN" altLang="en-US"/>
          </a:p>
        </p:txBody>
      </p:sp>
      <p:pic>
        <p:nvPicPr>
          <p:cNvPr id="2" name="图片 1" descr="1a721f2375c78538897ff59f2162bfa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6180" y="2591435"/>
            <a:ext cx="5536565" cy="18453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1735</Words>
  <Application>WPS 演示</Application>
  <PresentationFormat>宽屏</PresentationFormat>
  <Paragraphs>146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汉仪书宋二KW</vt:lpstr>
      <vt:lpstr>宋体-简</vt:lpstr>
      <vt:lpstr>微软雅黑</vt:lpstr>
      <vt:lpstr>宋体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39</cp:revision>
  <dcterms:created xsi:type="dcterms:W3CDTF">2025-04-19T13:52:34Z</dcterms:created>
  <dcterms:modified xsi:type="dcterms:W3CDTF">2025-04-19T13:52:34Z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