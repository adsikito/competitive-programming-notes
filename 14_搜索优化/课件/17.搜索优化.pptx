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65" r:id="rId3"/>
    <p:sldId id="266" r:id="rId4"/>
    <p:sldId id="275" r:id="rId5"/>
    <p:sldId id="257" r:id="rId6"/>
    <p:sldId id="277" r:id="rId7"/>
    <p:sldId id="276" r:id="rId8"/>
    <p:sldId id="259" r:id="rId9"/>
    <p:sldId id="278" r:id="rId10"/>
    <p:sldId id="264" r:id="rId11"/>
  </p:sldIdLst>
  <p:sldSz cx="12192000" cy="6858000"/>
  <p:notesSz cx="6858000" cy="9144000"/>
  <p:custDataLst>
    <p:tags r:id="rId15"/>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6" d="100"/>
          <a:sy n="116" d="100"/>
        </p:scale>
        <p:origin x="33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5" Type="http://schemas.openxmlformats.org/officeDocument/2006/relationships/tags" Target="tags/tag5.xml"/><Relationship Id="rId14" Type="http://schemas.openxmlformats.org/officeDocument/2006/relationships/tableStyles" Target="tableStyles.xml"/><Relationship Id="rId13" Type="http://schemas.openxmlformats.org/officeDocument/2006/relationships/viewProps" Target="viewProps.xml"/><Relationship Id="rId12" Type="http://schemas.openxmlformats.org/officeDocument/2006/relationships/presProps" Target="presProps.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png"/><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3.png"/><Relationship Id="rId3" Type="http://schemas.openxmlformats.org/officeDocument/2006/relationships/tags" Target="../tags/tag3.xml"/><Relationship Id="rId2" Type="http://schemas.openxmlformats.org/officeDocument/2006/relationships/image" Target="../media/image2.png"/><Relationship Id="rId1" Type="http://schemas.openxmlformats.org/officeDocument/2006/relationships/tags" Target="../tags/tag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4.png"/><Relationship Id="rId1" Type="http://schemas.openxmlformats.org/officeDocument/2006/relationships/tags" Target="../tags/tag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1580515" y="1623695"/>
            <a:ext cx="9521825" cy="2487295"/>
          </a:xfrm>
          <a:prstGeom prst="rect">
            <a:avLst/>
          </a:prstGeom>
          <a:noFill/>
        </p:spPr>
        <p:txBody>
          <a:bodyPr wrap="square" rtlCol="0">
            <a:noAutofit/>
          </a:bodyPr>
          <a:p>
            <a:r>
              <a:rPr lang="en-US" altLang="zh-CN"/>
              <a:t>DFS</a:t>
            </a:r>
            <a:r>
              <a:rPr lang="zh-CN" altLang="en-US"/>
              <a:t>的优化</a:t>
            </a:r>
            <a:r>
              <a:rPr lang="en-US" altLang="zh-CN"/>
              <a:t>   </a:t>
            </a:r>
            <a:endParaRPr lang="zh-CN" altLang="en-US"/>
          </a:p>
          <a:p>
            <a:r>
              <a:rPr lang="zh-CN" altLang="en-US"/>
              <a:t>搜索</a:t>
            </a:r>
            <a:r>
              <a:rPr lang="en-US" altLang="zh-CN"/>
              <a:t>: </a:t>
            </a:r>
            <a:r>
              <a:rPr lang="zh-CN" altLang="en-US"/>
              <a:t>也就是对状态空间进行枚举，通过穷尽所有的可能来找到最优解，或者统计合法解的个数。但是其</a:t>
            </a:r>
            <a:r>
              <a:rPr lang="zh-CN" altLang="en-US">
                <a:solidFill>
                  <a:srgbClr val="FF0000"/>
                </a:solidFill>
                <a:sym typeface="+mn-ea"/>
              </a:rPr>
              <a:t>时间复杂度特别高</a:t>
            </a:r>
            <a:r>
              <a:rPr lang="zh-CN" altLang="en-US">
                <a:sym typeface="+mn-ea"/>
              </a:rPr>
              <a:t>，因为</a:t>
            </a:r>
            <a:r>
              <a:rPr lang="en-US" altLang="zh-CN">
                <a:sym typeface="+mn-ea"/>
              </a:rPr>
              <a:t>DFS</a:t>
            </a:r>
            <a:r>
              <a:rPr lang="zh-CN" altLang="en-US">
                <a:sym typeface="+mn-ea"/>
              </a:rPr>
              <a:t>本质上还是暴力枚举答案。</a:t>
            </a:r>
            <a:endParaRPr lang="zh-CN" altLang="en-US">
              <a:sym typeface="+mn-ea"/>
            </a:endParaRPr>
          </a:p>
          <a:p>
            <a:endParaRPr lang="zh-CN" altLang="en-US">
              <a:sym typeface="+mn-ea"/>
            </a:endParaRPr>
          </a:p>
          <a:p>
            <a:r>
              <a:rPr lang="zh-CN" altLang="en-US"/>
              <a:t>搜索有很多优化方式，如减小状态空间，记忆化搜索等，统称为剪枝。无论是何种优化方式，其本质都是想办法减少</a:t>
            </a:r>
            <a:r>
              <a:rPr lang="en-US" altLang="zh-CN"/>
              <a:t> </a:t>
            </a:r>
            <a:r>
              <a:rPr lang="zh-CN" altLang="en-US">
                <a:highlight>
                  <a:srgbClr val="FFFF00"/>
                </a:highlight>
              </a:rPr>
              <a:t>对不合法及重复的答案</a:t>
            </a:r>
            <a:r>
              <a:rPr lang="en-US" altLang="zh-CN"/>
              <a:t> </a:t>
            </a:r>
            <a:r>
              <a:rPr lang="zh-CN" altLang="en-US"/>
              <a:t>的枚举。</a:t>
            </a:r>
            <a:endParaRPr lang="zh-CN" altLang="en-US"/>
          </a:p>
          <a:p>
            <a:endParaRPr lang="zh-CN" altLang="en-US"/>
          </a:p>
          <a:p>
            <a:r>
              <a:rPr lang="zh-CN" altLang="en-US"/>
              <a:t>常用</a:t>
            </a:r>
            <a:r>
              <a:rPr lang="zh-CN" altLang="en-US"/>
              <a:t>的剪枝：最优性</a:t>
            </a:r>
            <a:r>
              <a:rPr lang="en-US" altLang="zh-CN"/>
              <a:t>/</a:t>
            </a:r>
            <a:r>
              <a:rPr lang="zh-CN" altLang="en-US"/>
              <a:t>可行性剪枝</a:t>
            </a:r>
            <a:r>
              <a:rPr lang="zh-CN" altLang="en-US">
                <a:sym typeface="+mn-ea"/>
              </a:rPr>
              <a:t>、记忆化搜索。</a:t>
            </a:r>
            <a:endParaRPr lang="zh-CN" altLang="en-US"/>
          </a:p>
          <a:p>
            <a:endParaRPr lang="zh-CN" altLang="en-US"/>
          </a:p>
          <a:p>
            <a:endParaRPr lang="zh-CN" altLang="en-US"/>
          </a:p>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nvSpPr>
        <p:spPr>
          <a:xfrm>
            <a:off x="2353310" y="1159510"/>
            <a:ext cx="6519545" cy="528955"/>
          </a:xfrm>
          <a:prstGeom prst="rect">
            <a:avLst/>
          </a:prstGeom>
          <a:noFill/>
        </p:spPr>
        <p:txBody>
          <a:bodyPr wrap="square" rtlCol="0">
            <a:noAutofit/>
          </a:bodyPr>
          <a:p>
            <a:r>
              <a:rPr lang="zh-CN" altLang="en-US"/>
              <a:t>先来一段深搜模板，之后的模板将在此基础上进行修改：</a:t>
            </a:r>
            <a:endParaRPr lang="zh-CN" altLang="en-US"/>
          </a:p>
        </p:txBody>
      </p:sp>
      <p:pic>
        <p:nvPicPr>
          <p:cNvPr id="4" name="图片 3"/>
          <p:cNvPicPr>
            <a:picLocks noChangeAspect="1"/>
          </p:cNvPicPr>
          <p:nvPr>
            <p:custDataLst>
              <p:tags r:id="rId1"/>
            </p:custDataLst>
          </p:nvPr>
        </p:nvPicPr>
        <p:blipFill>
          <a:blip r:embed="rId2"/>
          <a:stretch>
            <a:fillRect/>
          </a:stretch>
        </p:blipFill>
        <p:spPr>
          <a:xfrm>
            <a:off x="1990090" y="1904365"/>
            <a:ext cx="6882765" cy="338074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nvSpPr>
        <p:spPr>
          <a:xfrm>
            <a:off x="1102360" y="322580"/>
            <a:ext cx="9554845" cy="1004570"/>
          </a:xfrm>
          <a:prstGeom prst="rect">
            <a:avLst/>
          </a:prstGeom>
          <a:noFill/>
        </p:spPr>
        <p:txBody>
          <a:bodyPr wrap="square" rtlCol="0">
            <a:noAutofit/>
          </a:bodyPr>
          <a:p>
            <a:r>
              <a:rPr lang="zh-CN" altLang="en-US"/>
              <a:t>最优性</a:t>
            </a:r>
            <a:r>
              <a:rPr lang="en-US" altLang="zh-CN"/>
              <a:t>/</a:t>
            </a:r>
            <a:r>
              <a:rPr lang="zh-CN" altLang="en-US"/>
              <a:t>可行性剪枝：在搜索中导致运行慢的原因有一种是在</a:t>
            </a:r>
            <a:r>
              <a:rPr lang="en-US" altLang="zh-CN"/>
              <a:t> </a:t>
            </a:r>
            <a:r>
              <a:rPr lang="zh-CN" altLang="en-US">
                <a:solidFill>
                  <a:srgbClr val="FF0000"/>
                </a:solidFill>
              </a:rPr>
              <a:t>当前解</a:t>
            </a:r>
            <a:r>
              <a:rPr lang="en-US" altLang="zh-CN"/>
              <a:t> </a:t>
            </a:r>
            <a:r>
              <a:rPr lang="zh-CN" altLang="en-US"/>
              <a:t>已经比</a:t>
            </a:r>
            <a:r>
              <a:rPr lang="en-US" altLang="zh-CN"/>
              <a:t> </a:t>
            </a:r>
            <a:r>
              <a:rPr lang="zh-CN" altLang="en-US">
                <a:solidFill>
                  <a:srgbClr val="FF0000"/>
                </a:solidFill>
              </a:rPr>
              <a:t>已有解</a:t>
            </a:r>
            <a:r>
              <a:rPr lang="en-US" altLang="zh-CN">
                <a:solidFill>
                  <a:srgbClr val="FF0000"/>
                </a:solidFill>
              </a:rPr>
              <a:t> </a:t>
            </a:r>
            <a:r>
              <a:rPr lang="zh-CN" altLang="en-US">
                <a:solidFill>
                  <a:schemeClr val="tx1"/>
                </a:solidFill>
              </a:rPr>
              <a:t>更</a:t>
            </a:r>
            <a:r>
              <a:rPr lang="en-US" altLang="zh-CN">
                <a:solidFill>
                  <a:schemeClr val="tx1"/>
                </a:solidFill>
              </a:rPr>
              <a:t> </a:t>
            </a:r>
            <a:r>
              <a:rPr lang="zh-CN" altLang="en-US">
                <a:solidFill>
                  <a:srgbClr val="FF0000"/>
                </a:solidFill>
              </a:rPr>
              <a:t>差</a:t>
            </a:r>
            <a:r>
              <a:rPr lang="en-US" altLang="zh-CN"/>
              <a:t> </a:t>
            </a:r>
            <a:r>
              <a:rPr lang="zh-CN" altLang="en-US"/>
              <a:t>，或者可明确判断出</a:t>
            </a:r>
            <a:r>
              <a:rPr lang="zh-CN" altLang="en-US">
                <a:solidFill>
                  <a:srgbClr val="FF0000"/>
                </a:solidFill>
              </a:rPr>
              <a:t>当前解不合法</a:t>
            </a:r>
            <a:r>
              <a:rPr lang="zh-CN" altLang="en-US"/>
              <a:t>时</a:t>
            </a:r>
            <a:r>
              <a:rPr lang="en-US" altLang="zh-CN"/>
              <a:t> </a:t>
            </a:r>
            <a:r>
              <a:rPr lang="zh-CN" altLang="en-US"/>
              <a:t>仍然在搜索，那么我们只需要判断一下当前解是否已经差于已有解或者当前解是否合法</a:t>
            </a:r>
            <a:r>
              <a:rPr lang="zh-CN" altLang="en-US"/>
              <a:t>即可。</a:t>
            </a:r>
            <a:endParaRPr lang="zh-CN" altLang="en-US"/>
          </a:p>
        </p:txBody>
      </p:sp>
      <p:pic>
        <p:nvPicPr>
          <p:cNvPr id="2" name="图片 1"/>
          <p:cNvPicPr>
            <a:picLocks noChangeAspect="1"/>
          </p:cNvPicPr>
          <p:nvPr>
            <p:custDataLst>
              <p:tags r:id="rId1"/>
            </p:custDataLst>
          </p:nvPr>
        </p:nvPicPr>
        <p:blipFill>
          <a:blip r:embed="rId2"/>
          <a:stretch>
            <a:fillRect/>
          </a:stretch>
        </p:blipFill>
        <p:spPr>
          <a:xfrm>
            <a:off x="419100" y="2186940"/>
            <a:ext cx="5401945" cy="2936875"/>
          </a:xfrm>
          <a:prstGeom prst="rect">
            <a:avLst/>
          </a:prstGeom>
        </p:spPr>
      </p:pic>
      <p:pic>
        <p:nvPicPr>
          <p:cNvPr id="5" name="图片 4"/>
          <p:cNvPicPr>
            <a:picLocks noChangeAspect="1"/>
          </p:cNvPicPr>
          <p:nvPr>
            <p:custDataLst>
              <p:tags r:id="rId3"/>
            </p:custDataLst>
          </p:nvPr>
        </p:nvPicPr>
        <p:blipFill>
          <a:blip r:embed="rId4"/>
          <a:stretch>
            <a:fillRect/>
          </a:stretch>
        </p:blipFill>
        <p:spPr>
          <a:xfrm>
            <a:off x="6186170" y="2065655"/>
            <a:ext cx="5627370" cy="305816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1221105" y="325755"/>
            <a:ext cx="8776970" cy="894715"/>
          </a:xfrm>
          <a:prstGeom prst="rect">
            <a:avLst/>
          </a:prstGeom>
          <a:noFill/>
        </p:spPr>
        <p:txBody>
          <a:bodyPr wrap="square" rtlCol="0">
            <a:noAutofit/>
          </a:bodyPr>
          <a:p>
            <a:r>
              <a:rPr lang="zh-CN" altLang="en-US"/>
              <a:t>https://www.luogu.com.cn/problem/P1025</a:t>
            </a:r>
            <a:endParaRPr lang="zh-CN" altLang="en-US"/>
          </a:p>
        </p:txBody>
      </p:sp>
      <p:sp>
        <p:nvSpPr>
          <p:cNvPr id="3" name="文本框 2"/>
          <p:cNvSpPr txBox="1"/>
          <p:nvPr/>
        </p:nvSpPr>
        <p:spPr>
          <a:xfrm>
            <a:off x="1221105" y="1301750"/>
            <a:ext cx="7778115" cy="645160"/>
          </a:xfrm>
          <a:prstGeom prst="rect">
            <a:avLst/>
          </a:prstGeom>
          <a:noFill/>
        </p:spPr>
        <p:txBody>
          <a:bodyPr wrap="square" rtlCol="0">
            <a:spAutoFit/>
          </a:bodyPr>
          <a:p>
            <a:r>
              <a:rPr lang="zh-CN" altLang="en-US"/>
              <a:t>思路：</a:t>
            </a:r>
            <a:endParaRPr lang="zh-CN" altLang="en-US"/>
          </a:p>
          <a:p>
            <a:endParaRPr lang="zh-CN"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1221105" y="325755"/>
            <a:ext cx="8776970" cy="894715"/>
          </a:xfrm>
          <a:prstGeom prst="rect">
            <a:avLst/>
          </a:prstGeom>
          <a:noFill/>
        </p:spPr>
        <p:txBody>
          <a:bodyPr wrap="square" rtlCol="0">
            <a:noAutofit/>
          </a:bodyPr>
          <a:p>
            <a:r>
              <a:rPr lang="zh-CN" altLang="en-US"/>
              <a:t>https://www.luogu.com.cn/problem/P1025</a:t>
            </a:r>
            <a:endParaRPr lang="zh-CN" altLang="en-US"/>
          </a:p>
        </p:txBody>
      </p:sp>
      <p:sp>
        <p:nvSpPr>
          <p:cNvPr id="3" name="文本框 2"/>
          <p:cNvSpPr txBox="1"/>
          <p:nvPr/>
        </p:nvSpPr>
        <p:spPr>
          <a:xfrm>
            <a:off x="1221105" y="1301750"/>
            <a:ext cx="9403080" cy="3288030"/>
          </a:xfrm>
          <a:prstGeom prst="rect">
            <a:avLst/>
          </a:prstGeom>
          <a:noFill/>
        </p:spPr>
        <p:txBody>
          <a:bodyPr wrap="square" rtlCol="0">
            <a:noAutofit/>
          </a:bodyPr>
          <a:p>
            <a:r>
              <a:rPr lang="zh-CN" altLang="en-US"/>
              <a:t>思路：</a:t>
            </a:r>
            <a:r>
              <a:rPr lang="en-US" altLang="zh-CN"/>
              <a:t>DFS+</a:t>
            </a:r>
            <a:r>
              <a:rPr lang="zh-CN" altLang="en-US"/>
              <a:t>可行性剪枝</a:t>
            </a:r>
            <a:endParaRPr lang="en-US" altLang="zh-CN"/>
          </a:p>
          <a:p>
            <a:endParaRPr lang="en-US" altLang="zh-CN"/>
          </a:p>
          <a:p>
            <a:r>
              <a:rPr lang="zh-CN" altLang="en-US"/>
              <a:t>考虑到不重复，所以可以按升序记录每一次划分：记录上一次划分所用的数，保证当前划分所用数不小于上次划分所用分数，当划分次数等于k时比较该次划分所得总分是否与n相同并记录次数。</a:t>
            </a:r>
            <a:endParaRPr lang="zh-CN" altLang="en-US"/>
          </a:p>
          <a:p>
            <a:endParaRPr lang="zh-CN" altLang="en-US"/>
          </a:p>
          <a:p>
            <a:r>
              <a:rPr lang="zh-CN" altLang="en-US"/>
              <a:t>需要做一个剪枝：</a:t>
            </a:r>
            <a:r>
              <a:rPr lang="zh-CN" altLang="en-US"/>
              <a:t>当枚举当前划分所用分数时应该从last(上次划分所用分数)枚举到sum+i*(k-cur)&lt;=n为止，因为之后划分的分数一定大于或等于当前划分所用分数。</a:t>
            </a:r>
            <a:endParaRPr lang="zh-CN"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nvSpPr>
        <p:spPr>
          <a:xfrm>
            <a:off x="1282700" y="385445"/>
            <a:ext cx="9338945" cy="1355725"/>
          </a:xfrm>
          <a:prstGeom prst="rect">
            <a:avLst/>
          </a:prstGeom>
          <a:noFill/>
        </p:spPr>
        <p:txBody>
          <a:bodyPr wrap="square" rtlCol="0">
            <a:noAutofit/>
          </a:bodyPr>
          <a:p>
            <a:r>
              <a:rPr lang="zh-CN" altLang="en-US"/>
              <a:t>记忆化搜索：因为在搜索中，</a:t>
            </a:r>
            <a:r>
              <a:rPr lang="zh-CN" altLang="en-US">
                <a:solidFill>
                  <a:srgbClr val="FF0000"/>
                </a:solidFill>
              </a:rPr>
              <a:t>相同的传入值</a:t>
            </a:r>
            <a:r>
              <a:rPr lang="zh-CN" altLang="en-US"/>
              <a:t>往往会带来</a:t>
            </a:r>
            <a:r>
              <a:rPr lang="zh-CN" altLang="en-US">
                <a:solidFill>
                  <a:srgbClr val="FF0000"/>
                </a:solidFill>
              </a:rPr>
              <a:t>相同的解</a:t>
            </a:r>
            <a:r>
              <a:rPr lang="zh-CN" altLang="en-US"/>
              <a:t>，那我们就可以用数组来记忆</a:t>
            </a:r>
            <a:r>
              <a:rPr lang="zh-CN" altLang="en-US">
                <a:solidFill>
                  <a:srgbClr val="FF0000"/>
                </a:solidFill>
              </a:rPr>
              <a:t>已经遍历过的状态的信息</a:t>
            </a:r>
            <a:r>
              <a:rPr lang="zh-CN" altLang="en-US"/>
              <a:t>，从而避免对同一状态重复遍历的搜索实现方式。确保了每个状态</a:t>
            </a:r>
            <a:r>
              <a:rPr lang="zh-CN" altLang="en-US">
                <a:solidFill>
                  <a:srgbClr val="FF0000"/>
                </a:solidFill>
              </a:rPr>
              <a:t>只访问一次</a:t>
            </a:r>
            <a:r>
              <a:rPr lang="zh-CN" altLang="en-US"/>
              <a:t>，它也是一种常见的动态规划实现方式。</a:t>
            </a:r>
            <a:endParaRPr lang="zh-CN" altLang="en-US"/>
          </a:p>
        </p:txBody>
      </p:sp>
      <p:pic>
        <p:nvPicPr>
          <p:cNvPr id="2" name="图片 1"/>
          <p:cNvPicPr>
            <a:picLocks noChangeAspect="1"/>
          </p:cNvPicPr>
          <p:nvPr>
            <p:custDataLst>
              <p:tags r:id="rId1"/>
            </p:custDataLst>
          </p:nvPr>
        </p:nvPicPr>
        <p:blipFill>
          <a:blip r:embed="rId2"/>
          <a:stretch>
            <a:fillRect/>
          </a:stretch>
        </p:blipFill>
        <p:spPr>
          <a:xfrm>
            <a:off x="2590800" y="1821180"/>
            <a:ext cx="6882765" cy="400113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1221105" y="325755"/>
            <a:ext cx="8776970" cy="894715"/>
          </a:xfrm>
          <a:prstGeom prst="rect">
            <a:avLst/>
          </a:prstGeom>
          <a:noFill/>
        </p:spPr>
        <p:txBody>
          <a:bodyPr wrap="square" rtlCol="0">
            <a:noAutofit/>
          </a:bodyPr>
          <a:p>
            <a:r>
              <a:rPr lang="zh-CN" altLang="en-US"/>
              <a:t>https://www.luogu.com.cn/problem/P1464</a:t>
            </a:r>
            <a:endParaRPr lang="zh-CN" altLang="en-US"/>
          </a:p>
        </p:txBody>
      </p:sp>
      <p:sp>
        <p:nvSpPr>
          <p:cNvPr id="3" name="文本框 2"/>
          <p:cNvSpPr txBox="1"/>
          <p:nvPr/>
        </p:nvSpPr>
        <p:spPr>
          <a:xfrm>
            <a:off x="1221105" y="1100455"/>
            <a:ext cx="7778115" cy="368300"/>
          </a:xfrm>
          <a:prstGeom prst="rect">
            <a:avLst/>
          </a:prstGeom>
          <a:noFill/>
        </p:spPr>
        <p:txBody>
          <a:bodyPr wrap="square" rtlCol="0">
            <a:spAutoFit/>
          </a:bodyPr>
          <a:p>
            <a:r>
              <a:rPr lang="zh-CN" altLang="en-US"/>
              <a:t>思路：</a:t>
            </a:r>
            <a:endParaRPr lang="zh-CN"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1221105" y="325755"/>
            <a:ext cx="8776970" cy="894715"/>
          </a:xfrm>
          <a:prstGeom prst="rect">
            <a:avLst/>
          </a:prstGeom>
          <a:noFill/>
        </p:spPr>
        <p:txBody>
          <a:bodyPr wrap="square" rtlCol="0">
            <a:noAutofit/>
          </a:bodyPr>
          <a:p>
            <a:r>
              <a:rPr lang="zh-CN" altLang="en-US"/>
              <a:t>https://www.luogu.com.cn/problem/P1464</a:t>
            </a:r>
            <a:endParaRPr lang="zh-CN" altLang="en-US"/>
          </a:p>
        </p:txBody>
      </p:sp>
      <p:sp>
        <p:nvSpPr>
          <p:cNvPr id="3" name="文本框 2"/>
          <p:cNvSpPr txBox="1"/>
          <p:nvPr/>
        </p:nvSpPr>
        <p:spPr>
          <a:xfrm>
            <a:off x="1221105" y="1100455"/>
            <a:ext cx="9347200" cy="3501390"/>
          </a:xfrm>
          <a:prstGeom prst="rect">
            <a:avLst/>
          </a:prstGeom>
          <a:noFill/>
        </p:spPr>
        <p:txBody>
          <a:bodyPr wrap="square" rtlCol="0">
            <a:noAutofit/>
          </a:bodyPr>
          <a:p>
            <a:r>
              <a:rPr lang="zh-CN" altLang="en-US"/>
              <a:t>思路：用</a:t>
            </a:r>
            <a:r>
              <a:rPr lang="en-US" altLang="zh-CN"/>
              <a:t>DFS</a:t>
            </a:r>
            <a:r>
              <a:rPr lang="zh-CN" altLang="en-US"/>
              <a:t>模拟</a:t>
            </a:r>
            <a:endParaRPr lang="zh-CN" altLang="en-US"/>
          </a:p>
          <a:p>
            <a:endParaRPr lang="zh-CN" altLang="en-US"/>
          </a:p>
          <a:p>
            <a:endParaRPr lang="zh-CN" altLang="en-US"/>
          </a:p>
          <a:p>
            <a:r>
              <a:rPr lang="zh-CN" altLang="en-US"/>
              <a:t>阅读递归函数内容，我们发现，当a&lt;0||b&lt;0||c&lt;0时，返回值都是1，当a&gt;20||b&gt;20||c&gt;20时，返回值都是w(20,20,20)，所以用</a:t>
            </a:r>
            <a:r>
              <a:rPr lang="zh-CN" altLang="en-US">
                <a:sym typeface="+mn-ea"/>
              </a:rPr>
              <a:t>三维数组</a:t>
            </a:r>
            <a:r>
              <a:rPr lang="zh-CN" altLang="en-US"/>
              <a:t>每次0~20以内的答案记录下来，下一次递归时如果</a:t>
            </a:r>
            <a:r>
              <a:rPr lang="en-US" altLang="zh-CN"/>
              <a:t>w</a:t>
            </a:r>
            <a:r>
              <a:rPr lang="zh-CN" altLang="en-US"/>
              <a:t>(x,y,z)有记录就直接输出就行啦。即：</a:t>
            </a:r>
            <a:r>
              <a:rPr lang="en-US" altLang="zh-CN"/>
              <a:t>dp[a][b][c]</a:t>
            </a:r>
            <a:r>
              <a:rPr lang="zh-CN" altLang="en-US"/>
              <a:t>记录</a:t>
            </a:r>
            <a:r>
              <a:rPr lang="en-US" altLang="zh-CN"/>
              <a:t>w(a,b,c)</a:t>
            </a:r>
            <a:r>
              <a:rPr lang="zh-CN" altLang="en-US"/>
              <a:t>函数的</a:t>
            </a:r>
            <a:r>
              <a:rPr lang="zh-CN" altLang="en-US"/>
              <a:t>值。</a:t>
            </a:r>
            <a:endParaRPr lang="zh-CN" altLang="en-US"/>
          </a:p>
          <a:p>
            <a:endParaRPr lang="zh-CN" altLang="en-US"/>
          </a:p>
          <a:p>
            <a:r>
              <a:rPr lang="zh-CN" altLang="en-US"/>
              <a:t>另外，在输入中可能</a:t>
            </a:r>
            <a:r>
              <a:rPr lang="zh-CN" altLang="en-US"/>
              <a:t>存在负数，如果</a:t>
            </a:r>
            <a:r>
              <a:rPr lang="zh-CN" altLang="en-US">
                <a:sym typeface="+mn-ea"/>
              </a:rPr>
              <a:t>一开始的判断语句</a:t>
            </a:r>
            <a:r>
              <a:rPr lang="zh-CN" altLang="en-US"/>
              <a:t>只写if（</a:t>
            </a:r>
            <a:r>
              <a:rPr lang="en-US" altLang="zh-CN"/>
              <a:t>dp</a:t>
            </a:r>
            <a:r>
              <a:rPr lang="zh-CN" altLang="en-US"/>
              <a:t>[x][y][z]）就炸了（因为不能访问数组负数下标），因此</a:t>
            </a:r>
            <a:r>
              <a:rPr lang="zh-CN" altLang="en-US"/>
              <a:t>需要加一个特判。</a:t>
            </a:r>
            <a:endParaRPr lang="zh-CN"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nvSpPr>
        <p:spPr>
          <a:xfrm>
            <a:off x="2662555" y="2198370"/>
            <a:ext cx="6465570" cy="1057910"/>
          </a:xfrm>
          <a:prstGeom prst="rect">
            <a:avLst/>
          </a:prstGeom>
          <a:noFill/>
        </p:spPr>
        <p:txBody>
          <a:bodyPr wrap="square" rtlCol="0">
            <a:noAutofit/>
          </a:bodyPr>
          <a:p>
            <a:r>
              <a:rPr lang="zh-CN" altLang="en-US"/>
              <a:t>下节课的题目：无题目。</a:t>
            </a:r>
            <a:endParaRPr lang="zh-CN" altLang="en-US"/>
          </a:p>
          <a:p>
            <a:endParaRPr lang="zh-CN" altLang="en-US"/>
          </a:p>
          <a:p>
            <a:r>
              <a:rPr lang="zh-CN" altLang="en-US"/>
              <a:t>请大家复习</a:t>
            </a:r>
            <a:r>
              <a:rPr lang="en-US" altLang="zh-CN"/>
              <a:t> </a:t>
            </a:r>
            <a:r>
              <a:rPr lang="zh-CN" altLang="en-US"/>
              <a:t>图的存储</a:t>
            </a:r>
            <a:r>
              <a:rPr lang="en-US" altLang="zh-CN"/>
              <a:t> </a:t>
            </a:r>
            <a:r>
              <a:rPr lang="zh-CN" altLang="en-US"/>
              <a:t>相关知识</a:t>
            </a:r>
            <a:r>
              <a:rPr lang="en-US" altLang="zh-CN"/>
              <a:t>---</a:t>
            </a:r>
            <a:r>
              <a:rPr lang="zh-CN" altLang="en-US"/>
              <a:t>邻接表</a:t>
            </a:r>
            <a:r>
              <a:rPr lang="zh-CN" altLang="en-US"/>
              <a:t>存图</a:t>
            </a:r>
            <a:endParaRPr lang="zh-CN" altLang="en-US"/>
          </a:p>
        </p:txBody>
      </p:sp>
    </p:spTree>
  </p:cSld>
  <p:clrMapOvr>
    <a:masterClrMapping/>
  </p:clrMapOvr>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COMMONDATA" val="eyJoZGlkIjoiMjNhN2QzNzIxYTMxZDA2OTMyYTljMDA5MmRhYmMwNjc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1006</Words>
  <Application>WPS 演示</Application>
  <PresentationFormat>宽屏</PresentationFormat>
  <Paragraphs>46</Paragraphs>
  <Slides>9</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9</vt:i4>
      </vt:variant>
    </vt:vector>
  </HeadingPairs>
  <TitlesOfParts>
    <vt:vector size="21" baseType="lpstr">
      <vt:lpstr>Arial</vt:lpstr>
      <vt:lpstr>宋体</vt:lpstr>
      <vt:lpstr>Wingdings</vt:lpstr>
      <vt:lpstr>微软雅黑</vt:lpstr>
      <vt:lpstr>汉仪旗黑</vt:lpstr>
      <vt:lpstr>Calibri</vt:lpstr>
      <vt:lpstr>Helvetica Neue</vt:lpstr>
      <vt:lpstr>微软雅黑</vt:lpstr>
      <vt:lpstr>宋体</vt:lpstr>
      <vt:lpstr>Arial Unicode MS</vt:lpstr>
      <vt:lpstr>汉仪书宋二KW</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pipi</cp:lastModifiedBy>
  <cp:revision>20</cp:revision>
  <dcterms:created xsi:type="dcterms:W3CDTF">2025-04-01T13:45:52Z</dcterms:created>
  <dcterms:modified xsi:type="dcterms:W3CDTF">2025-04-01T13:45:52Z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39D95B3D507C44309E7C251695CCA2D4_12</vt:lpwstr>
  </property>
  <property fmtid="{D5CDD505-2E9C-101B-9397-08002B2CF9AE}" pid="3" name="KSOProductBuildVer">
    <vt:lpwstr>2052-6.15.2.8936</vt:lpwstr>
  </property>
</Properties>
</file>