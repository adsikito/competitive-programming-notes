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8" r:id="rId4"/>
    <p:sldId id="260" r:id="rId5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7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代码</a:t>
            </a:r>
            <a:r>
              <a:rPr lang="zh-CN" altLang="en-US"/>
              <a:t>参考：https://leetcode.cn/problems/hanota-lcci/solutions/1442294/by-algo-goer-xy6f/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代码</a:t>
            </a:r>
            <a:r>
              <a:rPr lang="zh-CN" altLang="en-US"/>
              <a:t>参考：https://leetcode.cn/problems/hanota-lcci/solutions/1442294/by-algo-goer-xy6f/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https://leetcode.cn/problems/maximum-subarray/solutions/42428/zui-da-zi-xu-he-cshi-xian-si-chong-jie-fa-bao-li-f/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4.png"/><Relationship Id="rId7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tags" Target="../tags/tag3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5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362710" y="970915"/>
            <a:ext cx="9719310" cy="4483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递归（英语：Recursion），在数学和计算机科学中是指</a:t>
            </a:r>
            <a:r>
              <a:rPr lang="zh-CN" altLang="en-US">
                <a:solidFill>
                  <a:srgbClr val="FF0000"/>
                </a:solidFill>
              </a:rPr>
              <a:t>在函数的定义中使用函数自身</a:t>
            </a:r>
            <a:r>
              <a:rPr lang="zh-CN" altLang="en-US"/>
              <a:t>的方法，在计算机科学中还额外指一种</a:t>
            </a:r>
            <a:r>
              <a:rPr lang="zh-CN" altLang="en-US">
                <a:solidFill>
                  <a:srgbClr val="FF0000"/>
                </a:solidFill>
              </a:rPr>
              <a:t>通过重复将问题分解为同类的子问题而解决问题</a:t>
            </a:r>
            <a:r>
              <a:rPr lang="zh-CN" altLang="en-US"/>
              <a:t>的方法。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递归出口</a:t>
            </a:r>
            <a:r>
              <a:rPr lang="en-US" altLang="zh-CN"/>
              <a:t>（</a:t>
            </a:r>
            <a:r>
              <a:rPr lang="zh-CN" altLang="en-US"/>
              <a:t>边界条件</a:t>
            </a:r>
            <a:r>
              <a:rPr lang="en-US" altLang="zh-CN"/>
              <a:t>）:</a:t>
            </a:r>
            <a:r>
              <a:rPr lang="zh-CN" altLang="en-US"/>
              <a:t>找全递归终止</a:t>
            </a:r>
            <a:r>
              <a:rPr lang="zh-CN" altLang="en-US"/>
              <a:t>条件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递归代码的理解</a:t>
            </a:r>
            <a:r>
              <a:rPr lang="en-US" altLang="zh-CN"/>
              <a:t>：</a:t>
            </a:r>
            <a:r>
              <a:rPr lang="zh-CN" altLang="en-US"/>
              <a:t>画递归调用图</a:t>
            </a:r>
            <a:r>
              <a:rPr lang="en-US" altLang="zh-CN"/>
              <a:t>/</a:t>
            </a:r>
            <a:r>
              <a:rPr lang="zh-CN" altLang="en-US"/>
              <a:t>递归</a:t>
            </a:r>
            <a:r>
              <a:rPr lang="zh-CN" altLang="en-US"/>
              <a:t>树</a:t>
            </a:r>
            <a:endParaRPr lang="zh-CN" altLang="en-US"/>
          </a:p>
          <a:p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8841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https://leetcode.cn/problems/hanota-lcci/</a:t>
            </a:r>
            <a:endParaRPr lang="zh-CN" altLang="en-US"/>
          </a:p>
          <a:p>
            <a:r>
              <a:rPr lang="zh-CN" altLang="en-US"/>
              <a:t>注：原题要求用栈，我们改为用递归</a:t>
            </a:r>
            <a:r>
              <a:rPr lang="zh-CN" altLang="en-US"/>
              <a:t>实现。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77781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思路：</a:t>
            </a:r>
            <a:endParaRPr lang="zh-CN" altLang="en-US"/>
          </a:p>
          <a:p>
            <a:r>
              <a:rPr lang="zh-CN" altLang="en-US"/>
              <a:t>简化问题：</a:t>
            </a:r>
            <a:r>
              <a:rPr lang="zh-CN" altLang="en-US">
                <a:sym typeface="+mn-ea"/>
              </a:rPr>
              <a:t>把</a:t>
            </a:r>
            <a:r>
              <a:rPr lang="en-US" altLang="zh-CN">
                <a:sym typeface="+mn-ea"/>
              </a:rPr>
              <a:t>n</a:t>
            </a:r>
            <a:r>
              <a:rPr lang="zh-CN" altLang="en-US">
                <a:sym typeface="+mn-ea"/>
              </a:rPr>
              <a:t>个盘子从</a:t>
            </a:r>
            <a:r>
              <a:rPr lang="en-US" altLang="zh-CN">
                <a:sym typeface="+mn-ea"/>
              </a:rPr>
              <a:t>A</a:t>
            </a:r>
            <a:r>
              <a:rPr lang="zh-CN" altLang="en-US">
                <a:sym typeface="+mn-ea"/>
              </a:rPr>
              <a:t>移动到</a:t>
            </a:r>
            <a:r>
              <a:rPr lang="en-US" altLang="zh-CN">
                <a:sym typeface="+mn-ea"/>
              </a:rPr>
              <a:t>C</a:t>
            </a:r>
            <a:r>
              <a:rPr lang="zh-CN" altLang="en-US">
                <a:sym typeface="+mn-ea"/>
              </a:rPr>
              <a:t>，可以用</a:t>
            </a:r>
            <a:r>
              <a:rPr lang="en-US" altLang="zh-CN">
                <a:sym typeface="+mn-ea"/>
              </a:rPr>
              <a:t>B</a:t>
            </a:r>
            <a:r>
              <a:rPr lang="zh-CN" altLang="en-US">
                <a:sym typeface="+mn-ea"/>
              </a:rPr>
              <a:t>当媒介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https://leetcode.cn/problems/hanota-lcci/</a:t>
            </a:r>
            <a:endParaRPr lang="zh-CN" altLang="en-US"/>
          </a:p>
          <a:p>
            <a:r>
              <a:rPr lang="zh-CN" altLang="en-US"/>
              <a:t>注：原题要求用栈，我们改为用递归</a:t>
            </a:r>
            <a:r>
              <a:rPr lang="zh-CN" altLang="en-US"/>
              <a:t>实现。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8863330" cy="4664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endParaRPr lang="zh-CN" altLang="en-US"/>
          </a:p>
          <a:p>
            <a:r>
              <a:rPr lang="zh-CN" altLang="en-US"/>
              <a:t>先分析简单</a:t>
            </a:r>
            <a:r>
              <a:rPr lang="zh-CN" altLang="en-US"/>
              <a:t>情况：</a:t>
            </a:r>
            <a:endParaRPr lang="zh-CN" altLang="en-US"/>
          </a:p>
          <a:p>
            <a:r>
              <a:rPr lang="zh-CN" altLang="en-US"/>
              <a:t>一</a:t>
            </a:r>
            <a:r>
              <a:rPr lang="en-US" altLang="zh-CN"/>
              <a:t>.n=1 </a:t>
            </a:r>
            <a:r>
              <a:rPr lang="zh-CN" altLang="en-US"/>
              <a:t>时：直接将这个盘子从</a:t>
            </a:r>
            <a:r>
              <a:rPr lang="en-US" altLang="zh-CN"/>
              <a:t>A</a:t>
            </a:r>
            <a:r>
              <a:rPr lang="zh-CN" altLang="en-US"/>
              <a:t>拿出，放到</a:t>
            </a:r>
            <a:r>
              <a:rPr lang="en-US" altLang="zh-CN"/>
              <a:t>C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二</a:t>
            </a:r>
            <a:r>
              <a:rPr lang="en-US" altLang="zh-CN"/>
              <a:t>.</a:t>
            </a:r>
            <a:r>
              <a:rPr lang="en-US" altLang="zh-CN">
                <a:sym typeface="+mn-ea"/>
              </a:rPr>
              <a:t>n=2 </a:t>
            </a:r>
            <a:r>
              <a:rPr lang="zh-CN" altLang="en-US">
                <a:sym typeface="+mn-ea"/>
              </a:rPr>
              <a:t>时：假设上面的盘子是甲，下面的盘子是</a:t>
            </a:r>
            <a:r>
              <a:rPr lang="zh-CN" altLang="en-US">
                <a:sym typeface="+mn-ea"/>
              </a:rPr>
              <a:t>乙。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112000" y="189230"/>
            <a:ext cx="4305300" cy="20859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73505" y="3023870"/>
            <a:ext cx="3707130" cy="14065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825490" y="4821555"/>
            <a:ext cx="4821555" cy="18040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538470" y="2885440"/>
            <a:ext cx="3852545" cy="15265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132205" y="5074920"/>
            <a:ext cx="3608705" cy="13735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https://leetcode.cn/problems/hanota-lcci/</a:t>
            </a:r>
            <a:endParaRPr lang="zh-CN" altLang="en-US"/>
          </a:p>
          <a:p>
            <a:r>
              <a:rPr lang="zh-CN" altLang="en-US"/>
              <a:t>注：原题要求用栈，我们改为用递归</a:t>
            </a:r>
            <a:r>
              <a:rPr lang="zh-CN" altLang="en-US"/>
              <a:t>实现。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10195560" cy="5556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endParaRPr lang="zh-CN" altLang="en-US"/>
          </a:p>
          <a:p>
            <a:r>
              <a:rPr lang="zh-CN" altLang="en-US"/>
              <a:t>先分析简单</a:t>
            </a:r>
            <a:r>
              <a:rPr lang="zh-CN" altLang="en-US"/>
              <a:t>情况：</a:t>
            </a:r>
            <a:endParaRPr lang="zh-CN" altLang="en-US"/>
          </a:p>
          <a:p>
            <a:r>
              <a:rPr lang="zh-CN" altLang="en-US"/>
              <a:t>一</a:t>
            </a:r>
            <a:r>
              <a:rPr lang="en-US" altLang="zh-CN"/>
              <a:t>.n=1 </a:t>
            </a:r>
            <a:r>
              <a:rPr lang="zh-CN" altLang="en-US"/>
              <a:t>时：直接将这个盘子从</a:t>
            </a:r>
            <a:r>
              <a:rPr lang="en-US" altLang="zh-CN"/>
              <a:t>A</a:t>
            </a:r>
            <a:r>
              <a:rPr lang="zh-CN" altLang="en-US"/>
              <a:t>拿出，放到</a:t>
            </a:r>
            <a:r>
              <a:rPr lang="en-US" altLang="zh-CN"/>
              <a:t>C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二</a:t>
            </a:r>
            <a:r>
              <a:rPr lang="en-US" altLang="zh-CN"/>
              <a:t>.</a:t>
            </a:r>
            <a:r>
              <a:rPr lang="en-US" altLang="zh-CN">
                <a:sym typeface="+mn-ea"/>
              </a:rPr>
              <a:t>n=2 </a:t>
            </a:r>
            <a:r>
              <a:rPr lang="zh-CN" altLang="en-US">
                <a:sym typeface="+mn-ea"/>
              </a:rPr>
              <a:t>时：假设上面的盘子是甲，下面的盘子是</a:t>
            </a:r>
            <a:r>
              <a:rPr lang="zh-CN" altLang="en-US">
                <a:sym typeface="+mn-ea"/>
              </a:rPr>
              <a:t>乙。</a:t>
            </a:r>
            <a:endParaRPr lang="zh-CN" altLang="en-US">
              <a:sym typeface="+mn-ea"/>
            </a:endParaRPr>
          </a:p>
          <a:p>
            <a:r>
              <a:rPr lang="zh-CN" altLang="en-US"/>
              <a:t>甲：</a:t>
            </a:r>
            <a:r>
              <a:rPr lang="en-US" altLang="zh-CN"/>
              <a:t>A-&gt;B   </a:t>
            </a:r>
            <a:r>
              <a:rPr lang="zh-CN" altLang="en-US"/>
              <a:t>乙：</a:t>
            </a:r>
            <a:r>
              <a:rPr lang="en-US" altLang="zh-CN"/>
              <a:t>A-&gt;C </a:t>
            </a:r>
            <a:r>
              <a:rPr lang="zh-CN" altLang="en-US"/>
              <a:t>甲：</a:t>
            </a:r>
            <a:r>
              <a:rPr lang="en-US" altLang="zh-CN"/>
              <a:t>B-&gt;C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三</a:t>
            </a:r>
            <a:r>
              <a:rPr lang="en-US" altLang="zh-CN"/>
              <a:t>.n</a:t>
            </a:r>
            <a:r>
              <a:rPr lang="zh-CN" altLang="en-US"/>
              <a:t>时</a:t>
            </a:r>
            <a:r>
              <a:rPr lang="en-US" altLang="zh-CN"/>
              <a:t> :</a:t>
            </a:r>
            <a:r>
              <a:rPr lang="zh-CN" altLang="en-US"/>
              <a:t>可以把上面</a:t>
            </a:r>
            <a:r>
              <a:rPr lang="en-US" altLang="zh-CN"/>
              <a:t>n-1</a:t>
            </a:r>
            <a:r>
              <a:rPr lang="zh-CN" altLang="en-US"/>
              <a:t>个盘子看出一个整体（一个盘子）甲，下面的第</a:t>
            </a:r>
            <a:r>
              <a:rPr lang="en-US" altLang="zh-CN"/>
              <a:t>n</a:t>
            </a:r>
            <a:r>
              <a:rPr lang="zh-CN" altLang="en-US"/>
              <a:t>个盘子是</a:t>
            </a:r>
            <a:r>
              <a:rPr lang="zh-CN" altLang="en-US"/>
              <a:t>乙。</a:t>
            </a:r>
            <a:endParaRPr lang="zh-CN" altLang="en-US"/>
          </a:p>
          <a:p>
            <a:r>
              <a:rPr lang="zh-CN" altLang="en-US">
                <a:sym typeface="+mn-ea"/>
              </a:rPr>
              <a:t>甲：</a:t>
            </a:r>
            <a:r>
              <a:rPr lang="en-US" altLang="zh-CN">
                <a:sym typeface="+mn-ea"/>
              </a:rPr>
              <a:t>A-&gt;B   </a:t>
            </a:r>
            <a:r>
              <a:rPr lang="zh-CN" altLang="en-US">
                <a:sym typeface="+mn-ea"/>
              </a:rPr>
              <a:t>乙：</a:t>
            </a:r>
            <a:r>
              <a:rPr lang="en-US" altLang="zh-CN">
                <a:sym typeface="+mn-ea"/>
              </a:rPr>
              <a:t>A-&gt;C </a:t>
            </a:r>
            <a:r>
              <a:rPr lang="zh-CN" altLang="en-US">
                <a:sym typeface="+mn-ea"/>
              </a:rPr>
              <a:t>甲：</a:t>
            </a:r>
            <a:r>
              <a:rPr lang="en-US" altLang="zh-CN">
                <a:sym typeface="+mn-ea"/>
              </a:rPr>
              <a:t>B-&gt;C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此时：</a:t>
            </a:r>
            <a:r>
              <a:rPr lang="zh-CN" altLang="en-US">
                <a:sym typeface="+mn-ea"/>
              </a:rPr>
              <a:t>甲：</a:t>
            </a:r>
            <a:r>
              <a:rPr lang="en-US" altLang="zh-CN">
                <a:sym typeface="+mn-ea"/>
              </a:rPr>
              <a:t>A-&gt;B </a:t>
            </a:r>
            <a:r>
              <a:rPr lang="zh-CN" altLang="en-US">
                <a:sym typeface="+mn-ea"/>
              </a:rPr>
              <a:t>这个就是一个小问题，把</a:t>
            </a:r>
            <a:r>
              <a:rPr lang="en-US" altLang="zh-CN">
                <a:sym typeface="+mn-ea"/>
              </a:rPr>
              <a:t>n-1</a:t>
            </a:r>
            <a:r>
              <a:rPr lang="zh-CN" altLang="en-US">
                <a:sym typeface="+mn-ea"/>
              </a:rPr>
              <a:t>个盘子从</a:t>
            </a:r>
            <a:r>
              <a:rPr lang="en-US" altLang="zh-CN">
                <a:sym typeface="+mn-ea"/>
              </a:rPr>
              <a:t>A</a:t>
            </a:r>
            <a:r>
              <a:rPr lang="zh-CN" altLang="en-US">
                <a:sym typeface="+mn-ea"/>
              </a:rPr>
              <a:t>移动到</a:t>
            </a:r>
            <a:r>
              <a:rPr lang="en-US" altLang="zh-CN">
                <a:sym typeface="+mn-ea"/>
              </a:rPr>
              <a:t>B</a:t>
            </a:r>
            <a:r>
              <a:rPr lang="zh-CN" altLang="en-US">
                <a:sym typeface="+mn-ea"/>
              </a:rPr>
              <a:t>，可以用</a:t>
            </a:r>
            <a:r>
              <a:rPr lang="en-US" altLang="zh-CN">
                <a:sym typeface="+mn-ea"/>
              </a:rPr>
              <a:t>C</a:t>
            </a:r>
            <a:r>
              <a:rPr lang="zh-CN" altLang="en-US">
                <a:sym typeface="+mn-ea"/>
              </a:rPr>
              <a:t>当媒介</a:t>
            </a:r>
            <a:r>
              <a:rPr lang="en-US" altLang="zh-CN">
                <a:sym typeface="+mn-ea"/>
              </a:rPr>
              <a:t>---</a:t>
            </a:r>
            <a:r>
              <a:rPr lang="zh-CN" altLang="en-US">
                <a:sym typeface="+mn-ea"/>
              </a:rPr>
              <a:t>递归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            </a:t>
            </a:r>
            <a:r>
              <a:rPr lang="zh-CN" altLang="en-US">
                <a:sym typeface="+mn-ea"/>
              </a:rPr>
              <a:t>甲：</a:t>
            </a:r>
            <a:r>
              <a:rPr lang="en-US" altLang="zh-CN">
                <a:sym typeface="+mn-ea"/>
              </a:rPr>
              <a:t>B-&gt;C </a:t>
            </a:r>
            <a:r>
              <a:rPr lang="zh-CN" altLang="en-US">
                <a:sym typeface="+mn-ea"/>
              </a:rPr>
              <a:t>这个也是一个小问题，把</a:t>
            </a:r>
            <a:r>
              <a:rPr lang="en-US" altLang="zh-CN">
                <a:sym typeface="+mn-ea"/>
              </a:rPr>
              <a:t>n-1</a:t>
            </a:r>
            <a:r>
              <a:rPr lang="zh-CN" altLang="en-US">
                <a:sym typeface="+mn-ea"/>
              </a:rPr>
              <a:t>个盘子从</a:t>
            </a:r>
            <a:r>
              <a:rPr lang="en-US" altLang="zh-CN">
                <a:sym typeface="+mn-ea"/>
              </a:rPr>
              <a:t>B</a:t>
            </a:r>
            <a:r>
              <a:rPr lang="zh-CN" altLang="en-US">
                <a:sym typeface="+mn-ea"/>
              </a:rPr>
              <a:t>移动到</a:t>
            </a:r>
            <a:r>
              <a:rPr lang="en-US" altLang="zh-CN">
                <a:sym typeface="+mn-ea"/>
              </a:rPr>
              <a:t>C</a:t>
            </a:r>
            <a:r>
              <a:rPr lang="zh-CN" altLang="en-US">
                <a:sym typeface="+mn-ea"/>
              </a:rPr>
              <a:t>，可以用</a:t>
            </a:r>
            <a:r>
              <a:rPr lang="en-US" altLang="zh-CN">
                <a:sym typeface="+mn-ea"/>
              </a:rPr>
              <a:t>A</a:t>
            </a:r>
            <a:r>
              <a:rPr lang="zh-CN" altLang="en-US">
                <a:sym typeface="+mn-ea"/>
              </a:rPr>
              <a:t>当媒介</a:t>
            </a:r>
            <a:r>
              <a:rPr lang="en-US" altLang="zh-CN">
                <a:sym typeface="+mn-ea"/>
              </a:rPr>
              <a:t>---</a:t>
            </a:r>
            <a:r>
              <a:rPr lang="zh-CN" altLang="en-US">
                <a:sym typeface="+mn-ea"/>
              </a:rPr>
              <a:t>递归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112000" y="189230"/>
            <a:ext cx="4305300" cy="208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406525" y="1793240"/>
            <a:ext cx="9379585" cy="2458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分治（英语：Divide and Conquer），字面上的解释是「分而治之」，就是把一个</a:t>
            </a:r>
            <a:r>
              <a:rPr lang="zh-CN" altLang="en-US">
                <a:solidFill>
                  <a:srgbClr val="FF0000"/>
                </a:solidFill>
              </a:rPr>
              <a:t>复杂的问题分成两个或更多的相同或</a:t>
            </a:r>
            <a:r>
              <a:rPr lang="zh-CN" altLang="en-US">
                <a:solidFill>
                  <a:srgbClr val="FF0000"/>
                </a:solidFill>
              </a:rPr>
              <a:t>不相同的子问题</a:t>
            </a:r>
            <a:r>
              <a:rPr lang="zh-CN" altLang="en-US"/>
              <a:t>，子问题</a:t>
            </a:r>
            <a:r>
              <a:rPr lang="zh-CN" altLang="en-US"/>
              <a:t>相互独立，直到最后子问题可以简单的直接求解，</a:t>
            </a:r>
            <a:r>
              <a:rPr lang="zh-CN" altLang="en-US">
                <a:solidFill>
                  <a:srgbClr val="FF0000"/>
                </a:solidFill>
              </a:rPr>
              <a:t>原问题的解即子问题的解的合并</a:t>
            </a:r>
            <a:r>
              <a:rPr lang="zh-CN" altLang="en-US"/>
              <a:t>。</a:t>
            </a:r>
            <a:r>
              <a:rPr lang="en-US" altLang="zh-CN"/>
              <a:t>------</a:t>
            </a:r>
            <a:r>
              <a:rPr lang="zh-CN" altLang="en-US"/>
              <a:t>最优子结构</a:t>
            </a:r>
            <a:r>
              <a:rPr lang="zh-CN" altLang="en-US"/>
              <a:t>性质。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递归是一种编程技巧，一种解决问题的思维方式；分治算法很大程度上是基于递归的，解决更具体问题的算法思想。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https://leetcode.cn/problems/maximum-subarray/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77781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思路：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https://leetcode.cn/problems/maximum-subarray/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023620"/>
            <a:ext cx="10441305" cy="5645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暴力：枚举起点和终点，计算区间内的和，取</a:t>
            </a:r>
            <a:r>
              <a:rPr lang="zh-CN" altLang="en-US"/>
              <a:t>最大值。时间复杂度：</a:t>
            </a:r>
            <a:r>
              <a:rPr lang="en-US" altLang="zh-CN"/>
              <a:t>O(n^2)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2.</a:t>
            </a:r>
            <a:r>
              <a:rPr lang="zh-CN" altLang="en-US"/>
              <a:t>分治：</a:t>
            </a:r>
            <a:r>
              <a:rPr lang="zh-CN" altLang="en-US">
                <a:sym typeface="+mn-ea"/>
              </a:rPr>
              <a:t>时间复杂度：</a:t>
            </a:r>
            <a:r>
              <a:rPr lang="en-US" altLang="zh-CN">
                <a:sym typeface="+mn-ea"/>
              </a:rPr>
              <a:t>O(nlogn)</a:t>
            </a:r>
            <a:endParaRPr lang="en-US" altLang="zh-CN">
              <a:sym typeface="+mn-ea"/>
            </a:endParaRPr>
          </a:p>
          <a:p>
            <a:endParaRPr lang="zh-CN" altLang="en-US"/>
          </a:p>
          <a:p>
            <a:r>
              <a:rPr lang="zh-CN" altLang="en-US"/>
              <a:t>取中心点</a:t>
            </a:r>
            <a:r>
              <a:rPr lang="en-US" altLang="zh-CN"/>
              <a:t>m=(l+r)/2</a:t>
            </a:r>
            <a:r>
              <a:rPr lang="zh-CN" altLang="en-US"/>
              <a:t>。</a:t>
            </a:r>
            <a:r>
              <a:rPr lang="en-US" altLang="zh-CN"/>
              <a:t> </a:t>
            </a:r>
            <a:r>
              <a:rPr lang="zh-CN" altLang="en-US"/>
              <a:t>和最大的区间要么出现在中心点左边，要么出现在中心点右边，要么横跨中心点。所以问题分解为求这三部分的最大区间和，然后取最大值。</a:t>
            </a:r>
            <a:r>
              <a:rPr lang="en-US" altLang="zh-CN"/>
              <a:t>----</a:t>
            </a:r>
            <a:r>
              <a:rPr lang="zh-CN" altLang="en-US"/>
              <a:t>分成</a:t>
            </a:r>
            <a:r>
              <a:rPr lang="en-US" altLang="zh-CN"/>
              <a:t>3</a:t>
            </a:r>
            <a:r>
              <a:rPr lang="zh-CN" altLang="en-US"/>
              <a:t>个独立的小问题，</a:t>
            </a:r>
            <a:r>
              <a:rPr lang="zh-CN" altLang="en-US"/>
              <a:t>分治。</a:t>
            </a:r>
            <a:endParaRPr lang="zh-CN" altLang="en-US"/>
          </a:p>
          <a:p>
            <a:r>
              <a:rPr lang="en-US" altLang="zh-CN"/>
              <a:t>(1) </a:t>
            </a:r>
            <a:r>
              <a:rPr lang="zh-CN" altLang="en-US">
                <a:sym typeface="+mn-ea"/>
              </a:rPr>
              <a:t>中心点左边的最大区间和：和原问题相同，递归。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(2) </a:t>
            </a:r>
            <a:r>
              <a:rPr lang="zh-CN" altLang="en-US">
                <a:sym typeface="+mn-ea"/>
              </a:rPr>
              <a:t>中心点</a:t>
            </a:r>
            <a:r>
              <a:rPr lang="zh-CN" altLang="en-US">
                <a:sym typeface="+mn-ea"/>
              </a:rPr>
              <a:t>右边的最大区间和：和原问题相同，递归。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(3)</a:t>
            </a:r>
            <a:r>
              <a:rPr lang="zh-CN" altLang="en-US">
                <a:sym typeface="+mn-ea"/>
              </a:rPr>
              <a:t>横跨中心点的</a:t>
            </a:r>
            <a:r>
              <a:rPr lang="zh-CN" altLang="en-US">
                <a:sym typeface="+mn-ea"/>
              </a:rPr>
              <a:t>最大区间和：贪心求解</a:t>
            </a:r>
            <a:r>
              <a:rPr lang="en-US" altLang="zh-CN">
                <a:sym typeface="+mn-ea"/>
              </a:rPr>
              <a:t>---</a:t>
            </a:r>
            <a:r>
              <a:rPr lang="zh-CN" altLang="en-US">
                <a:sym typeface="+mn-ea"/>
              </a:rPr>
              <a:t>从中心点往左右两边</a:t>
            </a:r>
            <a:r>
              <a:rPr lang="zh-CN" altLang="en-US">
                <a:sym typeface="+mn-ea"/>
              </a:rPr>
              <a:t>延申。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     </a:t>
            </a:r>
            <a:r>
              <a:rPr lang="zh-CN" altLang="en-US">
                <a:sym typeface="+mn-ea"/>
              </a:rPr>
              <a:t>从中心点不断往左延申，同时记录最大值</a:t>
            </a:r>
            <a:r>
              <a:rPr lang="en-US" altLang="zh-CN">
                <a:sym typeface="+mn-ea"/>
              </a:rPr>
              <a:t>lmax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   </a:t>
            </a:r>
            <a:r>
              <a:rPr lang="zh-CN" altLang="en-US">
                <a:sym typeface="+mn-ea"/>
              </a:rPr>
              <a:t>从中心点不断往右延申，同时记录最大值</a:t>
            </a:r>
            <a:r>
              <a:rPr lang="en-US" altLang="zh-CN">
                <a:sym typeface="+mn-ea"/>
              </a:rPr>
              <a:t>rmax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   </a:t>
            </a:r>
            <a:r>
              <a:rPr lang="zh-CN" altLang="en-US">
                <a:sym typeface="+mn-ea"/>
              </a:rPr>
              <a:t>横跨中心点的最大区间和：</a:t>
            </a:r>
            <a:r>
              <a:rPr lang="en-US" altLang="zh-CN">
                <a:sym typeface="+mn-ea"/>
              </a:rPr>
              <a:t>lmax+rmax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3.</a:t>
            </a:r>
            <a:r>
              <a:rPr lang="zh-CN" altLang="en-US">
                <a:sym typeface="+mn-ea"/>
              </a:rPr>
              <a:t>动态规划：线性动态规划。时间复杂度</a:t>
            </a:r>
            <a:r>
              <a:rPr lang="en-US" altLang="zh-CN">
                <a:sym typeface="+mn-ea"/>
              </a:rPr>
              <a:t> O(n)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状态：</a:t>
            </a:r>
            <a:r>
              <a:rPr lang="en-US" altLang="zh-CN">
                <a:sym typeface="+mn-ea"/>
              </a:rPr>
              <a:t>dp[i]=x  </a:t>
            </a:r>
            <a:r>
              <a:rPr lang="zh-CN" altLang="en-US">
                <a:sym typeface="+mn-ea"/>
              </a:rPr>
              <a:t>以第</a:t>
            </a:r>
            <a:r>
              <a:rPr lang="en-US" altLang="zh-CN">
                <a:sym typeface="+mn-ea"/>
              </a:rPr>
              <a:t>i</a:t>
            </a:r>
            <a:r>
              <a:rPr lang="zh-CN" altLang="en-US">
                <a:sym typeface="+mn-ea"/>
              </a:rPr>
              <a:t>个元素结尾的和最大</a:t>
            </a:r>
            <a:r>
              <a:rPr lang="zh-CN" altLang="en-US">
                <a:sym typeface="+mn-ea"/>
              </a:rPr>
              <a:t>的区间，最大和是</a:t>
            </a:r>
            <a:r>
              <a:rPr lang="en-US" altLang="zh-CN">
                <a:sym typeface="+mn-ea"/>
              </a:rPr>
              <a:t> x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  </a:t>
            </a:r>
            <a:r>
              <a:rPr lang="zh-CN" altLang="en-US">
                <a:sym typeface="+mn-ea"/>
              </a:rPr>
              <a:t>初始状态：</a:t>
            </a:r>
            <a:r>
              <a:rPr lang="en-US" altLang="zh-CN">
                <a:sym typeface="+mn-ea"/>
              </a:rPr>
              <a:t>dp[0]=</a:t>
            </a:r>
            <a:r>
              <a:rPr lang="en-US" altLang="zh-CN">
                <a:sym typeface="+mn-ea"/>
              </a:rPr>
              <a:t>nums[0]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  </a:t>
            </a:r>
            <a:r>
              <a:rPr lang="zh-CN" altLang="en-US">
                <a:sym typeface="+mn-ea"/>
              </a:rPr>
              <a:t>转移方程：</a:t>
            </a:r>
            <a:r>
              <a:rPr lang="en-US" altLang="zh-CN">
                <a:sym typeface="+mn-ea"/>
              </a:rPr>
              <a:t>dp[i]=max(dp[i-1]+nums[i],nums[i])</a:t>
            </a:r>
            <a:endParaRPr lang="en-US" altLang="zh-CN">
              <a:sym typeface="+mn-ea"/>
            </a:endParaRPr>
          </a:p>
          <a:p>
            <a:r>
              <a:rPr lang="en-US" altLang="zh-CN"/>
              <a:t>   </a:t>
            </a:r>
            <a:r>
              <a:rPr lang="zh-CN" altLang="en-US"/>
              <a:t>最终答案：</a:t>
            </a:r>
            <a:r>
              <a:rPr lang="en-US" altLang="zh-CN"/>
              <a:t>max(dp[i])</a:t>
            </a:r>
            <a:endParaRPr lang="en-US" altLang="zh-CN"/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  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221105" y="1301750"/>
            <a:ext cx="77781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下节课课上例题</a:t>
            </a:r>
            <a:r>
              <a:rPr lang="en-US" altLang="zh-CN"/>
              <a:t>：</a:t>
            </a:r>
            <a:endParaRPr lang="en-US" altLang="zh-CN"/>
          </a:p>
          <a:p>
            <a:r>
              <a:rPr lang="zh-CN" altLang="en-US"/>
              <a:t>力扣</a:t>
            </a:r>
            <a:r>
              <a:rPr lang="en-US" altLang="zh-CN"/>
              <a:t> 206</a:t>
            </a:r>
            <a:endParaRPr lang="en-US" altLang="zh-CN"/>
          </a:p>
          <a:p>
            <a:r>
              <a:rPr lang="zh-CN" altLang="en-US"/>
              <a:t>力扣</a:t>
            </a:r>
            <a:r>
              <a:rPr lang="en-US" altLang="zh-CN"/>
              <a:t> LCR140</a:t>
            </a: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COMMONDATA" val="eyJoZGlkIjoiMjNhN2QzNzIxYTMxZDA2OTMyYTljMDA5MmRhYmMwNjcifQ=="/>
  <p:tag name="KSO_WPP_MARK_KEY" val="e53cc92a-71a0-457a-ad16-9bf21e355e2b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1394</Words>
  <Application>WPS 演示</Application>
  <PresentationFormat>宽屏</PresentationFormat>
  <Paragraphs>83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汉仪旗黑</vt:lpstr>
      <vt:lpstr>Calibri</vt:lpstr>
      <vt:lpstr>Helvetica Neue</vt:lpstr>
      <vt:lpstr>微软雅黑</vt:lpstr>
      <vt:lpstr>宋体</vt:lpstr>
      <vt:lpstr>Arial Unicode MS</vt:lpstr>
      <vt:lpstr>汉仪书宋二KW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喵~</cp:lastModifiedBy>
  <cp:revision>14</cp:revision>
  <dcterms:created xsi:type="dcterms:W3CDTF">2025-03-13T14:14:50Z</dcterms:created>
  <dcterms:modified xsi:type="dcterms:W3CDTF">2025-03-13T14:14:50Z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0E3DF2355A234629A290BE666E1E90C8_12</vt:lpwstr>
  </property>
  <property fmtid="{D5CDD505-2E9C-101B-9397-08002B2CF9AE}" pid="3" name="KSOProductBuildVer">
    <vt:lpwstr>2052-6.15.2.8936</vt:lpwstr>
  </property>
</Properties>
</file>