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57" r:id="rId3"/>
    <p:sldId id="442" r:id="rId4"/>
    <p:sldId id="431" r:id="rId5"/>
    <p:sldId id="443" r:id="rId6"/>
    <p:sldId id="444" r:id="rId7"/>
    <p:sldId id="445" r:id="rId8"/>
    <p:sldId id="433" r:id="rId9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6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3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https://blog.csdn.net/qq_43478694/article/details/125702075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tags" Target="../tags/tag6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tags" Target="../tags/tag13.xml"/><Relationship Id="rId3" Type="http://schemas.openxmlformats.org/officeDocument/2006/relationships/image" Target="../media/image5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先看一个</a:t>
            </a:r>
            <a:r>
              <a:rPr lang="zh-CN" altLang="en-US" strike="sngStrike">
                <a:solidFill>
                  <a:schemeClr val="tx1"/>
                </a:solidFill>
                <a:sym typeface="+mn-ea"/>
              </a:rPr>
              <a:t>非常简单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的题目：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https://www.luogu.com.cn/problem/P3372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思路：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先看一个</a:t>
            </a:r>
            <a:r>
              <a:rPr lang="zh-CN" altLang="en-US" strike="sngStrike">
                <a:solidFill>
                  <a:schemeClr val="tx1"/>
                </a:solidFill>
                <a:sym typeface="+mn-ea"/>
              </a:rPr>
              <a:t>非常简单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的题目：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https://www.luogu.com.cn/problem/P3372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思路：暴力，时间复杂度</a:t>
            </a:r>
            <a:r>
              <a:rPr lang="en-US" altLang="zh-CN">
                <a:sym typeface="+mn-ea"/>
              </a:rPr>
              <a:t>O(n^2)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TLE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怎么优化呢？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14700" y="2399030"/>
            <a:ext cx="278130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44245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线段树：一棵由线段组成的树（bushi）。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this is a </a:t>
            </a:r>
            <a:r>
              <a:rPr lang="zh-CN" altLang="en-US">
                <a:sym typeface="+mn-ea"/>
              </a:rPr>
              <a:t>二叉树</a:t>
            </a:r>
            <a:r>
              <a:rPr lang="en-US" altLang="zh-CN">
                <a:sym typeface="+mn-ea"/>
              </a:rPr>
              <a:t>: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this is a </a:t>
            </a:r>
            <a:r>
              <a:rPr lang="zh-CN" altLang="en-US">
                <a:sym typeface="+mn-ea"/>
              </a:rPr>
              <a:t>区间：[1,2,3]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区间可以分治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类似归并排序的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分</a:t>
            </a:r>
            <a:r>
              <a:rPr lang="en-US" altLang="zh-CN">
                <a:sym typeface="+mn-ea"/>
              </a:rPr>
              <a:t>”)</a:t>
            </a:r>
            <a:r>
              <a:rPr lang="zh-CN" altLang="en-US">
                <a:sym typeface="+mn-ea"/>
              </a:rPr>
              <a:t>：[1,3]-</a:t>
            </a:r>
            <a:r>
              <a:rPr lang="en-US" altLang="zh-CN">
                <a:sym typeface="+mn-ea"/>
              </a:rPr>
              <a:t>----</a:t>
            </a:r>
            <a:r>
              <a:rPr lang="zh-CN" altLang="en-US">
                <a:sym typeface="+mn-ea"/>
              </a:rPr>
              <a:t>&gt;[1,2]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[3,3]-</a:t>
            </a:r>
            <a:r>
              <a:rPr lang="en-US" altLang="zh-CN">
                <a:sym typeface="+mn-ea"/>
              </a:rPr>
              <a:t>----</a:t>
            </a:r>
            <a:r>
              <a:rPr lang="zh-CN" altLang="en-US">
                <a:sym typeface="+mn-ea"/>
              </a:rPr>
              <a:t>&gt;[1,1]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[2,2]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[3,3]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于是：这，就是一棵线段树——分治与二叉树的结合体。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93540" y="971550"/>
            <a:ext cx="1695450" cy="16395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206865" y="2171700"/>
            <a:ext cx="2641600" cy="1891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44775" y="4062730"/>
            <a:ext cx="2336800" cy="2440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线段树是一种二叉搜索树。</a:t>
            </a:r>
            <a:r>
              <a:rPr lang="zh-CN" altLang="en-US">
                <a:sym typeface="+mn-ea"/>
              </a:rPr>
              <a:t>什么叫做二叉搜索树？首先满足二叉树，每个结点度</a:t>
            </a:r>
            <a:r>
              <a:rPr lang="en-US" altLang="zh-CN">
                <a:sym typeface="+mn-ea"/>
              </a:rPr>
              <a:t>&lt;=2</a:t>
            </a:r>
            <a:r>
              <a:rPr lang="zh-CN" altLang="en-US">
                <a:sym typeface="+mn-ea"/>
              </a:rPr>
              <a:t>，即每个结点最多有两颗子树。何为搜索，我们要知道，线段树的每个结点都存储了一个区间，也可以理解成一个线段，而搜索，就是在这些线段上进行搜索操作得到你想要的答案。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线段树的</a:t>
            </a:r>
            <a:r>
              <a:rPr lang="zh-CN" altLang="en-US">
                <a:sym typeface="+mn-ea"/>
              </a:rPr>
              <a:t>特征：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1.用分治法自顶向下建立，每次分治，左右子树各一半。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2.每个节点都表示一个“线段”区间，非叶子节点包含多个元素，叶子节点只包含一个元素。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3.除了最后一层，其他层都是满的。</a:t>
            </a:r>
            <a:r>
              <a:rPr lang="en-US" altLang="zh-CN">
                <a:sym typeface="+mn-ea"/>
              </a:rPr>
              <a:t>-----&gt;</a:t>
            </a:r>
            <a:r>
              <a:rPr lang="zh-CN" altLang="en-US">
                <a:sym typeface="+mn-ea"/>
              </a:rPr>
              <a:t>近似完全二叉树，可以用数组存</a:t>
            </a:r>
            <a:r>
              <a:rPr lang="zh-CN" altLang="en-US">
                <a:sym typeface="+mn-ea"/>
              </a:rPr>
              <a:t>树。用一个数组tree[]存储节点。若一个节点的存储下标为k ，则其左子节点的下标为2k ，其右子节点的下标为2k +1。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4.l=r，说明这是一个叶子节点。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5.l&lt;r，说明他有两个子节点，左儿子[l,m],右儿子[m+1,r]，其中m=(l+r)/2;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72560" y="3733800"/>
            <a:ext cx="2336800" cy="2440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b="1">
              <a:sym typeface="+mn-ea"/>
            </a:endParaRPr>
          </a:p>
          <a:p>
            <a:pPr marL="457200" lvl="1" indent="457200">
              <a:buNone/>
            </a:pPr>
            <a:endParaRPr b="1">
              <a:sym typeface="+mn-ea"/>
            </a:endParaRPr>
          </a:p>
          <a:p>
            <a:pPr marL="457200" lvl="1" indent="457200">
              <a:buNone/>
            </a:pPr>
            <a:r>
              <a:rPr b="1">
                <a:sym typeface="+mn-ea"/>
              </a:rPr>
              <a:t>线段树看起来挺麻烦的，他为什么这么高效？</a:t>
            </a:r>
            <a:endParaRPr b="1">
              <a:sym typeface="+mn-ea"/>
            </a:endParaRPr>
          </a:p>
          <a:p>
            <a:pPr marL="457200" lvl="1" indent="457200">
              <a:buNone/>
            </a:pPr>
            <a:r>
              <a:rPr>
                <a:sym typeface="+mn-ea"/>
              </a:rPr>
              <a:t>每个结点的值，代表了以它为根的子树上所有节点的值，那么，查询这个子树所代表的区间的值时，就不必遍历整棵树，而是直接读取这棵子树的根值就行了。并且树形结构的操作时间复杂度是O(logn)</a:t>
            </a:r>
            <a:r>
              <a:rPr lang="zh-CN">
                <a:sym typeface="+mn-ea"/>
              </a:rPr>
              <a:t>。</a:t>
            </a:r>
            <a:endParaRPr>
              <a:sym typeface="+mn-ea"/>
            </a:endParaRPr>
          </a:p>
          <a:p>
            <a:pPr marL="457200" lvl="1" indent="457200">
              <a:buNone/>
            </a:pPr>
            <a:endParaRPr>
              <a:sym typeface="+mn-ea"/>
            </a:endParaRPr>
          </a:p>
          <a:p>
            <a:pPr marL="457200" lvl="1" indent="457200">
              <a:buNone/>
            </a:pPr>
            <a:r>
              <a:rPr b="1">
                <a:sym typeface="+mn-ea"/>
              </a:rPr>
              <a:t>线段树最适合解决的问题的特征是</a:t>
            </a:r>
            <a:r>
              <a:rPr lang="zh-CN" b="1">
                <a:sym typeface="+mn-ea"/>
              </a:rPr>
              <a:t>：</a:t>
            </a:r>
            <a:r>
              <a:rPr>
                <a:sym typeface="+mn-ea"/>
              </a:rPr>
              <a:t>大区间的解可以从小区间的解合并而来。</a:t>
            </a:r>
            <a:endParaRPr>
              <a:sym typeface="+mn-ea"/>
            </a:endParaRPr>
          </a:p>
          <a:p>
            <a:pPr marL="457200" lvl="1" indent="457200">
              <a:buNone/>
            </a:pPr>
            <a:endParaRPr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线段树</a:t>
            </a:r>
            <a:r>
              <a:rPr lang="zh-CN" altLang="en-US">
                <a:sym typeface="+mn-ea"/>
              </a:rPr>
              <a:t>是算法竞赛中常用的用来维护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区间信息</a:t>
            </a:r>
            <a:r>
              <a:rPr lang="zh-CN" altLang="en-US">
                <a:sym typeface="+mn-ea"/>
              </a:rPr>
              <a:t> 的数据结构。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线段树可以在 O(log N) 的时间复杂度内实现单点修改、区间修改、区间查询（区间求和，求区间最大值，求区间最小值）等操作。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b="1">
              <a:sym typeface="+mn-ea"/>
            </a:endParaRPr>
          </a:p>
          <a:p>
            <a:pPr marL="457200" lvl="1" indent="457200">
              <a:buNone/>
            </a:pPr>
            <a:endParaRPr b="1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线段树维护区间和：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1 3 5 7 9 11                                                   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线段树维护区间最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大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值：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1 8 6 4 3 5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5150" y="257175"/>
            <a:ext cx="1254125" cy="14014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15390" y="2762885"/>
            <a:ext cx="3733800" cy="3152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0" y="3285490"/>
            <a:ext cx="5340985" cy="2411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线段树的</a:t>
            </a:r>
            <a:r>
              <a:rPr lang="zh-CN" altLang="en-US">
                <a:sym typeface="+mn-ea"/>
              </a:rPr>
              <a:t>使用。首先，我们得先明白几件事情。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　　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每个结点存什么，如何存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树，如何建树？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）一个结点对应一段区间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[l,r]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，区间内有我们需要的值（区间和，最值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等等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），所以一个结点内要保存该结点对应区间的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左右边界，需要的值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）线段树</a:t>
            </a:r>
            <a:r>
              <a:rPr lang="zh-CN" altLang="en-US">
                <a:sym typeface="+mn-ea"/>
              </a:rPr>
              <a:t>近似完全二叉树，可以用数组存树。用一个数组tree[]存储节点。若一个节点的存储下标为</a:t>
            </a:r>
            <a:r>
              <a:rPr lang="en-US" altLang="zh-CN">
                <a:sym typeface="+mn-ea"/>
              </a:rPr>
              <a:t>o</a:t>
            </a:r>
            <a:r>
              <a:rPr lang="zh-CN" altLang="en-US">
                <a:sym typeface="+mn-ea"/>
              </a:rPr>
              <a:t> ，则其左子节点的下标为2</a:t>
            </a:r>
            <a:r>
              <a:rPr lang="en-US" altLang="zh-CN">
                <a:sym typeface="+mn-ea"/>
              </a:rPr>
              <a:t>o</a:t>
            </a:r>
            <a:r>
              <a:rPr lang="zh-CN" altLang="en-US">
                <a:sym typeface="+mn-ea"/>
              </a:rPr>
              <a:t> ，其右子节点的下标为2</a:t>
            </a:r>
            <a:r>
              <a:rPr lang="en-US" altLang="zh-CN">
                <a:sym typeface="+mn-ea"/>
              </a:rPr>
              <a:t>o</a:t>
            </a:r>
            <a:r>
              <a:rPr lang="zh-CN" altLang="en-US">
                <a:sym typeface="+mn-ea"/>
              </a:rPr>
              <a:t> +1。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）建树：以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个元素的区间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(a[n])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为基础建树。以维护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区间和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为例：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tree[]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数组大小：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4*n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（可能存在空间浪费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基于递归建树。初始节点为1，因为你要从1号节点开始建树。左子树节点是o*2，右子树节点是o*2+1。线段树在构造子树时，一个结点的两个子节点是平分这个子树的（特征中说过）在遍历时，左子树范围是[l,m],右子树是 [m+1,r]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其中：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m=(l+r)/2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线段树建树的时间复杂度为O(n)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85110" y="318135"/>
            <a:ext cx="6622415" cy="6078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区间修改操作：单点修改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区间</a:t>
            </a:r>
            <a:r>
              <a:rPr lang="zh-CN" altLang="en-US">
                <a:sym typeface="+mn-ea"/>
              </a:rPr>
              <a:t>修改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单点修改（难道一个点不能被看作一个区间吗）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在一开始建树的时候该点是在树中的，树中一个点改变可能会引起这棵树的改变。还是以区间求和为例，当你改变了一个点，这个点的所有父节点都得改变。（如图）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先递归找到要修改的叶子节点，直接修改叶子节点上元素的值，然后从底往上更新线段树</a:t>
            </a:r>
            <a:r>
              <a:rPr lang="zh-CN" altLang="en-US">
                <a:sym typeface="+mn-ea"/>
              </a:rPr>
              <a:t>即可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时间复杂度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25750" y="2266950"/>
            <a:ext cx="621030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28825" y="469265"/>
            <a:ext cx="8134350" cy="5743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区间修改：区间修改，</a:t>
            </a:r>
            <a:r>
              <a:rPr lang="zh-CN" altLang="en-US" strike="sngStrike">
                <a:sym typeface="+mn-ea"/>
              </a:rPr>
              <a:t>不过是在单点修改中暴力枚举每一个要修改的点而已......</a:t>
            </a:r>
            <a:endParaRPr lang="zh-CN" altLang="en-US" strike="sngStrike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不行！我们要禁止暴力！不然复杂度太高！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为了降低时间复杂度，我们引进一个新玩意：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lazy-tag懒标记</a:t>
            </a:r>
            <a:r>
              <a:rPr lang="zh-CN" altLang="en-US">
                <a:sym typeface="+mn-ea"/>
              </a:rPr>
              <a:t>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tag[i]记录了区间i的修改</a:t>
            </a:r>
            <a:r>
              <a:rPr lang="zh-CN" altLang="en-US">
                <a:sym typeface="+mn-ea"/>
              </a:rPr>
              <a:t>，这样就不用一个一个的再去修改去区间的内的每个元素了。也可以直接在结构体</a:t>
            </a:r>
            <a:r>
              <a:rPr lang="zh-CN" altLang="en-US">
                <a:sym typeface="+mn-ea"/>
              </a:rPr>
              <a:t>中加</a:t>
            </a:r>
            <a:r>
              <a:rPr lang="en-US" altLang="zh-CN">
                <a:sym typeface="+mn-ea"/>
              </a:rPr>
              <a:t>tag</a:t>
            </a:r>
            <a:r>
              <a:rPr lang="zh-CN" altLang="en-US">
                <a:sym typeface="+mn-ea"/>
              </a:rPr>
              <a:t>属性。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那啥时候修改？一会再修改。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既然不一个个的改，那我们就改整体！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当我们进行修改时，先只对这个线段区间上进行整体上的修改，其内部每个元素的值先不修改。只有当查找到的区间</a:t>
            </a:r>
            <a:r>
              <a:rPr lang="en-US" altLang="zh-CN">
                <a:sym typeface="+mn-ea"/>
              </a:rPr>
              <a:t>[l,r]</a:t>
            </a:r>
            <a:r>
              <a:rPr lang="zh-CN" altLang="en-US">
                <a:sym typeface="+mn-ea"/>
              </a:rPr>
              <a:t>不包含在给定的区间</a:t>
            </a:r>
            <a:r>
              <a:rPr lang="en-US" altLang="zh-CN">
                <a:sym typeface="+mn-ea"/>
              </a:rPr>
              <a:t>[L,R]</a:t>
            </a:r>
            <a:r>
              <a:rPr lang="zh-CN" altLang="en-US">
                <a:sym typeface="+mn-ea"/>
              </a:rPr>
              <a:t>时（即l&lt;L||r&gt;R时），才把变化值传给下一层的子区间，即修改内部元素。（完全覆盖，</a:t>
            </a:r>
            <a:r>
              <a:rPr lang="zh-CN" altLang="en-US">
                <a:sym typeface="+mn-ea"/>
              </a:rPr>
              <a:t>部分覆盖）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7400" y="4277995"/>
            <a:ext cx="8077200" cy="2383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3155" y="381635"/>
            <a:ext cx="10130155" cy="6339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down这个函数，也就是当需要查询某个结点的子树时，需要用到这个函数，函数功能就是更新子树的lazy值，可以理解为平时先把事情放着，等到哪天要检查的时候，就临时再去做，而且做也不是一次性做完，检查哪一部分它就只做这一部分。是不是感受到了什么是Lazy_tag，实至名归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区间查询：直接递归查询即可。但是在查询过程中要注意懒</a:t>
            </a:r>
            <a:r>
              <a:rPr lang="zh-CN" altLang="en-US">
                <a:sym typeface="+mn-ea"/>
              </a:rPr>
              <a:t>标记。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完全</a:t>
            </a:r>
            <a:r>
              <a:rPr lang="zh-CN" altLang="en-US">
                <a:sym typeface="+mn-ea"/>
              </a:rPr>
              <a:t>覆盖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ym typeface="+mn-ea"/>
              </a:rPr>
              <a:t>部分</a:t>
            </a:r>
            <a:r>
              <a:rPr lang="zh-CN" altLang="en-US">
                <a:sym typeface="+mn-ea"/>
              </a:rPr>
              <a:t>覆盖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54680" y="184785"/>
            <a:ext cx="5882640" cy="6416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ym typeface="+mn-ea"/>
              </a:rPr>
              <a:t>学有余力的同学可以</a:t>
            </a:r>
            <a:r>
              <a:rPr lang="zh-CN" altLang="en-US">
                <a:sym typeface="+mn-ea"/>
              </a:rPr>
              <a:t>看一下：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22980" y="826135"/>
            <a:ext cx="4991100" cy="55340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WPS 演示</Application>
  <PresentationFormat>宽屏</PresentationFormat>
  <Paragraphs>129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133</cp:revision>
  <dcterms:created xsi:type="dcterms:W3CDTF">2023-09-08T07:11:00Z</dcterms:created>
  <dcterms:modified xsi:type="dcterms:W3CDTF">2023-12-28T07:47:04Z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2052-12.1.0.16120</vt:lpwstr>
  </property>
</Properties>
</file>