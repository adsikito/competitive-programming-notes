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357" r:id="rId3"/>
    <p:sldId id="372" r:id="rId4"/>
    <p:sldId id="402" r:id="rId5"/>
    <p:sldId id="390" r:id="rId6"/>
    <p:sldId id="391" r:id="rId7"/>
    <p:sldId id="415" r:id="rId8"/>
    <p:sldId id="426" r:id="rId9"/>
    <p:sldId id="392" r:id="rId10"/>
    <p:sldId id="393" r:id="rId11"/>
    <p:sldId id="394" r:id="rId12"/>
    <p:sldId id="395" r:id="rId13"/>
  </p:sldIdLst>
  <p:sldSz cx="12192000" cy="6858000"/>
  <p:notesSz cx="6858000" cy="9144000"/>
  <p:custDataLst>
    <p:tags r:id="rId1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gs" Target="tags/tag24.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png"/><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tags" Target="../tags/tag5.xml"/><Relationship Id="rId3" Type="http://schemas.openxmlformats.org/officeDocument/2006/relationships/image" Target="../media/image2.png"/><Relationship Id="rId2" Type="http://schemas.openxmlformats.org/officeDocument/2006/relationships/tags" Target="../tags/tag4.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tags" Target="../tags/tag6.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tags" Target="../tags/tag8.xml"/><Relationship Id="rId1" Type="http://schemas.openxmlformats.org/officeDocument/2006/relationships/tags" Target="../tags/tag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8.png"/><Relationship Id="rId3" Type="http://schemas.openxmlformats.org/officeDocument/2006/relationships/tags" Target="../tags/tag11.xml"/><Relationship Id="rId2" Type="http://schemas.openxmlformats.org/officeDocument/2006/relationships/image" Target="../media/image7.png"/><Relationship Id="rId1" Type="http://schemas.openxmlformats.org/officeDocument/2006/relationships/tags" Target="../tags/tag10.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0.png"/><Relationship Id="rId3" Type="http://schemas.openxmlformats.org/officeDocument/2006/relationships/tags" Target="../tags/tag13.xml"/><Relationship Id="rId2" Type="http://schemas.openxmlformats.org/officeDocument/2006/relationships/image" Target="../media/image9.png"/><Relationship Id="rId1" Type="http://schemas.openxmlformats.org/officeDocument/2006/relationships/tags" Target="../tags/tag1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19.xml"/><Relationship Id="rId7" Type="http://schemas.openxmlformats.org/officeDocument/2006/relationships/image" Target="../media/image13.png"/><Relationship Id="rId6" Type="http://schemas.openxmlformats.org/officeDocument/2006/relationships/tags" Target="../tags/tag18.xml"/><Relationship Id="rId5" Type="http://schemas.openxmlformats.org/officeDocument/2006/relationships/image" Target="../media/image12.png"/><Relationship Id="rId4" Type="http://schemas.openxmlformats.org/officeDocument/2006/relationships/tags" Target="../tags/tag17.xml"/><Relationship Id="rId3" Type="http://schemas.openxmlformats.org/officeDocument/2006/relationships/image" Target="../media/image11.png"/><Relationship Id="rId2" Type="http://schemas.openxmlformats.org/officeDocument/2006/relationships/tags" Target="../tags/tag16.xml"/><Relationship Id="rId10" Type="http://schemas.openxmlformats.org/officeDocument/2006/relationships/slideLayout" Target="../slideLayouts/slideLayout1.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tags" Target="../tags/tag22.xml"/><Relationship Id="rId3" Type="http://schemas.openxmlformats.org/officeDocument/2006/relationships/image" Target="../media/image12.png"/><Relationship Id="rId2" Type="http://schemas.openxmlformats.org/officeDocument/2006/relationships/tags" Target="../tags/tag21.xml"/><Relationship Id="rId1" Type="http://schemas.openxmlformats.org/officeDocument/2006/relationships/tags" Target="../tags/tag20.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pPr marL="457200" lvl="1" indent="457200">
              <a:buNone/>
            </a:pPr>
            <a:r>
              <a:rPr lang="zh-CN" altLang="en-US">
                <a:sym typeface="+mn-ea"/>
              </a:rPr>
              <a:t>状态压缩动态规划，俗称状压DP，是利用</a:t>
            </a:r>
            <a:r>
              <a:rPr lang="zh-CN" altLang="en-US">
                <a:solidFill>
                  <a:srgbClr val="FF0000"/>
                </a:solidFill>
                <a:sym typeface="+mn-ea"/>
              </a:rPr>
              <a:t>计算机二进制</a:t>
            </a:r>
            <a:r>
              <a:rPr lang="zh-CN" altLang="en-US">
                <a:sym typeface="+mn-ea"/>
              </a:rPr>
              <a:t>的性质来</a:t>
            </a:r>
            <a:r>
              <a:rPr lang="zh-CN" altLang="en-US">
                <a:solidFill>
                  <a:srgbClr val="FF0000"/>
                </a:solidFill>
                <a:sym typeface="+mn-ea"/>
              </a:rPr>
              <a:t>描述状态</a:t>
            </a:r>
            <a:r>
              <a:rPr lang="zh-CN" altLang="en-US">
                <a:sym typeface="+mn-ea"/>
              </a:rPr>
              <a:t>的一种DP方式。</a:t>
            </a:r>
            <a:endParaRPr lang="zh-CN" altLang="en-US">
              <a:sym typeface="+mn-ea"/>
            </a:endParaRPr>
          </a:p>
          <a:p>
            <a:pPr marL="457200" lvl="1" indent="457200">
              <a:buNone/>
            </a:pPr>
            <a:endParaRPr lang="zh-CN" altLang="en-US">
              <a:sym typeface="+mn-ea"/>
            </a:endParaRPr>
          </a:p>
          <a:p>
            <a:pPr marL="457200" lvl="1" indent="457200">
              <a:buNone/>
            </a:pPr>
            <a:r>
              <a:rPr lang="zh-CN" altLang="en-US">
                <a:sym typeface="+mn-ea"/>
              </a:rPr>
              <a:t>为了方便地同时表示一个状态的多个事件，状态一般用二进制数来表示。一个数就能表示一个状态，通常一个状态数据就是一个一串0和1组成的二进制数，每一位二进制数只有两种状态，比如说硬币的正反两面，</a:t>
            </a:r>
            <a:r>
              <a:rPr lang="en-US" altLang="zh-CN">
                <a:sym typeface="+mn-ea"/>
              </a:rPr>
              <a:t>8</a:t>
            </a:r>
            <a:r>
              <a:rPr lang="zh-CN" altLang="en-US">
                <a:sym typeface="+mn-ea"/>
              </a:rPr>
              <a:t>枚硬币的结果就可以用</a:t>
            </a:r>
            <a:r>
              <a:rPr lang="en-US" altLang="zh-CN">
                <a:sym typeface="+mn-ea"/>
              </a:rPr>
              <a:t>8</a:t>
            </a:r>
            <a:r>
              <a:rPr lang="zh-CN" altLang="en-US">
                <a:sym typeface="+mn-ea"/>
              </a:rPr>
              <a:t>位二进制数完全表示出来，每一个</a:t>
            </a:r>
            <a:r>
              <a:rPr lang="en-US" altLang="zh-CN">
                <a:sym typeface="+mn-ea"/>
              </a:rPr>
              <a:t>8</a:t>
            </a:r>
            <a:r>
              <a:rPr lang="zh-CN" altLang="en-US">
                <a:sym typeface="+mn-ea"/>
              </a:rPr>
              <a:t>位二进制数就表示了其中一种结果（即一种状态）。共有</a:t>
            </a:r>
            <a:r>
              <a:rPr lang="en-US" altLang="zh-CN">
                <a:sym typeface="+mn-ea"/>
              </a:rPr>
              <a:t>2^8</a:t>
            </a:r>
            <a:r>
              <a:rPr lang="zh-CN" altLang="en-US">
                <a:sym typeface="+mn-ea"/>
              </a:rPr>
              <a:t>个状态：数字表示</a:t>
            </a:r>
            <a:r>
              <a:rPr lang="en-US" altLang="zh-CN">
                <a:sym typeface="+mn-ea"/>
              </a:rPr>
              <a:t>0~255</a:t>
            </a:r>
            <a:r>
              <a:rPr lang="zh-CN" altLang="en-US">
                <a:sym typeface="+mn-ea"/>
              </a:rPr>
              <a:t>。</a:t>
            </a:r>
            <a:endParaRPr lang="en-US" altLang="zh-CN">
              <a:solidFill>
                <a:schemeClr val="tx1"/>
              </a:solidFill>
              <a:sym typeface="+mn-ea"/>
            </a:endParaRPr>
          </a:p>
          <a:p>
            <a:pPr marL="0" lvl="0" indent="0">
              <a:buNone/>
            </a:pPr>
            <a:r>
              <a:rPr lang="en-US" altLang="zh-CN">
                <a:solidFill>
                  <a:schemeClr val="tx1"/>
                </a:solidFill>
                <a:sym typeface="+mn-ea"/>
              </a:rPr>
              <a:t>  </a:t>
            </a:r>
            <a:endParaRPr lang="en-US" altLang="zh-CN">
              <a:solidFill>
                <a:schemeClr val="tx1"/>
              </a:solidFill>
              <a:sym typeface="+mn-ea"/>
            </a:endParaRPr>
          </a:p>
          <a:p>
            <a:pPr marL="0" lvl="0" indent="0">
              <a:buNone/>
            </a:pPr>
            <a:endParaRPr lang="en-US" altLang="zh-CN">
              <a:solidFill>
                <a:schemeClr val="tx1"/>
              </a:solidFill>
              <a:sym typeface="+mn-ea"/>
            </a:endParaRPr>
          </a:p>
          <a:p>
            <a:pPr marL="0" lvl="0" indent="0">
              <a:buNone/>
            </a:pPr>
            <a:endParaRPr lang="en-US" altLang="zh-CN">
              <a:solidFill>
                <a:schemeClr val="tx1"/>
              </a:solidFill>
              <a:sym typeface="+mn-ea"/>
            </a:endParaRPr>
          </a:p>
          <a:p>
            <a:pPr marL="0" lvl="0" indent="0">
              <a:buNone/>
            </a:pPr>
            <a:endParaRPr lang="en-US" altLang="zh-CN">
              <a:solidFill>
                <a:schemeClr val="tx1"/>
              </a:solidFill>
              <a:sym typeface="+mn-ea"/>
            </a:endParaRPr>
          </a:p>
          <a:p>
            <a:pPr marL="0" lvl="0" indent="0">
              <a:buNone/>
            </a:pPr>
            <a:endParaRPr lang="en-US" altLang="zh-CN">
              <a:solidFill>
                <a:schemeClr val="tx1"/>
              </a:solidFill>
              <a:sym typeface="+mn-ea"/>
            </a:endParaRPr>
          </a:p>
          <a:p>
            <a:pPr marL="0" lvl="0" indent="0">
              <a:buNone/>
            </a:pPr>
            <a:r>
              <a:rPr lang="en-US" altLang="zh-CN">
                <a:solidFill>
                  <a:schemeClr val="tx1"/>
                </a:solidFill>
                <a:sym typeface="+mn-ea"/>
              </a:rPr>
              <a:t>使用二进制数表示状态</a:t>
            </a:r>
            <a:r>
              <a:rPr lang="en-US" altLang="zh-CN">
                <a:solidFill>
                  <a:srgbClr val="FF0000"/>
                </a:solidFill>
                <a:sym typeface="+mn-ea"/>
              </a:rPr>
              <a:t>缩小了数据存储空间</a:t>
            </a:r>
            <a:r>
              <a:rPr lang="en-US" altLang="zh-CN">
                <a:solidFill>
                  <a:schemeClr val="tx1"/>
                </a:solidFill>
                <a:sym typeface="+mn-ea"/>
              </a:rPr>
              <a:t>，还能利用</a:t>
            </a:r>
            <a:r>
              <a:rPr lang="en-US" altLang="zh-CN">
                <a:solidFill>
                  <a:srgbClr val="FF0000"/>
                </a:solidFill>
                <a:sym typeface="+mn-ea"/>
              </a:rPr>
              <a:t>二进制数的位运算</a:t>
            </a:r>
            <a:r>
              <a:rPr lang="en-US" altLang="zh-CN">
                <a:solidFill>
                  <a:schemeClr val="tx1"/>
                </a:solidFill>
                <a:sym typeface="+mn-ea"/>
              </a:rPr>
              <a:t>很方便地进行状态转移。</a:t>
            </a:r>
            <a:endParaRPr lang="en-US" altLang="zh-CN">
              <a:solidFill>
                <a:schemeClr val="tx1"/>
              </a:solidFill>
              <a:sym typeface="+mn-ea"/>
            </a:endParaRPr>
          </a:p>
          <a:p>
            <a:pPr marL="0" lvl="0" indent="0">
              <a:buNone/>
            </a:pPr>
            <a:endParaRPr lang="en-US" altLang="zh-CN">
              <a:solidFill>
                <a:schemeClr val="tx1"/>
              </a:solidFill>
              <a:sym typeface="+mn-ea"/>
            </a:endParaRPr>
          </a:p>
          <a:p>
            <a:pPr marL="0" lvl="1" indent="0">
              <a:buNone/>
            </a:pPr>
            <a:r>
              <a:rPr lang="zh-CN" altLang="en-US">
                <a:sym typeface="+mn-ea"/>
              </a:rPr>
              <a:t>状压DP其实是一种暴力的算法，因为它需要遍历每个状态，而每个状态是多个事件的集合，也就是以集合为状态，一个集合就是一个状态。解决的一般是指数复杂度的问题，所以状态压缩DP的复杂度是指数的，只能用于小规模问题的求解。</a:t>
            </a:r>
            <a:endParaRPr lang="zh-CN" altLang="en-US">
              <a:sym typeface="+mn-ea"/>
            </a:endParaRPr>
          </a:p>
          <a:p>
            <a:pPr marL="0" lvl="0" indent="0">
              <a:buNone/>
            </a:pPr>
            <a:endParaRPr lang="en-US" altLang="zh-CN">
              <a:solidFill>
                <a:schemeClr val="tx1"/>
              </a:solidFill>
              <a:sym typeface="+mn-ea"/>
            </a:endParaRPr>
          </a:p>
          <a:p>
            <a:pPr marL="0" lvl="0" indent="0">
              <a:buNone/>
            </a:pPr>
            <a:endParaRPr lang="en-US" altLang="zh-CN">
              <a:solidFill>
                <a:schemeClr val="tx1"/>
              </a:solidFill>
              <a:sym typeface="+mn-ea"/>
            </a:endParaRPr>
          </a:p>
          <a:p>
            <a:r>
              <a:rPr lang="zh-CN" altLang="en-US">
                <a:solidFill>
                  <a:schemeClr val="tx1"/>
                </a:solidFill>
                <a:sym typeface="+mn-ea"/>
              </a:rPr>
              <a:t>重点：</a:t>
            </a:r>
            <a:endParaRPr lang="zh-CN" altLang="en-US">
              <a:solidFill>
                <a:schemeClr val="tx1"/>
              </a:solidFill>
              <a:sym typeface="+mn-ea"/>
            </a:endParaRPr>
          </a:p>
          <a:p>
            <a:r>
              <a:rPr lang="en-US" altLang="zh-CN">
                <a:solidFill>
                  <a:schemeClr val="tx1"/>
                </a:solidFill>
                <a:sym typeface="+mn-ea"/>
              </a:rPr>
              <a:t>1</a:t>
            </a:r>
            <a:r>
              <a:rPr lang="zh-CN" altLang="en-US">
                <a:solidFill>
                  <a:schemeClr val="tx1"/>
                </a:solidFill>
                <a:sym typeface="+mn-ea"/>
              </a:rPr>
              <a:t>）</a:t>
            </a:r>
            <a:r>
              <a:rPr lang="zh-CN" altLang="en-US">
                <a:solidFill>
                  <a:schemeClr val="tx1"/>
                </a:solidFill>
                <a:sym typeface="+mn-ea"/>
              </a:rPr>
              <a:t>位运算</a:t>
            </a:r>
            <a:endParaRPr lang="zh-CN" altLang="en-US">
              <a:solidFill>
                <a:schemeClr val="tx1"/>
              </a:solidFill>
              <a:sym typeface="+mn-ea"/>
            </a:endParaRPr>
          </a:p>
          <a:p>
            <a:r>
              <a:rPr lang="en-US" altLang="zh-CN">
                <a:solidFill>
                  <a:schemeClr val="tx1"/>
                </a:solidFill>
                <a:sym typeface="+mn-ea"/>
              </a:rPr>
              <a:t>2</a:t>
            </a:r>
            <a:r>
              <a:rPr lang="zh-CN" altLang="en-US">
                <a:solidFill>
                  <a:schemeClr val="tx1"/>
                </a:solidFill>
                <a:sym typeface="+mn-ea"/>
              </a:rPr>
              <a:t>）状压</a:t>
            </a:r>
            <a:r>
              <a:rPr lang="en-US" altLang="zh-CN">
                <a:solidFill>
                  <a:schemeClr val="tx1"/>
                </a:solidFill>
                <a:sym typeface="+mn-ea"/>
              </a:rPr>
              <a:t>DP</a:t>
            </a:r>
            <a:endParaRPr lang="en-US" altLang="zh-CN">
              <a:solidFill>
                <a:schemeClr val="tx1"/>
              </a:solidFill>
              <a:sym typeface="+mn-ea"/>
            </a:endParaRPr>
          </a:p>
        </p:txBody>
      </p:sp>
      <p:pic>
        <p:nvPicPr>
          <p:cNvPr id="4" name="图片 3"/>
          <p:cNvPicPr>
            <a:picLocks noChangeAspect="1"/>
          </p:cNvPicPr>
          <p:nvPr>
            <p:custDataLst>
              <p:tags r:id="rId2"/>
            </p:custDataLst>
          </p:nvPr>
        </p:nvPicPr>
        <p:blipFill>
          <a:blip r:embed="rId3"/>
          <a:stretch>
            <a:fillRect/>
          </a:stretch>
        </p:blipFill>
        <p:spPr>
          <a:xfrm>
            <a:off x="2449830" y="2169160"/>
            <a:ext cx="7429500" cy="10191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r>
              <a:rPr lang="zh-CN"/>
              <a:t>前置知识：位运算</a:t>
            </a:r>
            <a:endParaRPr lang="zh-CN"/>
          </a:p>
          <a:p>
            <a:endParaRPr lang="zh-CN"/>
          </a:p>
          <a:p>
            <a:endParaRPr lang="zh-CN"/>
          </a:p>
          <a:p>
            <a:endParaRPr lang="zh-CN"/>
          </a:p>
          <a:p>
            <a:endParaRPr lang="zh-CN"/>
          </a:p>
          <a:p>
            <a:endParaRPr lang="zh-CN"/>
          </a:p>
          <a:p>
            <a:endParaRPr lang="zh-CN"/>
          </a:p>
          <a:p>
            <a:endParaRPr lang="zh-CN"/>
          </a:p>
          <a:p>
            <a:endParaRPr lang="zh-CN"/>
          </a:p>
          <a:p>
            <a:endParaRPr lang="zh-CN"/>
          </a:p>
          <a:p>
            <a:endParaRPr lang="zh-CN"/>
          </a:p>
          <a:p>
            <a:endParaRPr lang="zh-CN"/>
          </a:p>
          <a:p>
            <a:endParaRPr lang="zh-CN"/>
          </a:p>
          <a:p>
            <a:r>
              <a:rPr lang="zh-CN"/>
              <a:t>规律：</a:t>
            </a:r>
            <a:r>
              <a:rPr lang="en-US" altLang="zh-CN"/>
              <a:t>(x</a:t>
            </a:r>
            <a:r>
              <a:rPr lang="zh-CN" altLang="en-US"/>
              <a:t>取值为</a:t>
            </a:r>
            <a:r>
              <a:rPr lang="en-US" altLang="zh-CN"/>
              <a:t> 1</a:t>
            </a:r>
            <a:r>
              <a:rPr lang="zh-CN" altLang="en-US"/>
              <a:t>，</a:t>
            </a:r>
            <a:r>
              <a:rPr lang="en-US" altLang="zh-CN"/>
              <a:t>0)</a:t>
            </a:r>
            <a:endParaRPr lang="zh-CN"/>
          </a:p>
          <a:p>
            <a:endParaRPr lang="zh-CN"/>
          </a:p>
          <a:p>
            <a:r>
              <a:rPr lang="en-US"/>
              <a:t>1 &amp; x =x               0 &amp; </a:t>
            </a:r>
            <a:r>
              <a:rPr lang="en-US"/>
              <a:t>x =0</a:t>
            </a:r>
            <a:endParaRPr lang="en-US"/>
          </a:p>
          <a:p>
            <a:endParaRPr lang="en-US"/>
          </a:p>
          <a:p>
            <a:r>
              <a:rPr lang="en-US"/>
              <a:t>1 | x = 1              0 | x  = x</a:t>
            </a:r>
            <a:endParaRPr lang="en-US"/>
          </a:p>
          <a:p/>
          <a:p>
            <a:endParaRPr lang="zh-CN" altLang="en-US">
              <a:sym typeface="+mn-ea"/>
            </a:endParaRPr>
          </a:p>
        </p:txBody>
      </p:sp>
      <p:pic>
        <p:nvPicPr>
          <p:cNvPr id="2" name="图片 1"/>
          <p:cNvPicPr>
            <a:picLocks noChangeAspect="1"/>
          </p:cNvPicPr>
          <p:nvPr>
            <p:custDataLst>
              <p:tags r:id="rId2"/>
            </p:custDataLst>
          </p:nvPr>
        </p:nvPicPr>
        <p:blipFill>
          <a:blip r:embed="rId3"/>
          <a:stretch>
            <a:fillRect/>
          </a:stretch>
        </p:blipFill>
        <p:spPr>
          <a:xfrm>
            <a:off x="712470" y="1057910"/>
            <a:ext cx="11232515" cy="2297430"/>
          </a:xfrm>
          <a:prstGeom prst="rect">
            <a:avLst/>
          </a:prstGeom>
        </p:spPr>
      </p:pic>
      <p:pic>
        <p:nvPicPr>
          <p:cNvPr id="5" name="图片 4"/>
          <p:cNvPicPr>
            <a:picLocks noChangeAspect="1"/>
          </p:cNvPicPr>
          <p:nvPr>
            <p:custDataLst>
              <p:tags r:id="rId4"/>
            </p:custDataLst>
          </p:nvPr>
        </p:nvPicPr>
        <p:blipFill>
          <a:blip r:embed="rId5"/>
          <a:stretch>
            <a:fillRect/>
          </a:stretch>
        </p:blipFill>
        <p:spPr>
          <a:xfrm>
            <a:off x="847090" y="4431665"/>
            <a:ext cx="2638425" cy="11144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r>
              <a:rPr lang="zh-CN"/>
              <a:t>前置知识：状压</a:t>
            </a:r>
            <a:r>
              <a:rPr lang="en-US" altLang="zh-CN"/>
              <a:t>DP</a:t>
            </a:r>
            <a:r>
              <a:rPr lang="zh-CN" altLang="en-US"/>
              <a:t>中常用的</a:t>
            </a:r>
            <a:r>
              <a:rPr lang="zh-CN" altLang="en-US"/>
              <a:t>位运算技巧</a:t>
            </a:r>
            <a:endParaRPr lang="zh-CN"/>
          </a:p>
          <a:p>
            <a:endParaRPr lang="zh-CN"/>
          </a:p>
          <a:p>
            <a:r>
              <a:rPr lang="zh-CN"/>
              <a:t>1.判断一个数字x二进制下第i位是不是等于1。（最低第1位）</a:t>
            </a:r>
            <a:endParaRPr lang="zh-CN"/>
          </a:p>
          <a:p>
            <a:r>
              <a:rPr lang="zh-CN"/>
              <a:t>方法：if(((1&lt;&lt;(i−1))&amp;x)&gt;0) 将1左移i-1位，相当于制造了一个只有第i位 上是1，其他位上都是0的二进制数。然后与x做与运算，如果结果&gt;0， 说明x第i位上是1，反之则是0。</a:t>
            </a:r>
            <a:endParaRPr lang="zh-CN"/>
          </a:p>
          <a:p>
            <a:endParaRPr lang="zh-CN"/>
          </a:p>
          <a:p>
            <a:r>
              <a:rPr lang="zh-CN"/>
              <a:t>2.将一个数字x二进制下第i位更改成1。</a:t>
            </a:r>
            <a:endParaRPr lang="zh-CN"/>
          </a:p>
          <a:p>
            <a:r>
              <a:rPr lang="zh-CN"/>
              <a:t>方法：x=x|(1&lt;&lt;(i−1)) 证明方法与1类似。</a:t>
            </a:r>
            <a:endParaRPr lang="zh-CN"/>
          </a:p>
          <a:p>
            <a:endParaRPr lang="zh-CN"/>
          </a:p>
          <a:p>
            <a:r>
              <a:rPr lang="zh-CN"/>
              <a:t>3.将一个数字x二进制下第i位更改成0。</a:t>
            </a:r>
            <a:endParaRPr lang="zh-CN"/>
          </a:p>
          <a:p>
            <a:r>
              <a:rPr lang="zh-CN"/>
              <a:t>方法：x=x&amp;~(1&lt;&lt;(i−1))</a:t>
            </a:r>
            <a:endParaRPr lang="zh-CN"/>
          </a:p>
          <a:p>
            <a:endParaRPr lang="zh-CN"/>
          </a:p>
          <a:p>
            <a:r>
              <a:rPr lang="zh-CN"/>
              <a:t>4.把一个数字二进制下最靠右的第一个1去掉。</a:t>
            </a:r>
            <a:endParaRPr lang="zh-CN"/>
          </a:p>
          <a:p>
            <a:r>
              <a:rPr lang="zh-CN"/>
              <a:t>方法：x=x&amp;(x−1)</a:t>
            </a:r>
            <a:endParaRPr lang="zh-CN"/>
          </a:p>
          <a:p>
            <a:endParaRPr lang="zh-CN"/>
          </a:p>
          <a:p>
            <a:r>
              <a:rPr lang="en-US" altLang="zh-CN"/>
              <a:t>5.</a:t>
            </a:r>
            <a:r>
              <a:rPr lang="zh-CN" altLang="en-US"/>
              <a:t>枚举状压集合</a:t>
            </a:r>
            <a:r>
              <a:rPr lang="en-US" altLang="zh-CN"/>
              <a:t>S </a:t>
            </a:r>
            <a:r>
              <a:rPr lang="zh-CN" altLang="en-US"/>
              <a:t>的子集</a:t>
            </a:r>
            <a:endParaRPr lang="zh-CN" altLang="en-US"/>
          </a:p>
          <a:p>
            <a:endParaRPr lang="zh-CN" altLang="en-US"/>
          </a:p>
          <a:p>
            <a:r>
              <a:rPr lang="zh-CN" altLang="en-US"/>
              <a:t>其中</a:t>
            </a:r>
            <a:r>
              <a:rPr lang="en-US" altLang="zh-CN"/>
              <a:t>S1</a:t>
            </a:r>
            <a:r>
              <a:rPr lang="zh-CN" altLang="en-US"/>
              <a:t>就是我们枚举得到的子集，</a:t>
            </a:r>
            <a:r>
              <a:rPr lang="en-US" altLang="zh-CN"/>
              <a:t>S2</a:t>
            </a:r>
            <a:r>
              <a:rPr lang="zh-CN" altLang="en-US"/>
              <a:t>是</a:t>
            </a:r>
            <a:r>
              <a:rPr lang="en-US" altLang="zh-CN"/>
              <a:t>S1</a:t>
            </a:r>
            <a:r>
              <a:rPr lang="zh-CN" altLang="en-US"/>
              <a:t>在</a:t>
            </a:r>
            <a:r>
              <a:rPr lang="en-US" altLang="zh-CN"/>
              <a:t>S</a:t>
            </a:r>
            <a:r>
              <a:rPr lang="zh-CN" altLang="en-US"/>
              <a:t>内的补集，即</a:t>
            </a:r>
            <a:r>
              <a:rPr lang="en-US" altLang="zh-CN"/>
              <a:t>S1∪S2=S</a:t>
            </a:r>
            <a:endParaRPr lang="en-US" altLang="zh-CN"/>
          </a:p>
          <a:p>
            <a:endParaRPr lang="en-US" altLang="zh-CN"/>
          </a:p>
          <a:p>
            <a:endParaRPr lang="zh-CN"/>
          </a:p>
          <a:p>
            <a:endParaRPr lang="zh-CN"/>
          </a:p>
          <a:p>
            <a:endParaRPr lang="zh-CN"/>
          </a:p>
          <a:p>
            <a:endParaRPr lang="zh-CN"/>
          </a:p>
          <a:p>
            <a:endParaRPr lang="zh-CN"/>
          </a:p>
          <a:p>
            <a:endParaRPr lang="zh-CN"/>
          </a:p>
          <a:p>
            <a:endParaRPr lang="zh-CN"/>
          </a:p>
          <a:p>
            <a:endParaRPr lang="zh-CN"/>
          </a:p>
          <a:p>
            <a:endParaRPr lang="zh-CN"/>
          </a:p>
          <a:p>
            <a:endParaRPr lang="zh-CN"/>
          </a:p>
          <a:p>
            <a:endParaRPr lang="zh-CN"/>
          </a:p>
          <a:p>
            <a:endParaRPr lang="zh-CN"/>
          </a:p>
          <a:p>
            <a:endParaRPr lang="en-US"/>
          </a:p>
          <a:p/>
          <a:p>
            <a:endParaRPr lang="zh-CN" altLang="en-US">
              <a:sym typeface="+mn-ea"/>
            </a:endParaRPr>
          </a:p>
        </p:txBody>
      </p:sp>
      <p:pic>
        <p:nvPicPr>
          <p:cNvPr id="2" name="图片 1"/>
          <p:cNvPicPr>
            <a:picLocks noChangeAspect="1"/>
          </p:cNvPicPr>
          <p:nvPr/>
        </p:nvPicPr>
        <p:blipFill>
          <a:blip r:embed="rId2"/>
          <a:stretch>
            <a:fillRect/>
          </a:stretch>
        </p:blipFill>
        <p:spPr>
          <a:xfrm>
            <a:off x="3512820" y="4302125"/>
            <a:ext cx="2524125" cy="666750"/>
          </a:xfrm>
          <a:prstGeom prst="rect">
            <a:avLst/>
          </a:prstGeom>
        </p:spPr>
      </p:pic>
      <p:pic>
        <p:nvPicPr>
          <p:cNvPr id="4" name="图片 3"/>
          <p:cNvPicPr>
            <a:picLocks noChangeAspect="1"/>
          </p:cNvPicPr>
          <p:nvPr/>
        </p:nvPicPr>
        <p:blipFill>
          <a:blip r:embed="rId3"/>
          <a:stretch>
            <a:fillRect/>
          </a:stretch>
        </p:blipFill>
        <p:spPr>
          <a:xfrm>
            <a:off x="847090" y="5530215"/>
            <a:ext cx="6638925" cy="781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r>
              <a:rPr lang="zh-CN">
                <a:sym typeface="+mn-ea"/>
              </a:rPr>
              <a:t>前置知识：</a:t>
            </a:r>
            <a:r>
              <a:t>一些常见的二进制位的变换操作</a:t>
            </a:r>
            <a:r>
              <a:rPr lang="zh-CN"/>
              <a:t>（</a:t>
            </a:r>
            <a:r>
              <a:rPr lang="zh-CN"/>
              <a:t>了解即可）</a:t>
            </a:r>
            <a:r>
              <a:rPr lang="en-US"/>
              <a:t>:</a:t>
            </a:r>
            <a:endParaRPr lang="en-US"/>
          </a:p>
          <a:p>
            <a:endParaRPr lang="zh-CN" altLang="en-US">
              <a:sym typeface="+mn-ea"/>
            </a:endParaRPr>
          </a:p>
        </p:txBody>
      </p:sp>
      <p:pic>
        <p:nvPicPr>
          <p:cNvPr id="4" name="图片 3"/>
          <p:cNvPicPr>
            <a:picLocks noChangeAspect="1"/>
          </p:cNvPicPr>
          <p:nvPr>
            <p:custDataLst>
              <p:tags r:id="rId2"/>
            </p:custDataLst>
          </p:nvPr>
        </p:nvPicPr>
        <p:blipFill>
          <a:blip r:embed="rId3"/>
          <a:stretch>
            <a:fillRect/>
          </a:stretch>
        </p:blipFill>
        <p:spPr>
          <a:xfrm>
            <a:off x="2599690" y="826135"/>
            <a:ext cx="6616700" cy="56667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r>
              <a:t>状态压缩就是使用某种方法，简明扼要地以最小代价来表示某种状态，</a:t>
            </a:r>
            <a:r>
              <a:rPr>
                <a:solidFill>
                  <a:srgbClr val="FF0000"/>
                </a:solidFill>
              </a:rPr>
              <a:t>通常是用一串01数字（二进制数）来表示各个点的状态</a:t>
            </a:r>
            <a:r>
              <a:t>。这就要求使用状态压缩的对象的点的状态必须只有两种，0 或 1；状压状压，就是把一种状态压缩成一个数，达到节省空间的目的；</a:t>
            </a:r>
          </a:p>
          <a:p/>
          <a:p>
            <a:r>
              <a:t>使用条件</a:t>
            </a:r>
            <a:r>
              <a:t>：</a:t>
            </a:r>
          </a:p>
          <a:p>
            <a:r>
              <a:t>从问题类型一般分为：</a:t>
            </a:r>
            <a:r>
              <a:rPr>
                <a:solidFill>
                  <a:srgbClr val="FF0000"/>
                </a:solidFill>
              </a:rPr>
              <a:t>棋盘类问题</a:t>
            </a:r>
            <a:r>
              <a:t>（连通性问题）、</a:t>
            </a:r>
            <a:r>
              <a:rPr>
                <a:solidFill>
                  <a:srgbClr val="FF0000"/>
                </a:solidFill>
              </a:rPr>
              <a:t>集合类问题</a:t>
            </a:r>
            <a:r>
              <a:rPr lang="zh-CN">
                <a:solidFill>
                  <a:schemeClr val="tx1"/>
                </a:solidFill>
              </a:rPr>
              <a:t>等等</a:t>
            </a:r>
            <a:endParaRPr>
              <a:solidFill>
                <a:srgbClr val="FF0000"/>
              </a:solidFill>
            </a:endParaRPr>
          </a:p>
          <a:p>
            <a:r>
              <a:t>从状态压缩的特点来看，这个算法适用的题目符合以下的条件：</a:t>
            </a:r>
          </a:p>
          <a:p/>
          <a:p>
            <a:r>
              <a:t>（1</a:t>
            </a:r>
            <a:r>
              <a:t>）解法需要保存一定的状态数据（表示一种状态的一个数据值），每个状态数据通常情况下是可以通过2进制来表示的。这就要求状态数据的每个单元只有两种状态，比如说棋盘上的格子，放棋子或者不放，或者是硬币的正反两面。这样用0或者1来表示状态数据的每个单元，而整个状态数据就是一个一串0和1组成的二进制数。</a:t>
            </a:r>
          </a:p>
          <a:p>
            <a:r>
              <a:t>（2）解法需要将状态数据实现为一个基本数据类型，比如int，long等等，即所谓的状态压缩。状态压缩的目的一方面是缩小了数据存储的空间，另一方面是在状态对比和状态整体处理时能够提高效率。这样就要求状态数据中的单元个数不能太大，比如用int来表示一个状态的时候，状态的单元个数不能超过</a:t>
            </a:r>
            <a:r>
              <a:rPr lang="en-US"/>
              <a:t>64</a:t>
            </a:r>
            <a:r>
              <a:t>（</a:t>
            </a:r>
            <a:r>
              <a:rPr lang="en-US"/>
              <a:t>64</a:t>
            </a:r>
            <a:r>
              <a:t>位的机器），所以题目一般都是至少有一维的数据范围很小。</a:t>
            </a:r>
          </a:p>
          <a:p>
            <a:endParaRPr>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21105" y="325755"/>
            <a:ext cx="8776970" cy="894715"/>
          </a:xfrm>
          <a:prstGeom prst="rect">
            <a:avLst/>
          </a:prstGeom>
          <a:noFill/>
        </p:spPr>
        <p:txBody>
          <a:bodyPr wrap="square" rtlCol="0">
            <a:noAutofit/>
          </a:bodyPr>
          <a:p>
            <a:r>
              <a:rPr>
                <a:sym typeface="+mn-ea"/>
              </a:rPr>
              <a:t>https://www.luogu.com.cn/problem/P1896</a:t>
            </a:r>
            <a:endParaRPr>
              <a:sym typeface="+mn-ea"/>
            </a:endParaRPr>
          </a:p>
          <a:p>
            <a:r>
              <a:rPr lang="zh-CN" altLang="en-US">
                <a:sym typeface="+mn-ea"/>
              </a:rPr>
              <a:t>在一个 n∗n 的图中选 k 个点，使得以每个点为中心的九宫格内有且只有它一个点，问方案数</a:t>
            </a:r>
            <a:endParaRPr>
              <a:sym typeface="+mn-ea"/>
            </a:endParaRPr>
          </a:p>
          <a:p>
            <a:endParaRPr>
              <a:sym typeface="+mn-ea"/>
            </a:endParaRPr>
          </a:p>
          <a:p>
            <a:endParaRPr>
              <a:sym typeface="+mn-ea"/>
            </a:endParaRPr>
          </a:p>
        </p:txBody>
      </p:sp>
      <p:sp>
        <p:nvSpPr>
          <p:cNvPr id="3" name="文本框 2"/>
          <p:cNvSpPr txBox="1"/>
          <p:nvPr/>
        </p:nvSpPr>
        <p:spPr>
          <a:xfrm>
            <a:off x="1155065" y="1220470"/>
            <a:ext cx="10053320" cy="5046980"/>
          </a:xfrm>
          <a:prstGeom prst="rect">
            <a:avLst/>
          </a:prstGeom>
          <a:noFill/>
        </p:spPr>
        <p:txBody>
          <a:bodyPr wrap="square" rtlCol="0">
            <a:noAutofit/>
          </a:bodyPr>
          <a:p>
            <a:r>
              <a:rPr lang="zh-CN" altLang="en-US"/>
              <a:t>思路：</a:t>
            </a:r>
            <a:endParaRPr lang="zh-CN" altLang="en-US"/>
          </a:p>
          <a:p>
            <a:r>
              <a:rPr lang="zh-CN" altLang="en-US"/>
              <a:t>假设我们有一行是这样放的国王（红色位置表示放国王）：</a:t>
            </a:r>
            <a:endParaRPr lang="zh-CN" altLang="en-US"/>
          </a:p>
          <a:p>
            <a:endParaRPr lang="zh-CN" altLang="en-US"/>
          </a:p>
          <a:p>
            <a:r>
              <a:rPr lang="zh-CN" altLang="en-US"/>
              <a:t>正常</a:t>
            </a:r>
            <a:r>
              <a:rPr lang="zh-CN" altLang="en-US"/>
              <a:t>情况下我们可以开一个一维数组 f[i] 表示第 i 个位置有没有放上国王。</a:t>
            </a:r>
            <a:endParaRPr lang="zh-CN" altLang="en-US"/>
          </a:p>
          <a:p>
            <a:r>
              <a:rPr lang="zh-CN" altLang="en-US"/>
              <a:t>但是费空间，每个格子只有两种状态：放国王 和 不放国王 ，所以我们可以用 1 表示放国王，0 表示不放国王；那么把每个格子的数连起来就是：</a:t>
            </a:r>
            <a:endParaRPr lang="zh-CN" altLang="en-US"/>
          </a:p>
          <a:p>
            <a:endParaRPr lang="zh-CN" altLang="en-US"/>
          </a:p>
          <a:p>
            <a:endParaRPr lang="zh-CN" altLang="en-US"/>
          </a:p>
          <a:p>
            <a:endParaRPr lang="zh-CN" altLang="en-US"/>
          </a:p>
          <a:p>
            <a:endParaRPr lang="zh-CN" altLang="en-US"/>
          </a:p>
          <a:p>
            <a:endParaRPr lang="zh-CN" altLang="en-US"/>
          </a:p>
          <a:p>
            <a:r>
              <a:rPr lang="zh-CN" altLang="en-US"/>
              <a:t>看成二进制数：</a:t>
            </a:r>
            <a:r>
              <a:rPr lang="en-US" altLang="zh-CN"/>
              <a:t>101001</a:t>
            </a:r>
            <a:r>
              <a:rPr lang="zh-CN" altLang="en-US"/>
              <a:t>，即</a:t>
            </a:r>
            <a:r>
              <a:rPr lang="en-US" altLang="zh-CN"/>
              <a:t> </a:t>
            </a:r>
            <a:r>
              <a:rPr lang="zh-CN" altLang="en-US"/>
              <a:t>十进制的</a:t>
            </a:r>
            <a:r>
              <a:rPr lang="en-US" altLang="zh-CN"/>
              <a:t>41</a:t>
            </a:r>
            <a:r>
              <a:rPr lang="zh-CN" altLang="en-US"/>
              <a:t>。一行的状态范围是二进制的全</a:t>
            </a:r>
            <a:r>
              <a:rPr lang="en-US" altLang="zh-CN"/>
              <a:t>0</a:t>
            </a:r>
            <a:r>
              <a:rPr lang="zh-CN" altLang="en-US"/>
              <a:t>到全</a:t>
            </a:r>
            <a:r>
              <a:rPr lang="en-US" altLang="zh-CN"/>
              <a:t>1</a:t>
            </a:r>
            <a:r>
              <a:rPr lang="zh-CN" altLang="en-US"/>
              <a:t>。</a:t>
            </a:r>
            <a:endParaRPr lang="zh-CN" altLang="en-US"/>
          </a:p>
          <a:p>
            <a:r>
              <a:rPr lang="zh-CN" altLang="en-US"/>
              <a:t>所以状压 dp 的套路就是不断的去枚举表示状态的数，去转移即可。</a:t>
            </a:r>
            <a:endParaRPr lang="zh-CN" altLang="en-US"/>
          </a:p>
          <a:p>
            <a:endParaRPr lang="zh-CN" altLang="en-US"/>
          </a:p>
          <a:p>
            <a:r>
              <a:rPr lang="zh-CN" altLang="en-US"/>
              <a:t>我们可以把一行看成一个状态，每一行状态最多有</a:t>
            </a:r>
            <a:r>
              <a:rPr lang="en-US" altLang="zh-CN"/>
              <a:t> (2^n) </a:t>
            </a:r>
            <a:r>
              <a:rPr lang="zh-CN" altLang="en-US"/>
              <a:t>个。</a:t>
            </a:r>
            <a:endParaRPr lang="zh-CN" altLang="en-US"/>
          </a:p>
          <a:p>
            <a:r>
              <a:rPr lang="zh-CN" altLang="en-US"/>
              <a:t>设总状态：</a:t>
            </a:r>
            <a:r>
              <a:rPr lang="en-US" altLang="zh-CN"/>
              <a:t>dp[i][j][s]=k</a:t>
            </a:r>
            <a:r>
              <a:rPr lang="zh-CN" altLang="en-US"/>
              <a:t>，表示我们已经选到了第 i 行，第 i 行的状态编号为 S（表示状态的编号），共用了 j 个国王</a:t>
            </a:r>
            <a:r>
              <a:rPr lang="zh-CN" altLang="en-US"/>
              <a:t>时的方案数为</a:t>
            </a:r>
            <a:r>
              <a:rPr lang="en-US" altLang="zh-CN"/>
              <a:t>k</a:t>
            </a:r>
            <a:r>
              <a:rPr lang="zh-CN" altLang="en-US"/>
              <a:t>；</a:t>
            </a:r>
            <a:endParaRPr lang="zh-CN" altLang="en-US"/>
          </a:p>
        </p:txBody>
      </p:sp>
      <p:pic>
        <p:nvPicPr>
          <p:cNvPr id="4" name="图片 3"/>
          <p:cNvPicPr>
            <a:picLocks noChangeAspect="1"/>
          </p:cNvPicPr>
          <p:nvPr>
            <p:custDataLst>
              <p:tags r:id="rId1"/>
            </p:custDataLst>
          </p:nvPr>
        </p:nvPicPr>
        <p:blipFill>
          <a:blip r:embed="rId2"/>
          <a:stretch>
            <a:fillRect/>
          </a:stretch>
        </p:blipFill>
        <p:spPr>
          <a:xfrm>
            <a:off x="7334885" y="1307465"/>
            <a:ext cx="3524250" cy="67627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4324350" y="2995295"/>
            <a:ext cx="3543300" cy="8667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993140" y="192405"/>
            <a:ext cx="10215245" cy="6445885"/>
          </a:xfrm>
          <a:prstGeom prst="rect">
            <a:avLst/>
          </a:prstGeom>
          <a:noFill/>
        </p:spPr>
        <p:txBody>
          <a:bodyPr wrap="square" rtlCol="0">
            <a:noAutofit/>
          </a:bodyPr>
          <a:p>
            <a:r>
              <a:rPr lang="zh-CN" altLang="en-US"/>
              <a:t>推理状态转移</a:t>
            </a:r>
            <a:r>
              <a:rPr lang="zh-CN" altLang="en-US"/>
              <a:t>方程：</a:t>
            </a:r>
            <a:endParaRPr lang="zh-CN" altLang="en-US"/>
          </a:p>
          <a:p>
            <a:r>
              <a:rPr lang="zh-CN" altLang="en-US"/>
              <a:t>先看一下限制</a:t>
            </a:r>
            <a:r>
              <a:rPr lang="zh-CN" altLang="en-US"/>
              <a:t>条件：看一下国王的攻击范围（以其为中心的九宫格），红色代表国王位置，蓝色代表它的攻击范围：</a:t>
            </a:r>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endParaRPr lang="zh-CN" altLang="en-US"/>
          </a:p>
          <a:p>
            <a:r>
              <a:rPr lang="zh-CN" altLang="en-US"/>
              <a:t>如果我们第 i−1 行的第 j 列放好国王之后，那么对第 i 行的影响是什么呢？</a:t>
            </a:r>
            <a:endParaRPr lang="zh-CN" altLang="en-US"/>
          </a:p>
          <a:p>
            <a:r>
              <a:rPr lang="en-US" altLang="zh-CN"/>
              <a:t>---</a:t>
            </a:r>
            <a:r>
              <a:rPr lang="zh-CN" altLang="en-US"/>
              <a:t>在第 i 行上的攻击范围内的格子不能再放国王了。</a:t>
            </a:r>
            <a:endParaRPr lang="zh-CN" altLang="en-US"/>
          </a:p>
          <a:p>
            <a:endParaRPr lang="zh-CN" altLang="en-US"/>
          </a:p>
          <a:p>
            <a:r>
              <a:rPr lang="zh-CN" altLang="en-US"/>
              <a:t>即，如果第</a:t>
            </a:r>
            <a:r>
              <a:rPr lang="en-US" altLang="zh-CN"/>
              <a:t>i-1</a:t>
            </a:r>
            <a:r>
              <a:rPr lang="zh-CN" altLang="en-US"/>
              <a:t>行的状态</a:t>
            </a:r>
            <a:r>
              <a:rPr lang="en-US" altLang="zh-CN"/>
              <a:t>S1</a:t>
            </a:r>
            <a:r>
              <a:rPr lang="zh-CN" altLang="en-US"/>
              <a:t>（二进制数）的第</a:t>
            </a:r>
            <a:r>
              <a:rPr lang="en-US" altLang="zh-CN"/>
              <a:t>j</a:t>
            </a:r>
            <a:r>
              <a:rPr lang="zh-CN" altLang="en-US"/>
              <a:t>位是</a:t>
            </a:r>
            <a:r>
              <a:rPr lang="en-US" altLang="zh-CN"/>
              <a:t>1(</a:t>
            </a:r>
            <a:r>
              <a:rPr lang="zh-CN" altLang="en-US"/>
              <a:t>放国王</a:t>
            </a:r>
            <a:r>
              <a:rPr lang="en-US" altLang="zh-CN"/>
              <a:t>)</a:t>
            </a:r>
            <a:r>
              <a:rPr lang="zh-CN" altLang="en-US"/>
              <a:t>时，</a:t>
            </a:r>
            <a:r>
              <a:rPr lang="zh-CN" altLang="en-US">
                <a:sym typeface="+mn-ea"/>
              </a:rPr>
              <a:t>第</a:t>
            </a:r>
            <a:r>
              <a:rPr lang="en-US" altLang="zh-CN">
                <a:sym typeface="+mn-ea"/>
              </a:rPr>
              <a:t>i</a:t>
            </a:r>
            <a:r>
              <a:rPr lang="zh-CN" altLang="en-US">
                <a:sym typeface="+mn-ea"/>
              </a:rPr>
              <a:t>行的状态</a:t>
            </a:r>
            <a:r>
              <a:rPr lang="en-US" altLang="zh-CN">
                <a:sym typeface="+mn-ea"/>
              </a:rPr>
              <a:t>S2</a:t>
            </a:r>
            <a:r>
              <a:rPr lang="zh-CN" altLang="en-US">
                <a:sym typeface="+mn-ea"/>
              </a:rPr>
              <a:t>（二进制数）的第</a:t>
            </a:r>
            <a:r>
              <a:rPr lang="en-US" altLang="zh-CN">
                <a:sym typeface="+mn-ea"/>
              </a:rPr>
              <a:t>j-1</a:t>
            </a:r>
            <a:r>
              <a:rPr lang="zh-CN" altLang="en-US">
                <a:sym typeface="+mn-ea"/>
              </a:rPr>
              <a:t>，</a:t>
            </a:r>
            <a:r>
              <a:rPr lang="en-US" altLang="zh-CN">
                <a:sym typeface="+mn-ea"/>
              </a:rPr>
              <a:t>j</a:t>
            </a:r>
            <a:r>
              <a:rPr lang="zh-CN" altLang="en-US">
                <a:sym typeface="+mn-ea"/>
              </a:rPr>
              <a:t>，</a:t>
            </a:r>
            <a:r>
              <a:rPr lang="en-US" altLang="zh-CN">
                <a:sym typeface="+mn-ea"/>
              </a:rPr>
              <a:t>j+1</a:t>
            </a:r>
            <a:r>
              <a:rPr lang="zh-CN" altLang="en-US">
                <a:sym typeface="+mn-ea"/>
              </a:rPr>
              <a:t>位不能是</a:t>
            </a:r>
            <a:r>
              <a:rPr lang="en-US" altLang="zh-CN">
                <a:sym typeface="+mn-ea"/>
              </a:rPr>
              <a:t>1</a:t>
            </a:r>
            <a:r>
              <a:rPr lang="zh-CN" altLang="en-US">
                <a:sym typeface="+mn-ea"/>
              </a:rPr>
              <a:t>。</a:t>
            </a:r>
            <a:endParaRPr lang="zh-CN" altLang="en-US">
              <a:sym typeface="+mn-ea"/>
            </a:endParaRPr>
          </a:p>
          <a:p>
            <a:endParaRPr lang="zh-CN" altLang="en-US">
              <a:sym typeface="+mn-ea"/>
            </a:endParaRPr>
          </a:p>
          <a:p>
            <a:r>
              <a:rPr lang="zh-CN" altLang="en-US">
                <a:sym typeface="+mn-ea"/>
              </a:rPr>
              <a:t>我们从二进制的角度来</a:t>
            </a:r>
            <a:r>
              <a:rPr lang="zh-CN" altLang="en-US">
                <a:sym typeface="+mn-ea"/>
              </a:rPr>
              <a:t>看一下：</a:t>
            </a:r>
            <a:endParaRPr lang="zh-CN" altLang="en-US">
              <a:sym typeface="+mn-ea"/>
            </a:endParaRPr>
          </a:p>
        </p:txBody>
      </p:sp>
      <p:pic>
        <p:nvPicPr>
          <p:cNvPr id="6" name="图片 5"/>
          <p:cNvPicPr>
            <a:picLocks noChangeAspect="1"/>
          </p:cNvPicPr>
          <p:nvPr>
            <p:custDataLst>
              <p:tags r:id="rId1"/>
            </p:custDataLst>
          </p:nvPr>
        </p:nvPicPr>
        <p:blipFill>
          <a:blip r:embed="rId2"/>
          <a:stretch>
            <a:fillRect/>
          </a:stretch>
        </p:blipFill>
        <p:spPr>
          <a:xfrm>
            <a:off x="1166495" y="1426845"/>
            <a:ext cx="2877185" cy="2586990"/>
          </a:xfrm>
          <a:prstGeom prst="rect">
            <a:avLst/>
          </a:prstGeom>
        </p:spPr>
      </p:pic>
      <p:pic>
        <p:nvPicPr>
          <p:cNvPr id="7" name="图片 6"/>
          <p:cNvPicPr>
            <a:picLocks noChangeAspect="1"/>
          </p:cNvPicPr>
          <p:nvPr>
            <p:custDataLst>
              <p:tags r:id="rId3"/>
            </p:custDataLst>
          </p:nvPr>
        </p:nvPicPr>
        <p:blipFill>
          <a:blip r:embed="rId4"/>
          <a:stretch>
            <a:fillRect/>
          </a:stretch>
        </p:blipFill>
        <p:spPr>
          <a:xfrm>
            <a:off x="6555105" y="1426845"/>
            <a:ext cx="3308350" cy="2743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1094740" y="153670"/>
            <a:ext cx="11164570" cy="6447155"/>
          </a:xfrm>
          <a:prstGeom prst="rect">
            <a:avLst/>
          </a:prstGeom>
          <a:noFill/>
        </p:spPr>
        <p:txBody>
          <a:bodyPr wrap="square" rtlCol="0">
            <a:noAutofit/>
          </a:bodyPr>
          <a:p>
            <a:r>
              <a:rPr lang="zh-CN" altLang="en-US">
                <a:sym typeface="+mn-ea"/>
              </a:rPr>
              <a:t>我们从二进制的角度来看一下：我们现在已知道第</a:t>
            </a:r>
            <a:r>
              <a:rPr lang="en-US" altLang="zh-CN">
                <a:sym typeface="+mn-ea"/>
              </a:rPr>
              <a:t>i-1</a:t>
            </a:r>
            <a:r>
              <a:rPr lang="zh-CN" altLang="en-US">
                <a:sym typeface="+mn-ea"/>
              </a:rPr>
              <a:t>行的状态，决定第</a:t>
            </a:r>
            <a:r>
              <a:rPr lang="en-US" altLang="zh-CN">
                <a:sym typeface="+mn-ea"/>
              </a:rPr>
              <a:t>i</a:t>
            </a:r>
            <a:r>
              <a:rPr lang="zh-CN" altLang="en-US">
                <a:sym typeface="+mn-ea"/>
              </a:rPr>
              <a:t>行的状态</a:t>
            </a:r>
            <a:endParaRPr lang="zh-CN" altLang="en-US">
              <a:sym typeface="+mn-ea"/>
            </a:endParaRPr>
          </a:p>
          <a:p>
            <a:r>
              <a:rPr lang="zh-CN" altLang="en-US">
                <a:sym typeface="+mn-ea"/>
              </a:rPr>
              <a:t>第</a:t>
            </a:r>
            <a:r>
              <a:rPr lang="en-US" altLang="zh-CN">
                <a:sym typeface="+mn-ea"/>
              </a:rPr>
              <a:t>i-1</a:t>
            </a:r>
            <a:r>
              <a:rPr lang="zh-CN" altLang="en-US">
                <a:sym typeface="+mn-ea"/>
              </a:rPr>
              <a:t>行的第</a:t>
            </a:r>
            <a:r>
              <a:rPr lang="en-US" altLang="zh-CN">
                <a:sym typeface="+mn-ea"/>
              </a:rPr>
              <a:t>j</a:t>
            </a:r>
            <a:r>
              <a:rPr lang="zh-CN" altLang="en-US">
                <a:sym typeface="+mn-ea"/>
              </a:rPr>
              <a:t>位有国王</a:t>
            </a:r>
            <a:endParaRPr lang="en-US" altLang="zh-CN">
              <a:sym typeface="+mn-ea"/>
            </a:endParaRPr>
          </a:p>
          <a:p>
            <a:r>
              <a:rPr lang="en-US" altLang="zh-CN">
                <a:sym typeface="+mn-ea"/>
              </a:rPr>
              <a:t>(1)</a:t>
            </a:r>
            <a:r>
              <a:rPr lang="zh-CN" altLang="en-US">
                <a:sym typeface="+mn-ea"/>
              </a:rPr>
              <a:t>正下方：</a:t>
            </a:r>
            <a:endParaRPr lang="zh-CN" altLang="en-US">
              <a:sym typeface="+mn-ea"/>
            </a:endParaRPr>
          </a:p>
          <a:p>
            <a:r>
              <a:rPr lang="en-US" altLang="zh-CN">
                <a:sym typeface="+mn-ea"/>
              </a:rPr>
              <a:t>S1: 1 0 1 0 0 1</a:t>
            </a:r>
            <a:endParaRPr lang="en-US" altLang="zh-CN">
              <a:sym typeface="+mn-ea"/>
            </a:endParaRPr>
          </a:p>
          <a:p>
            <a:r>
              <a:rPr lang="en-US" altLang="zh-CN">
                <a:sym typeface="+mn-ea"/>
              </a:rPr>
              <a:t>S2: * * </a:t>
            </a:r>
            <a:r>
              <a:rPr lang="en-US" altLang="zh-CN">
                <a:solidFill>
                  <a:srgbClr val="FF0000"/>
                </a:solidFill>
                <a:sym typeface="+mn-ea"/>
              </a:rPr>
              <a:t>1</a:t>
            </a:r>
            <a:r>
              <a:rPr lang="en-US" altLang="zh-CN">
                <a:sym typeface="+mn-ea"/>
              </a:rPr>
              <a:t> * * *</a:t>
            </a:r>
            <a:endParaRPr lang="en-US" altLang="zh-CN">
              <a:sym typeface="+mn-ea"/>
            </a:endParaRPr>
          </a:p>
          <a:p>
            <a:r>
              <a:rPr lang="zh-CN" altLang="en-US">
                <a:sym typeface="+mn-ea"/>
              </a:rPr>
              <a:t>显然此时不合法。但是怎么通过位运算判断</a:t>
            </a:r>
            <a:r>
              <a:rPr lang="zh-CN" altLang="en-US">
                <a:sym typeface="+mn-ea"/>
              </a:rPr>
              <a:t>呢？</a:t>
            </a:r>
            <a:endParaRPr lang="zh-CN" altLang="en-US">
              <a:sym typeface="+mn-ea"/>
            </a:endParaRPr>
          </a:p>
          <a:p>
            <a:r>
              <a:rPr lang="zh-CN" altLang="en-US">
                <a:sym typeface="+mn-ea"/>
              </a:rPr>
              <a:t>我们发现此时</a:t>
            </a:r>
            <a:r>
              <a:rPr lang="en-US" altLang="zh-CN">
                <a:sym typeface="+mn-ea"/>
              </a:rPr>
              <a:t> S1&amp;S2 !=0</a:t>
            </a:r>
            <a:endParaRPr lang="en-US" altLang="zh-CN">
              <a:sym typeface="+mn-ea"/>
            </a:endParaRPr>
          </a:p>
          <a:p>
            <a:r>
              <a:rPr lang="zh-CN" altLang="en-US">
                <a:sym typeface="+mn-ea"/>
              </a:rPr>
              <a:t>反之若要合法，红色位置的</a:t>
            </a:r>
            <a:r>
              <a:rPr lang="en-US" altLang="zh-CN">
                <a:sym typeface="+mn-ea"/>
              </a:rPr>
              <a:t>1</a:t>
            </a:r>
            <a:r>
              <a:rPr lang="zh-CN" altLang="en-US">
                <a:sym typeface="+mn-ea"/>
              </a:rPr>
              <a:t>得是</a:t>
            </a:r>
            <a:r>
              <a:rPr lang="en-US" altLang="zh-CN">
                <a:sym typeface="+mn-ea"/>
              </a:rPr>
              <a:t>0</a:t>
            </a:r>
            <a:r>
              <a:rPr lang="zh-CN" altLang="en-US">
                <a:sym typeface="+mn-ea"/>
              </a:rPr>
              <a:t>，要求</a:t>
            </a:r>
            <a:r>
              <a:rPr lang="en-US" altLang="zh-CN">
                <a:sym typeface="+mn-ea"/>
              </a:rPr>
              <a:t> </a:t>
            </a:r>
            <a:r>
              <a:rPr lang="en-US" altLang="zh-CN">
                <a:sym typeface="+mn-ea"/>
              </a:rPr>
              <a:t>S1&amp;S2 ==0</a:t>
            </a:r>
            <a:endParaRPr lang="en-US" altLang="zh-CN">
              <a:sym typeface="+mn-ea"/>
            </a:endParaRPr>
          </a:p>
          <a:p>
            <a:endParaRPr lang="en-US" altLang="zh-CN">
              <a:sym typeface="+mn-ea"/>
            </a:endParaRPr>
          </a:p>
          <a:p>
            <a:r>
              <a:rPr lang="en-US" altLang="zh-CN">
                <a:sym typeface="+mn-ea"/>
              </a:rPr>
              <a:t>(2)</a:t>
            </a:r>
            <a:r>
              <a:rPr lang="zh-CN" altLang="en-US">
                <a:sym typeface="+mn-ea"/>
              </a:rPr>
              <a:t>右下方：</a:t>
            </a:r>
            <a:endParaRPr lang="zh-CN" altLang="en-US">
              <a:sym typeface="+mn-ea"/>
            </a:endParaRPr>
          </a:p>
          <a:p>
            <a:r>
              <a:rPr lang="en-US" altLang="zh-CN">
                <a:sym typeface="+mn-ea"/>
              </a:rPr>
              <a:t>S1: 1 0 1 0 0 1</a:t>
            </a:r>
            <a:endParaRPr lang="en-US" altLang="zh-CN">
              <a:sym typeface="+mn-ea"/>
            </a:endParaRPr>
          </a:p>
          <a:p>
            <a:r>
              <a:rPr lang="en-US" altLang="zh-CN">
                <a:sym typeface="+mn-ea"/>
              </a:rPr>
              <a:t>S2: * * </a:t>
            </a:r>
            <a:r>
              <a:rPr lang="en-US" altLang="zh-CN">
                <a:solidFill>
                  <a:schemeClr val="tx1"/>
                </a:solidFill>
                <a:sym typeface="+mn-ea"/>
              </a:rPr>
              <a:t>*</a:t>
            </a:r>
            <a:r>
              <a:rPr lang="en-US" altLang="zh-CN">
                <a:sym typeface="+mn-ea"/>
              </a:rPr>
              <a:t> </a:t>
            </a:r>
            <a:r>
              <a:rPr lang="en-US" altLang="zh-CN">
                <a:solidFill>
                  <a:srgbClr val="FF0000"/>
                </a:solidFill>
                <a:sym typeface="+mn-ea"/>
              </a:rPr>
              <a:t>1</a:t>
            </a:r>
            <a:r>
              <a:rPr lang="en-US" altLang="zh-CN">
                <a:sym typeface="+mn-ea"/>
              </a:rPr>
              <a:t> * *</a:t>
            </a:r>
            <a:endParaRPr lang="en-US" altLang="zh-CN">
              <a:sym typeface="+mn-ea"/>
            </a:endParaRPr>
          </a:p>
          <a:p>
            <a:r>
              <a:rPr lang="zh-CN" altLang="en-US">
                <a:sym typeface="+mn-ea"/>
              </a:rPr>
              <a:t>显然此时不合法。但是怎么通过位运算判断呢？</a:t>
            </a:r>
            <a:endParaRPr lang="zh-CN" altLang="en-US">
              <a:sym typeface="+mn-ea"/>
            </a:endParaRPr>
          </a:p>
          <a:p>
            <a:r>
              <a:rPr lang="zh-CN" altLang="en-US">
                <a:sym typeface="+mn-ea"/>
              </a:rPr>
              <a:t>我们发现此时</a:t>
            </a:r>
            <a:r>
              <a:rPr lang="en-US" altLang="zh-CN">
                <a:sym typeface="+mn-ea"/>
              </a:rPr>
              <a:t> </a:t>
            </a:r>
            <a:r>
              <a:rPr lang="zh-CN" altLang="en-US">
                <a:sym typeface="+mn-ea"/>
              </a:rPr>
              <a:t>可以先将</a:t>
            </a:r>
            <a:r>
              <a:rPr lang="en-US" altLang="zh-CN">
                <a:sym typeface="+mn-ea"/>
              </a:rPr>
              <a:t>S2</a:t>
            </a:r>
            <a:r>
              <a:rPr lang="zh-CN" altLang="en-US">
                <a:sym typeface="+mn-ea"/>
              </a:rPr>
              <a:t>左移一位，和上一行第</a:t>
            </a:r>
            <a:r>
              <a:rPr lang="en-US" altLang="zh-CN">
                <a:sym typeface="+mn-ea"/>
              </a:rPr>
              <a:t>j</a:t>
            </a:r>
            <a:r>
              <a:rPr lang="zh-CN" altLang="en-US">
                <a:sym typeface="+mn-ea"/>
              </a:rPr>
              <a:t>列的国王对齐：</a:t>
            </a:r>
            <a:r>
              <a:rPr lang="en-US" altLang="zh-CN">
                <a:sym typeface="+mn-ea"/>
              </a:rPr>
              <a:t>S2=S2&lt;&lt;1:</a:t>
            </a:r>
            <a:endParaRPr lang="en-US" altLang="zh-CN">
              <a:sym typeface="+mn-ea"/>
            </a:endParaRPr>
          </a:p>
          <a:p>
            <a:r>
              <a:rPr lang="en-US" altLang="zh-CN">
                <a:sym typeface="+mn-ea"/>
              </a:rPr>
              <a:t>S1: 1 0 1 0 0 1</a:t>
            </a:r>
            <a:endParaRPr lang="en-US" altLang="zh-CN">
              <a:sym typeface="+mn-ea"/>
            </a:endParaRPr>
          </a:p>
          <a:p>
            <a:r>
              <a:rPr lang="en-US" altLang="zh-CN">
                <a:sym typeface="+mn-ea"/>
              </a:rPr>
              <a:t>S2: * * </a:t>
            </a:r>
            <a:r>
              <a:rPr lang="en-US" altLang="zh-CN">
                <a:solidFill>
                  <a:srgbClr val="FF0000"/>
                </a:solidFill>
                <a:sym typeface="+mn-ea"/>
              </a:rPr>
              <a:t>1</a:t>
            </a:r>
            <a:r>
              <a:rPr lang="en-US" altLang="zh-CN">
                <a:sym typeface="+mn-ea"/>
              </a:rPr>
              <a:t> * * 0</a:t>
            </a:r>
            <a:endParaRPr lang="en-US" altLang="zh-CN">
              <a:sym typeface="+mn-ea"/>
            </a:endParaRPr>
          </a:p>
          <a:p>
            <a:r>
              <a:rPr lang="zh-CN" altLang="en-US">
                <a:sym typeface="+mn-ea"/>
              </a:rPr>
              <a:t>我们发现此时</a:t>
            </a:r>
            <a:r>
              <a:rPr lang="en-US" altLang="zh-CN">
                <a:sym typeface="+mn-ea"/>
              </a:rPr>
              <a:t> S1&amp;S2 !=0</a:t>
            </a:r>
            <a:endParaRPr lang="en-US" altLang="zh-CN">
              <a:sym typeface="+mn-ea"/>
            </a:endParaRPr>
          </a:p>
          <a:p>
            <a:r>
              <a:rPr lang="zh-CN" altLang="en-US">
                <a:sym typeface="+mn-ea"/>
              </a:rPr>
              <a:t>合起来：（</a:t>
            </a:r>
            <a:r>
              <a:rPr lang="en-US" altLang="zh-CN">
                <a:sym typeface="+mn-ea"/>
              </a:rPr>
              <a:t>S2&lt;&lt;1</a:t>
            </a:r>
            <a:r>
              <a:rPr lang="zh-CN" altLang="en-US">
                <a:sym typeface="+mn-ea"/>
              </a:rPr>
              <a:t>）</a:t>
            </a:r>
            <a:r>
              <a:rPr lang="en-US" altLang="zh-CN">
                <a:sym typeface="+mn-ea"/>
              </a:rPr>
              <a:t>&amp;S1!=0</a:t>
            </a:r>
            <a:endParaRPr lang="en-US" altLang="zh-CN">
              <a:sym typeface="+mn-ea"/>
            </a:endParaRPr>
          </a:p>
          <a:p>
            <a:r>
              <a:rPr lang="zh-CN" altLang="en-US">
                <a:sym typeface="+mn-ea"/>
              </a:rPr>
              <a:t>反之若要合法，红色位置的</a:t>
            </a:r>
            <a:r>
              <a:rPr lang="en-US" altLang="zh-CN">
                <a:sym typeface="+mn-ea"/>
              </a:rPr>
              <a:t>1</a:t>
            </a:r>
            <a:r>
              <a:rPr lang="zh-CN" altLang="en-US">
                <a:sym typeface="+mn-ea"/>
              </a:rPr>
              <a:t>得是</a:t>
            </a:r>
            <a:r>
              <a:rPr lang="en-US" altLang="zh-CN">
                <a:sym typeface="+mn-ea"/>
              </a:rPr>
              <a:t>0</a:t>
            </a:r>
            <a:r>
              <a:rPr lang="zh-CN" altLang="en-US">
                <a:sym typeface="+mn-ea"/>
              </a:rPr>
              <a:t>，要求</a:t>
            </a:r>
            <a:r>
              <a:rPr lang="en-US" altLang="zh-CN">
                <a:sym typeface="+mn-ea"/>
              </a:rPr>
              <a:t> </a:t>
            </a:r>
            <a:r>
              <a:rPr lang="zh-CN" altLang="en-US">
                <a:sym typeface="+mn-ea"/>
              </a:rPr>
              <a:t>（</a:t>
            </a:r>
            <a:r>
              <a:rPr lang="en-US" altLang="zh-CN">
                <a:sym typeface="+mn-ea"/>
              </a:rPr>
              <a:t>S2&lt;&lt;1</a:t>
            </a:r>
            <a:r>
              <a:rPr lang="zh-CN" altLang="en-US">
                <a:sym typeface="+mn-ea"/>
              </a:rPr>
              <a:t>）</a:t>
            </a:r>
            <a:r>
              <a:rPr lang="en-US" altLang="zh-CN">
                <a:sym typeface="+mn-ea"/>
              </a:rPr>
              <a:t>&amp;S1==0</a:t>
            </a:r>
            <a:endParaRPr lang="en-US" altLang="zh-CN">
              <a:sym typeface="+mn-ea"/>
            </a:endParaRPr>
          </a:p>
          <a:p>
            <a:endParaRPr lang="zh-CN" altLang="en-US">
              <a:sym typeface="+mn-ea"/>
            </a:endParaRPr>
          </a:p>
          <a:p>
            <a:r>
              <a:rPr lang="en-US" altLang="zh-CN">
                <a:sym typeface="+mn-ea"/>
              </a:rPr>
              <a:t>(3)</a:t>
            </a:r>
            <a:r>
              <a:rPr lang="zh-CN" altLang="en-US">
                <a:sym typeface="+mn-ea"/>
              </a:rPr>
              <a:t>左下方：同理，右移</a:t>
            </a:r>
            <a:r>
              <a:rPr lang="zh-CN" altLang="en-US">
                <a:sym typeface="+mn-ea"/>
              </a:rPr>
              <a:t>一位</a:t>
            </a:r>
            <a:endParaRPr lang="zh-CN" altLang="en-US">
              <a:sym typeface="+mn-ea"/>
            </a:endParaRPr>
          </a:p>
          <a:p>
            <a:r>
              <a:rPr lang="zh-CN" altLang="en-US">
                <a:sym typeface="+mn-ea"/>
              </a:rPr>
              <a:t>（</a:t>
            </a:r>
            <a:r>
              <a:rPr lang="en-US" altLang="zh-CN">
                <a:sym typeface="+mn-ea"/>
              </a:rPr>
              <a:t>S2&gt;&gt;1</a:t>
            </a:r>
            <a:r>
              <a:rPr lang="zh-CN" altLang="en-US">
                <a:sym typeface="+mn-ea"/>
              </a:rPr>
              <a:t>）</a:t>
            </a:r>
            <a:r>
              <a:rPr lang="en-US" altLang="zh-CN">
                <a:sym typeface="+mn-ea"/>
              </a:rPr>
              <a:t>&amp;S1!=0</a:t>
            </a:r>
            <a:endParaRPr lang="en-US" altLang="zh-CN">
              <a:sym typeface="+mn-ea"/>
            </a:endParaRPr>
          </a:p>
          <a:p>
            <a:r>
              <a:rPr lang="zh-CN" altLang="en-US">
                <a:sym typeface="+mn-ea"/>
              </a:rPr>
              <a:t>若要合法，红色位置的</a:t>
            </a:r>
            <a:r>
              <a:rPr lang="en-US" altLang="zh-CN">
                <a:sym typeface="+mn-ea"/>
              </a:rPr>
              <a:t>1</a:t>
            </a:r>
            <a:r>
              <a:rPr lang="zh-CN" altLang="en-US">
                <a:sym typeface="+mn-ea"/>
              </a:rPr>
              <a:t>得是</a:t>
            </a:r>
            <a:r>
              <a:rPr lang="en-US" altLang="zh-CN">
                <a:sym typeface="+mn-ea"/>
              </a:rPr>
              <a:t>0</a:t>
            </a:r>
            <a:r>
              <a:rPr lang="zh-CN" altLang="en-US">
                <a:sym typeface="+mn-ea"/>
              </a:rPr>
              <a:t>，要求</a:t>
            </a:r>
            <a:r>
              <a:rPr lang="en-US" altLang="zh-CN">
                <a:sym typeface="+mn-ea"/>
              </a:rPr>
              <a:t> </a:t>
            </a:r>
            <a:r>
              <a:rPr lang="zh-CN" altLang="en-US">
                <a:sym typeface="+mn-ea"/>
              </a:rPr>
              <a:t>（</a:t>
            </a:r>
            <a:r>
              <a:rPr lang="en-US" altLang="zh-CN">
                <a:sym typeface="+mn-ea"/>
              </a:rPr>
              <a:t>S2&gt;&gt;1</a:t>
            </a:r>
            <a:r>
              <a:rPr lang="zh-CN" altLang="en-US">
                <a:sym typeface="+mn-ea"/>
              </a:rPr>
              <a:t>）</a:t>
            </a:r>
            <a:r>
              <a:rPr lang="en-US" altLang="zh-CN">
                <a:sym typeface="+mn-ea"/>
              </a:rPr>
              <a:t>&amp;S1==0</a:t>
            </a:r>
            <a:endParaRPr lang="en-US" altLang="zh-CN">
              <a:sym typeface="+mn-ea"/>
            </a:endParaRPr>
          </a:p>
          <a:p>
            <a:endParaRPr lang="zh-CN" altLang="en-US">
              <a:sym typeface="+mn-ea"/>
            </a:endParaRPr>
          </a:p>
          <a:p/>
          <a:p>
            <a:endParaRPr lang="zh-CN" altLang="en-US">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pPr algn="l">
              <a:buClrTx/>
              <a:buSzTx/>
              <a:buFontTx/>
            </a:pPr>
            <a:r>
              <a:rPr lang="zh-CN"/>
              <a:t>所以我们就得出了表示这三个位置的方法，那么S2必须满足什么条件才可能由 S1转移过去呢？</a:t>
            </a:r>
            <a:endParaRPr lang="zh-CN"/>
          </a:p>
          <a:p>
            <a:pPr algn="l">
              <a:buClrTx/>
              <a:buSzTx/>
              <a:buFontTx/>
            </a:pPr>
            <a:endParaRPr lang="zh-CN"/>
          </a:p>
          <a:p>
            <a:pPr algn="l">
              <a:buClrTx/>
              <a:buSzTx/>
              <a:buFontTx/>
            </a:pPr>
            <a:endParaRPr lang="zh-CN"/>
          </a:p>
          <a:p>
            <a:pPr algn="l">
              <a:buClrTx/>
              <a:buSzTx/>
              <a:buFontTx/>
            </a:pPr>
            <a:endParaRPr lang="zh-CN"/>
          </a:p>
          <a:p>
            <a:pPr algn="l">
              <a:buClrTx/>
              <a:buSzTx/>
              <a:buFontTx/>
            </a:pPr>
            <a:r>
              <a:rPr lang="zh-CN"/>
              <a:t>简化：</a:t>
            </a:r>
            <a:endParaRPr lang="zh-CN"/>
          </a:p>
          <a:p>
            <a:pPr algn="l">
              <a:buClrTx/>
              <a:buSzTx/>
              <a:buFontTx/>
            </a:pPr>
          </a:p>
          <a:p>
            <a:pPr algn="l">
              <a:buClrTx/>
              <a:buSzTx/>
              <a:buFontTx/>
            </a:pPr>
            <a:r>
              <a:rPr lang="zh-CN"/>
              <a:t>行与行之间的状态转移结束。</a:t>
            </a:r>
            <a:endParaRPr lang="zh-CN"/>
          </a:p>
          <a:p>
            <a:pPr algn="l">
              <a:buClrTx/>
              <a:buSzTx/>
              <a:buFontTx/>
            </a:pPr>
            <a:endParaRPr lang="zh-CN"/>
          </a:p>
          <a:p>
            <a:pPr algn="l">
              <a:buClrTx/>
              <a:buSzTx/>
              <a:buFontTx/>
            </a:pPr>
            <a:r>
              <a:rPr lang="zh-CN"/>
              <a:t>再看行内：一个国王的左右格子内不能再放国王了，这就是行内的限制！</a:t>
            </a:r>
            <a:endParaRPr lang="zh-CN"/>
          </a:p>
          <a:p>
            <a:pPr algn="l">
              <a:buClrTx/>
              <a:buSzTx/>
              <a:buFontTx/>
            </a:pPr>
            <a:endParaRPr lang="zh-CN"/>
          </a:p>
          <a:p>
            <a:pPr algn="l">
              <a:buClrTx/>
              <a:buSzTx/>
              <a:buFontTx/>
            </a:pPr>
            <a:r>
              <a:rPr lang="en-US" altLang="zh-CN"/>
              <a:t>(1)判断左边有没有国王</a:t>
            </a:r>
            <a:endParaRPr lang="en-US" altLang="zh-CN"/>
          </a:p>
          <a:p>
            <a:pPr algn="l">
              <a:buClrTx/>
              <a:buSzTx/>
              <a:buFontTx/>
            </a:pPr>
            <a:r>
              <a:rPr lang="en-US" altLang="zh-CN">
                <a:sym typeface="+mn-ea"/>
              </a:rPr>
              <a:t>S2: 1 </a:t>
            </a:r>
            <a:r>
              <a:rPr lang="en-US" altLang="zh-CN">
                <a:solidFill>
                  <a:srgbClr val="FF0000"/>
                </a:solidFill>
                <a:sym typeface="+mn-ea"/>
              </a:rPr>
              <a:t>*</a:t>
            </a:r>
            <a:r>
              <a:rPr lang="en-US" altLang="zh-CN">
                <a:sym typeface="+mn-ea"/>
              </a:rPr>
              <a:t> 1 0 0 1</a:t>
            </a:r>
            <a:endParaRPr lang="en-US" altLang="zh-CN">
              <a:sym typeface="+mn-ea"/>
            </a:endParaRPr>
          </a:p>
          <a:p>
            <a:pPr algn="l">
              <a:buClrTx/>
              <a:buSzTx/>
              <a:buFontTx/>
            </a:pPr>
            <a:r>
              <a:rPr lang="en-US" altLang="zh-CN">
                <a:sym typeface="+mn-ea"/>
              </a:rPr>
              <a:t>S2: 0 1</a:t>
            </a:r>
            <a:r>
              <a:rPr lang="en-US" altLang="zh-CN">
                <a:solidFill>
                  <a:srgbClr val="FF0000"/>
                </a:solidFill>
                <a:sym typeface="+mn-ea"/>
              </a:rPr>
              <a:t> *</a:t>
            </a:r>
            <a:r>
              <a:rPr lang="en-US" altLang="zh-CN">
                <a:sym typeface="+mn-ea"/>
              </a:rPr>
              <a:t> 1 0 0 </a:t>
            </a:r>
            <a:r>
              <a:rPr lang="zh-CN" altLang="en-US">
                <a:sym typeface="+mn-ea"/>
              </a:rPr>
              <a:t>（</a:t>
            </a:r>
            <a:r>
              <a:rPr lang="zh-CN" altLang="en-US">
                <a:sym typeface="+mn-ea"/>
              </a:rPr>
              <a:t>右移移动</a:t>
            </a:r>
            <a:r>
              <a:rPr lang="zh-CN" altLang="en-US">
                <a:sym typeface="+mn-ea"/>
              </a:rPr>
              <a:t>一位）</a:t>
            </a:r>
            <a:endParaRPr lang="zh-CN" altLang="en-US">
              <a:sym typeface="+mn-ea"/>
            </a:endParaRPr>
          </a:p>
          <a:p>
            <a:pPr algn="l">
              <a:buClrTx/>
              <a:buSzTx/>
              <a:buFontTx/>
            </a:pPr>
            <a:r>
              <a:rPr lang="zh-CN" altLang="en-US">
                <a:sym typeface="+mn-ea"/>
              </a:rPr>
              <a:t>做</a:t>
            </a:r>
            <a:r>
              <a:rPr lang="en-US" altLang="zh-CN">
                <a:sym typeface="+mn-ea"/>
              </a:rPr>
              <a:t>&amp;</a:t>
            </a:r>
            <a:r>
              <a:rPr lang="zh-CN" altLang="en-US">
                <a:sym typeface="+mn-ea"/>
              </a:rPr>
              <a:t>运算：（</a:t>
            </a:r>
            <a:r>
              <a:rPr lang="en-US" altLang="zh-CN">
                <a:sym typeface="+mn-ea"/>
              </a:rPr>
              <a:t>S2&gt;&gt;1</a:t>
            </a:r>
            <a:r>
              <a:rPr lang="zh-CN" altLang="en-US">
                <a:sym typeface="+mn-ea"/>
              </a:rPr>
              <a:t>）</a:t>
            </a:r>
            <a:r>
              <a:rPr lang="en-US" altLang="zh-CN">
                <a:sym typeface="+mn-ea"/>
              </a:rPr>
              <a:t>&amp;S2 </a:t>
            </a:r>
            <a:r>
              <a:rPr lang="zh-CN" altLang="en-US">
                <a:sym typeface="+mn-ea"/>
              </a:rPr>
              <a:t>若结果为</a:t>
            </a:r>
            <a:r>
              <a:rPr lang="en-US" altLang="zh-CN">
                <a:sym typeface="+mn-ea"/>
              </a:rPr>
              <a:t>0</a:t>
            </a:r>
            <a:r>
              <a:rPr lang="zh-CN" altLang="en-US">
                <a:sym typeface="+mn-ea"/>
              </a:rPr>
              <a:t>，说明</a:t>
            </a:r>
            <a:r>
              <a:rPr lang="en-US" altLang="zh-CN">
                <a:sym typeface="+mn-ea"/>
              </a:rPr>
              <a:t>*</a:t>
            </a:r>
            <a:r>
              <a:rPr lang="zh-CN" altLang="en-US">
                <a:sym typeface="+mn-ea"/>
              </a:rPr>
              <a:t>是</a:t>
            </a:r>
            <a:r>
              <a:rPr lang="en-US" altLang="zh-CN">
                <a:sym typeface="+mn-ea"/>
              </a:rPr>
              <a:t>0</a:t>
            </a:r>
            <a:r>
              <a:rPr lang="zh-CN" altLang="en-US">
                <a:sym typeface="+mn-ea"/>
              </a:rPr>
              <a:t>（合法），反之，结果为</a:t>
            </a:r>
            <a:r>
              <a:rPr lang="en-US" altLang="zh-CN">
                <a:sym typeface="+mn-ea"/>
              </a:rPr>
              <a:t>1</a:t>
            </a:r>
            <a:r>
              <a:rPr lang="zh-CN" altLang="en-US">
                <a:sym typeface="+mn-ea"/>
              </a:rPr>
              <a:t>，则不合法。</a:t>
            </a:r>
            <a:endParaRPr lang="zh-CN" altLang="en-US">
              <a:sym typeface="+mn-ea"/>
            </a:endParaRPr>
          </a:p>
          <a:p>
            <a:pPr algn="l">
              <a:buClrTx/>
              <a:buSzTx/>
              <a:buFontTx/>
            </a:pPr>
            <a:endParaRPr lang="en-US" altLang="zh-CN">
              <a:sym typeface="+mn-ea"/>
            </a:endParaRPr>
          </a:p>
          <a:p>
            <a:pPr algn="l">
              <a:buClrTx/>
              <a:buSzTx/>
              <a:buFontTx/>
            </a:pPr>
            <a:r>
              <a:rPr lang="en-US" altLang="zh-CN">
                <a:sym typeface="+mn-ea"/>
              </a:rPr>
              <a:t>(2)判断</a:t>
            </a:r>
            <a:r>
              <a:rPr lang="zh-CN" altLang="en-US">
                <a:sym typeface="+mn-ea"/>
              </a:rPr>
              <a:t>右边</a:t>
            </a:r>
            <a:r>
              <a:rPr lang="en-US" altLang="zh-CN">
                <a:sym typeface="+mn-ea"/>
              </a:rPr>
              <a:t>边有没有国王</a:t>
            </a:r>
            <a:endParaRPr lang="en-US" altLang="zh-CN"/>
          </a:p>
          <a:p>
            <a:pPr algn="l">
              <a:buClrTx/>
              <a:buSzTx/>
              <a:buFontTx/>
            </a:pPr>
            <a:r>
              <a:rPr lang="en-US" altLang="zh-CN">
                <a:sym typeface="+mn-ea"/>
              </a:rPr>
              <a:t>S2: 1</a:t>
            </a:r>
            <a:r>
              <a:rPr lang="en-US" altLang="zh-CN">
                <a:solidFill>
                  <a:schemeClr val="tx1"/>
                </a:solidFill>
                <a:sym typeface="+mn-ea"/>
              </a:rPr>
              <a:t> 0</a:t>
            </a:r>
            <a:r>
              <a:rPr lang="en-US" altLang="zh-CN">
                <a:sym typeface="+mn-ea"/>
              </a:rPr>
              <a:t> 1 </a:t>
            </a:r>
            <a:r>
              <a:rPr lang="en-US" altLang="zh-CN">
                <a:solidFill>
                  <a:srgbClr val="FF0000"/>
                </a:solidFill>
                <a:sym typeface="+mn-ea"/>
              </a:rPr>
              <a:t>*</a:t>
            </a:r>
            <a:r>
              <a:rPr lang="en-US" altLang="zh-CN">
                <a:sym typeface="+mn-ea"/>
              </a:rPr>
              <a:t> 0 1</a:t>
            </a:r>
            <a:endParaRPr lang="en-US" altLang="zh-CN">
              <a:sym typeface="+mn-ea"/>
            </a:endParaRPr>
          </a:p>
          <a:p>
            <a:pPr algn="l">
              <a:buClrTx/>
              <a:buSzTx/>
              <a:buFontTx/>
            </a:pPr>
            <a:r>
              <a:rPr lang="en-US" altLang="zh-CN">
                <a:sym typeface="+mn-ea"/>
              </a:rPr>
              <a:t>S2: 0</a:t>
            </a:r>
            <a:r>
              <a:rPr lang="en-US" altLang="zh-CN">
                <a:solidFill>
                  <a:srgbClr val="FF0000"/>
                </a:solidFill>
                <a:sym typeface="+mn-ea"/>
              </a:rPr>
              <a:t> </a:t>
            </a:r>
            <a:r>
              <a:rPr lang="en-US" altLang="zh-CN">
                <a:solidFill>
                  <a:schemeClr val="tx1"/>
                </a:solidFill>
                <a:sym typeface="+mn-ea"/>
              </a:rPr>
              <a:t>1 </a:t>
            </a:r>
            <a:r>
              <a:rPr lang="en-US" altLang="zh-CN">
                <a:solidFill>
                  <a:srgbClr val="FF0000"/>
                </a:solidFill>
                <a:sym typeface="+mn-ea"/>
              </a:rPr>
              <a:t>*</a:t>
            </a:r>
            <a:r>
              <a:rPr lang="en-US" altLang="zh-CN">
                <a:sym typeface="+mn-ea"/>
              </a:rPr>
              <a:t> 0 0 0</a:t>
            </a:r>
            <a:r>
              <a:rPr lang="zh-CN" altLang="en-US">
                <a:sym typeface="+mn-ea"/>
              </a:rPr>
              <a:t>（</a:t>
            </a:r>
            <a:r>
              <a:rPr lang="zh-CN" altLang="en-US">
                <a:sym typeface="+mn-ea"/>
              </a:rPr>
              <a:t>左移移动一位）</a:t>
            </a:r>
            <a:endParaRPr lang="zh-CN" altLang="en-US">
              <a:sym typeface="+mn-ea"/>
            </a:endParaRPr>
          </a:p>
          <a:p>
            <a:pPr algn="l">
              <a:buClrTx/>
              <a:buSzTx/>
              <a:buFontTx/>
            </a:pPr>
            <a:r>
              <a:rPr lang="zh-CN" altLang="en-US">
                <a:sym typeface="+mn-ea"/>
              </a:rPr>
              <a:t>做</a:t>
            </a:r>
            <a:r>
              <a:rPr lang="en-US" altLang="zh-CN">
                <a:sym typeface="+mn-ea"/>
              </a:rPr>
              <a:t>&amp;</a:t>
            </a:r>
            <a:r>
              <a:rPr lang="zh-CN" altLang="en-US">
                <a:sym typeface="+mn-ea"/>
              </a:rPr>
              <a:t>运算：（</a:t>
            </a:r>
            <a:r>
              <a:rPr lang="en-US" altLang="zh-CN">
                <a:sym typeface="+mn-ea"/>
              </a:rPr>
              <a:t>S2&lt;&lt;1</a:t>
            </a:r>
            <a:r>
              <a:rPr lang="zh-CN" altLang="en-US">
                <a:sym typeface="+mn-ea"/>
              </a:rPr>
              <a:t>）</a:t>
            </a:r>
            <a:r>
              <a:rPr lang="en-US" altLang="zh-CN">
                <a:sym typeface="+mn-ea"/>
              </a:rPr>
              <a:t>&amp;S2 </a:t>
            </a:r>
            <a:r>
              <a:rPr lang="zh-CN" altLang="en-US">
                <a:sym typeface="+mn-ea"/>
              </a:rPr>
              <a:t>若结果为</a:t>
            </a:r>
            <a:r>
              <a:rPr lang="en-US" altLang="zh-CN">
                <a:sym typeface="+mn-ea"/>
              </a:rPr>
              <a:t>0</a:t>
            </a:r>
            <a:r>
              <a:rPr lang="zh-CN" altLang="en-US">
                <a:sym typeface="+mn-ea"/>
              </a:rPr>
              <a:t>，说明</a:t>
            </a:r>
            <a:r>
              <a:rPr lang="en-US" altLang="zh-CN">
                <a:sym typeface="+mn-ea"/>
              </a:rPr>
              <a:t>*</a:t>
            </a:r>
            <a:r>
              <a:rPr lang="zh-CN" altLang="en-US">
                <a:sym typeface="+mn-ea"/>
              </a:rPr>
              <a:t>是</a:t>
            </a:r>
            <a:r>
              <a:rPr lang="en-US" altLang="zh-CN">
                <a:sym typeface="+mn-ea"/>
              </a:rPr>
              <a:t>0</a:t>
            </a:r>
            <a:r>
              <a:rPr lang="zh-CN" altLang="en-US">
                <a:sym typeface="+mn-ea"/>
              </a:rPr>
              <a:t>（合法），反之，结果为</a:t>
            </a:r>
            <a:r>
              <a:rPr lang="en-US" altLang="zh-CN">
                <a:sym typeface="+mn-ea"/>
              </a:rPr>
              <a:t>1</a:t>
            </a:r>
            <a:r>
              <a:rPr lang="zh-CN" altLang="en-US">
                <a:sym typeface="+mn-ea"/>
              </a:rPr>
              <a:t>，则不合法。</a:t>
            </a:r>
            <a:endParaRPr lang="zh-CN" altLang="en-US">
              <a:sym typeface="+mn-ea"/>
            </a:endParaRPr>
          </a:p>
          <a:p>
            <a:pPr algn="l">
              <a:buClrTx/>
              <a:buSzTx/>
              <a:buFontTx/>
            </a:pPr>
            <a:endParaRPr lang="en-US" altLang="zh-CN">
              <a:sym typeface="+mn-ea"/>
            </a:endParaRPr>
          </a:p>
          <a:p>
            <a:pPr algn="l">
              <a:buClrTx/>
              <a:buSzTx/>
              <a:buFontTx/>
            </a:pPr>
            <a:endParaRPr lang="en-US" altLang="zh-CN">
              <a:sym typeface="+mn-ea"/>
            </a:endParaRPr>
          </a:p>
          <a:p>
            <a:pPr algn="l">
              <a:buClrTx/>
              <a:buSzTx/>
              <a:buFontTx/>
            </a:pPr>
            <a:r>
              <a:rPr lang="zh-CN" altLang="en-US"/>
              <a:t>简化：</a:t>
            </a:r>
            <a:endParaRPr lang="en-US" altLang="zh-CN"/>
          </a:p>
          <a:p>
            <a:pPr algn="l">
              <a:buClrTx/>
              <a:buSzTx/>
              <a:buFontTx/>
            </a:pPr>
            <a:endParaRPr lang="en-US" altLang="zh-CN"/>
          </a:p>
          <a:p/>
          <a:p>
            <a:endParaRPr lang="zh-CN" altLang="en-US">
              <a:sym typeface="+mn-ea"/>
            </a:endParaRPr>
          </a:p>
        </p:txBody>
      </p:sp>
      <p:pic>
        <p:nvPicPr>
          <p:cNvPr id="2" name="图片 1"/>
          <p:cNvPicPr>
            <a:picLocks noChangeAspect="1"/>
          </p:cNvPicPr>
          <p:nvPr>
            <p:custDataLst>
              <p:tags r:id="rId2"/>
            </p:custDataLst>
          </p:nvPr>
        </p:nvPicPr>
        <p:blipFill>
          <a:blip r:embed="rId3"/>
          <a:stretch>
            <a:fillRect/>
          </a:stretch>
        </p:blipFill>
        <p:spPr>
          <a:xfrm>
            <a:off x="1557020" y="861695"/>
            <a:ext cx="6238875" cy="447675"/>
          </a:xfrm>
          <a:prstGeom prst="rect">
            <a:avLst/>
          </a:prstGeom>
        </p:spPr>
      </p:pic>
      <p:pic>
        <p:nvPicPr>
          <p:cNvPr id="4" name="图片 3"/>
          <p:cNvPicPr>
            <a:picLocks noChangeAspect="1"/>
          </p:cNvPicPr>
          <p:nvPr>
            <p:custDataLst>
              <p:tags r:id="rId4"/>
            </p:custDataLst>
          </p:nvPr>
        </p:nvPicPr>
        <p:blipFill>
          <a:blip r:embed="rId5"/>
          <a:stretch>
            <a:fillRect/>
          </a:stretch>
        </p:blipFill>
        <p:spPr>
          <a:xfrm>
            <a:off x="1557020" y="1495425"/>
            <a:ext cx="3257550" cy="476250"/>
          </a:xfrm>
          <a:prstGeom prst="rect">
            <a:avLst/>
          </a:prstGeom>
        </p:spPr>
      </p:pic>
      <p:pic>
        <p:nvPicPr>
          <p:cNvPr id="5" name="图片 4"/>
          <p:cNvPicPr>
            <a:picLocks noChangeAspect="1"/>
          </p:cNvPicPr>
          <p:nvPr>
            <p:custDataLst>
              <p:tags r:id="rId6"/>
            </p:custDataLst>
          </p:nvPr>
        </p:nvPicPr>
        <p:blipFill>
          <a:blip r:embed="rId7"/>
          <a:stretch>
            <a:fillRect/>
          </a:stretch>
        </p:blipFill>
        <p:spPr>
          <a:xfrm>
            <a:off x="1557020" y="5791200"/>
            <a:ext cx="4343400" cy="438150"/>
          </a:xfrm>
          <a:prstGeom prst="rect">
            <a:avLst/>
          </a:prstGeom>
        </p:spPr>
      </p:pic>
      <p:pic>
        <p:nvPicPr>
          <p:cNvPr id="6" name="图片 5"/>
          <p:cNvPicPr>
            <a:picLocks noChangeAspect="1"/>
          </p:cNvPicPr>
          <p:nvPr>
            <p:custDataLst>
              <p:tags r:id="rId8"/>
            </p:custDataLst>
          </p:nvPr>
        </p:nvPicPr>
        <p:blipFill>
          <a:blip r:embed="rId9"/>
          <a:stretch>
            <a:fillRect/>
          </a:stretch>
        </p:blipFill>
        <p:spPr>
          <a:xfrm>
            <a:off x="1628775" y="6296025"/>
            <a:ext cx="2914650" cy="304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904240" y="381635"/>
            <a:ext cx="11097895" cy="6219190"/>
          </a:xfrm>
          <a:prstGeom prst="rect">
            <a:avLst/>
          </a:prstGeom>
          <a:noFill/>
        </p:spPr>
        <p:txBody>
          <a:bodyPr wrap="square" rtlCol="0">
            <a:noAutofit/>
          </a:bodyPr>
          <a:p>
            <a:r>
              <a:rPr lang="zh-CN"/>
              <a:t>综上：我们</a:t>
            </a:r>
            <a:r>
              <a:rPr lang="zh-CN" altLang="en-US"/>
              <a:t>要同时满足这两个条件才可以</a:t>
            </a:r>
            <a:r>
              <a:rPr lang="zh-CN"/>
              <a:t>由</a:t>
            </a:r>
            <a:r>
              <a:rPr lang="en-US" altLang="zh-CN"/>
              <a:t>S1</a:t>
            </a:r>
            <a:r>
              <a:rPr lang="zh-CN"/>
              <a:t>转移得到</a:t>
            </a:r>
            <a:r>
              <a:rPr lang="en-US"/>
              <a:t>S2</a:t>
            </a:r>
            <a:endParaRPr lang="zh-CN" altLang="en-US">
              <a:sym typeface="+mn-ea"/>
            </a:endParaRPr>
          </a:p>
          <a:p>
            <a:endParaRPr lang="zh-CN" altLang="en-US">
              <a:sym typeface="+mn-ea"/>
            </a:endParaRPr>
          </a:p>
          <a:p>
            <a:r>
              <a:rPr lang="zh-CN" altLang="en-US">
                <a:sym typeface="+mn-ea"/>
              </a:rPr>
              <a:t>行间：</a:t>
            </a:r>
            <a:r>
              <a:rPr lang="en-US" altLang="zh-CN">
                <a:sym typeface="+mn-ea"/>
              </a:rPr>
              <a:t>                                                                       </a:t>
            </a:r>
            <a:r>
              <a:rPr lang="zh-CN" altLang="en-US">
                <a:sym typeface="+mn-ea"/>
              </a:rPr>
              <a:t>行内：</a:t>
            </a:r>
            <a:r>
              <a:rPr lang="en-US" altLang="zh-CN">
                <a:sym typeface="+mn-ea"/>
              </a:rPr>
              <a:t>                                                                </a:t>
            </a:r>
            <a:endParaRPr lang="en-US" altLang="zh-CN">
              <a:sym typeface="+mn-ea"/>
            </a:endParaRPr>
          </a:p>
          <a:p>
            <a:endParaRPr lang="en-US" altLang="zh-CN">
              <a:sym typeface="+mn-ea"/>
            </a:endParaRPr>
          </a:p>
          <a:p>
            <a:r>
              <a:rPr lang="en-US" altLang="zh-CN">
                <a:sym typeface="+mn-ea"/>
              </a:rPr>
              <a:t>因为第二个条件只与</a:t>
            </a:r>
            <a:r>
              <a:rPr lang="zh-CN" altLang="en-US">
                <a:sym typeface="+mn-ea"/>
              </a:rPr>
              <a:t>行内</a:t>
            </a:r>
            <a:r>
              <a:rPr lang="en-US" altLang="zh-CN">
                <a:sym typeface="+mn-ea"/>
              </a:rPr>
              <a:t>状态的情况有关，</a:t>
            </a:r>
            <a:r>
              <a:rPr lang="zh-CN" altLang="en-US">
                <a:sym typeface="+mn-ea"/>
              </a:rPr>
              <a:t>而每一行内的状态是固定的，</a:t>
            </a:r>
            <a:r>
              <a:rPr lang="zh-CN" altLang="en-US">
                <a:sym typeface="+mn-ea"/>
              </a:rPr>
              <a:t>最多有</a:t>
            </a:r>
            <a:r>
              <a:rPr lang="en-US" altLang="zh-CN">
                <a:sym typeface="+mn-ea"/>
              </a:rPr>
              <a:t> (2^n)</a:t>
            </a:r>
            <a:r>
              <a:rPr lang="zh-CN" altLang="en-US">
                <a:sym typeface="+mn-ea"/>
              </a:rPr>
              <a:t>个。</a:t>
            </a:r>
            <a:r>
              <a:rPr lang="en-US" altLang="zh-CN">
                <a:sym typeface="+mn-ea"/>
              </a:rPr>
              <a:t>所以我们可以预处理这个东西，dp 的时候将所有满足第二条性质的状态拿出来看看是否再满足第一条性质就好了；</a:t>
            </a:r>
            <a:endParaRPr lang="en-US" altLang="zh-CN">
              <a:sym typeface="+mn-ea"/>
            </a:endParaRPr>
          </a:p>
          <a:p>
            <a:endParaRPr lang="en-US" altLang="zh-CN">
              <a:sym typeface="+mn-ea"/>
            </a:endParaRPr>
          </a:p>
          <a:p>
            <a:r>
              <a:rPr lang="en-US" altLang="zh-CN">
                <a:sym typeface="+mn-ea"/>
              </a:rPr>
              <a:t>考虑第二维怎么转移的：显然对于第 i−1 行来说，第 i 行多放的国王数就是第 i 行的状态上 1 的个数（在二进制下）</a:t>
            </a:r>
            <a:r>
              <a:rPr lang="zh-CN" altLang="en-US">
                <a:sym typeface="+mn-ea"/>
              </a:rPr>
              <a:t>：</a:t>
            </a:r>
            <a:endParaRPr lang="zh-CN" altLang="en-US">
              <a:sym typeface="+mn-ea"/>
            </a:endParaRPr>
          </a:p>
          <a:p>
            <a:endParaRPr lang="en-US" altLang="zh-CN">
              <a:sym typeface="+mn-ea"/>
            </a:endParaRPr>
          </a:p>
          <a:p>
            <a:r>
              <a:rPr lang="zh-CN" altLang="en-US">
                <a:solidFill>
                  <a:srgbClr val="FF0000"/>
                </a:solidFill>
                <a:sym typeface="+mn-ea"/>
              </a:rPr>
              <a:t>状态</a:t>
            </a:r>
            <a:r>
              <a:rPr lang="zh-CN" altLang="en-US">
                <a:sym typeface="+mn-ea"/>
              </a:rPr>
              <a:t>：</a:t>
            </a:r>
            <a:r>
              <a:rPr lang="en-US" altLang="zh-CN">
                <a:sym typeface="+mn-ea"/>
              </a:rPr>
              <a:t>dp[i][j][s]=k</a:t>
            </a:r>
            <a:r>
              <a:rPr lang="zh-CN" altLang="en-US">
                <a:sym typeface="+mn-ea"/>
              </a:rPr>
              <a:t>，表示我们已经选到了第 i 行，第 i 行的状态编号为 S（表示状态的），共用了 j 个国王的方案数为</a:t>
            </a:r>
            <a:r>
              <a:rPr lang="en-US" altLang="zh-CN">
                <a:sym typeface="+mn-ea"/>
              </a:rPr>
              <a:t>k</a:t>
            </a:r>
            <a:r>
              <a:rPr lang="zh-CN" altLang="en-US">
                <a:sym typeface="+mn-ea"/>
              </a:rPr>
              <a:t>。</a:t>
            </a:r>
            <a:endParaRPr lang="zh-CN" altLang="en-US">
              <a:sym typeface="+mn-ea"/>
            </a:endParaRPr>
          </a:p>
          <a:p>
            <a:endParaRPr lang="zh-CN" altLang="en-US">
              <a:sym typeface="+mn-ea"/>
            </a:endParaRPr>
          </a:p>
          <a:p>
            <a:r>
              <a:rPr lang="zh-CN" altLang="en-US">
                <a:solidFill>
                  <a:srgbClr val="FF0000"/>
                </a:solidFill>
                <a:sym typeface="+mn-ea"/>
              </a:rPr>
              <a:t>状态转移</a:t>
            </a:r>
            <a:r>
              <a:rPr lang="zh-CN" altLang="en-US">
                <a:sym typeface="+mn-ea"/>
              </a:rPr>
              <a:t>：</a:t>
            </a:r>
            <a:r>
              <a:rPr lang="en-US" altLang="zh-CN">
                <a:sym typeface="+mn-ea"/>
              </a:rPr>
              <a:t>dp[i] [j] [S]+=dp[i-1] [ j - cnt[S] ] [S1]</a:t>
            </a:r>
            <a:r>
              <a:rPr lang="zh-CN" altLang="en-US">
                <a:sym typeface="+mn-ea"/>
              </a:rPr>
              <a:t>。其中，</a:t>
            </a:r>
            <a:r>
              <a:rPr lang="en-US" altLang="zh-CN">
                <a:sym typeface="+mn-ea"/>
              </a:rPr>
              <a:t>cnt[S]</a:t>
            </a:r>
            <a:r>
              <a:rPr lang="zh-CN" altLang="en-US">
                <a:sym typeface="+mn-ea"/>
              </a:rPr>
              <a:t>表示第</a:t>
            </a:r>
            <a:r>
              <a:rPr lang="en-US" altLang="zh-CN">
                <a:sym typeface="+mn-ea"/>
              </a:rPr>
              <a:t>i</a:t>
            </a:r>
            <a:r>
              <a:rPr lang="zh-CN" altLang="en-US">
                <a:sym typeface="+mn-ea"/>
              </a:rPr>
              <a:t>行状态为</a:t>
            </a:r>
            <a:r>
              <a:rPr lang="en-US" altLang="zh-CN">
                <a:sym typeface="+mn-ea"/>
              </a:rPr>
              <a:t>S</a:t>
            </a:r>
            <a:r>
              <a:rPr lang="zh-CN" altLang="en-US">
                <a:sym typeface="+mn-ea"/>
              </a:rPr>
              <a:t>的情况下所用的国王数，留给前</a:t>
            </a:r>
            <a:r>
              <a:rPr lang="en-US" altLang="zh-CN">
                <a:sym typeface="+mn-ea"/>
              </a:rPr>
              <a:t> i-1 </a:t>
            </a:r>
            <a:r>
              <a:rPr lang="zh-CN" altLang="en-US">
                <a:sym typeface="+mn-ea"/>
              </a:rPr>
              <a:t>行的只有</a:t>
            </a:r>
            <a:r>
              <a:rPr lang="en-US" altLang="zh-CN">
                <a:sym typeface="+mn-ea"/>
              </a:rPr>
              <a:t> j - cnt[S] </a:t>
            </a:r>
            <a:r>
              <a:rPr lang="zh-CN" altLang="en-US">
                <a:sym typeface="+mn-ea"/>
              </a:rPr>
              <a:t>个。并且</a:t>
            </a:r>
            <a:r>
              <a:rPr lang="en-US" altLang="zh-CN">
                <a:sym typeface="+mn-ea"/>
              </a:rPr>
              <a:t>S2</a:t>
            </a:r>
            <a:r>
              <a:rPr lang="zh-CN" altLang="en-US">
                <a:sym typeface="+mn-ea"/>
              </a:rPr>
              <a:t>要满足上述两个条件。</a:t>
            </a:r>
            <a:endParaRPr lang="zh-CN" altLang="en-US"/>
          </a:p>
          <a:p>
            <a:endParaRPr lang="en-US" altLang="zh-CN">
              <a:sym typeface="+mn-ea"/>
            </a:endParaRPr>
          </a:p>
          <a:p>
            <a:r>
              <a:rPr lang="zh-CN" altLang="en-US">
                <a:solidFill>
                  <a:srgbClr val="FF0000"/>
                </a:solidFill>
                <a:sym typeface="+mn-ea"/>
              </a:rPr>
              <a:t>初始状态</a:t>
            </a:r>
            <a:r>
              <a:rPr lang="zh-CN" altLang="en-US">
                <a:sym typeface="+mn-ea"/>
              </a:rPr>
              <a:t>：刚开始一个偌大的棋盘，我们啥也不知道，只知道它的第 0 行不能放旗子。</a:t>
            </a:r>
            <a:endParaRPr lang="zh-CN" altLang="en-US">
              <a:sym typeface="+mn-ea"/>
            </a:endParaRPr>
          </a:p>
          <a:p>
            <a:r>
              <a:rPr lang="zh-CN" altLang="en-US">
                <a:sym typeface="+mn-ea"/>
              </a:rPr>
              <a:t>有</a:t>
            </a:r>
            <a:r>
              <a:rPr lang="en-US" altLang="zh-CN">
                <a:sym typeface="+mn-ea"/>
              </a:rPr>
              <a:t> dp[0][0][0]=1</a:t>
            </a:r>
            <a:r>
              <a:rPr lang="zh-CN" altLang="en-US">
                <a:sym typeface="+mn-ea"/>
              </a:rPr>
              <a:t>，即只有一种方案：不放</a:t>
            </a:r>
            <a:r>
              <a:rPr lang="zh-CN" altLang="en-US">
                <a:sym typeface="+mn-ea"/>
              </a:rPr>
              <a:t>国王。</a:t>
            </a:r>
            <a:endParaRPr lang="zh-CN" altLang="en-US">
              <a:sym typeface="+mn-ea"/>
            </a:endParaRPr>
          </a:p>
          <a:p>
            <a:endParaRPr lang="zh-CN" altLang="en-US">
              <a:sym typeface="+mn-ea"/>
            </a:endParaRPr>
          </a:p>
          <a:p>
            <a:r>
              <a:rPr lang="zh-CN" altLang="en-US">
                <a:solidFill>
                  <a:srgbClr val="FF0000"/>
                </a:solidFill>
                <a:sym typeface="+mn-ea"/>
              </a:rPr>
              <a:t>答案</a:t>
            </a:r>
            <a:r>
              <a:rPr lang="zh-CN" altLang="en-US">
                <a:sym typeface="+mn-ea"/>
              </a:rPr>
              <a:t>：最后的情况，肯定是我们已经考虑完 n 行的排放情况，并且在其中一定是只放了 k 个国王了，所以我们去枚举第 n 行所有可能的情况，统计答案就好了。</a:t>
            </a:r>
            <a:endParaRPr lang="zh-CN" altLang="en-US">
              <a:sym typeface="+mn-ea"/>
            </a:endParaRPr>
          </a:p>
        </p:txBody>
      </p:sp>
      <p:pic>
        <p:nvPicPr>
          <p:cNvPr id="4" name="图片 3"/>
          <p:cNvPicPr>
            <a:picLocks noChangeAspect="1"/>
          </p:cNvPicPr>
          <p:nvPr>
            <p:custDataLst>
              <p:tags r:id="rId2"/>
            </p:custDataLst>
          </p:nvPr>
        </p:nvPicPr>
        <p:blipFill>
          <a:blip r:embed="rId3"/>
          <a:stretch>
            <a:fillRect/>
          </a:stretch>
        </p:blipFill>
        <p:spPr>
          <a:xfrm>
            <a:off x="1595120" y="904875"/>
            <a:ext cx="3257550" cy="476250"/>
          </a:xfrm>
          <a:prstGeom prst="rect">
            <a:avLst/>
          </a:prstGeom>
        </p:spPr>
      </p:pic>
      <p:pic>
        <p:nvPicPr>
          <p:cNvPr id="6" name="图片 5"/>
          <p:cNvPicPr>
            <a:picLocks noChangeAspect="1"/>
          </p:cNvPicPr>
          <p:nvPr>
            <p:custDataLst>
              <p:tags r:id="rId4"/>
            </p:custDataLst>
          </p:nvPr>
        </p:nvPicPr>
        <p:blipFill>
          <a:blip r:embed="rId5"/>
          <a:stretch>
            <a:fillRect/>
          </a:stretch>
        </p:blipFill>
        <p:spPr>
          <a:xfrm>
            <a:off x="5991225" y="990600"/>
            <a:ext cx="2914650" cy="304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custDataLst>
              <p:tags r:id="rId1"/>
            </p:custDataLst>
          </p:nvPr>
        </p:nvSpPr>
        <p:spPr>
          <a:xfrm>
            <a:off x="847090" y="381635"/>
            <a:ext cx="11097895" cy="6219190"/>
          </a:xfrm>
          <a:prstGeom prst="rect">
            <a:avLst/>
          </a:prstGeom>
          <a:noFill/>
        </p:spPr>
        <p:txBody>
          <a:bodyPr wrap="square" rtlCol="0">
            <a:noAutofit/>
          </a:bodyPr>
          <a:p>
            <a:r>
              <a:rPr lang="zh-CN"/>
              <a:t>总结：</a:t>
            </a:r>
            <a:endParaRPr lang="zh-CN"/>
          </a:p>
          <a:p>
            <a:endParaRPr lang="zh-CN"/>
          </a:p>
          <a:p>
            <a:r>
              <a:rPr lang="zh-CN"/>
              <a:t>状压</a:t>
            </a:r>
            <a:r>
              <a:rPr lang="en-US" altLang="zh-CN"/>
              <a:t>DP</a:t>
            </a:r>
            <a:r>
              <a:rPr lang="zh-CN" altLang="en-US"/>
              <a:t>的难点在于对二进制运算的运用。状态和状态转移方程相对容易推理。</a:t>
            </a:r>
            <a:endParaRPr lang="zh-CN" altLang="en-US"/>
          </a:p>
          <a:p>
            <a:endParaRPr lang="zh-CN" altLang="en-US"/>
          </a:p>
          <a:p>
            <a:endParaRPr lang="zh-CN" altLang="en-US"/>
          </a:p>
          <a:p>
            <a:endParaRPr lang="zh-CN" altLang="en-US">
              <a:sym typeface="+mn-ea"/>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COMMONDATA" val="eyJoZGlkIjoiMjNhN2QzNzIxYTMxZDA2OTMyYTljMDA5MmRhYmMwNjc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3284</Words>
  <Application>WPS 文字</Application>
  <PresentationFormat>宽屏</PresentationFormat>
  <Paragraphs>204</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宋体</vt:lpstr>
      <vt:lpstr>Wingdings</vt:lpstr>
      <vt:lpstr>微软雅黑</vt:lpstr>
      <vt:lpstr>汉仪旗黑</vt:lpstr>
      <vt:lpstr>Calibri</vt:lpstr>
      <vt:lpstr>Helvetica Neue</vt:lpstr>
      <vt:lpstr>微软雅黑</vt:lpstr>
      <vt:lpstr>宋体</vt:lpstr>
      <vt:lpstr>Arial Unicode MS</vt:lpstr>
      <vt:lpstr>汉仪书宋二KW</vt:lpstr>
      <vt:lpstr>宋体-简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喵~</cp:lastModifiedBy>
  <cp:revision>117</cp:revision>
  <dcterms:created xsi:type="dcterms:W3CDTF">2025-05-31T13:31:20Z</dcterms:created>
  <dcterms:modified xsi:type="dcterms:W3CDTF">2025-05-31T13:31:20Z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39D95B3D507C44309E7C251695CCA2D4_12</vt:lpwstr>
  </property>
  <property fmtid="{D5CDD505-2E9C-101B-9397-08002B2CF9AE}" pid="3" name="KSOProductBuildVer">
    <vt:lpwstr>2052-7.3.1.8967</vt:lpwstr>
  </property>
</Properties>
</file>