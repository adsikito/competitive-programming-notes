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7" r:id="rId3"/>
    <p:sldId id="258" r:id="rId4"/>
    <p:sldId id="260" r:id="rId5"/>
    <p:sldId id="263" r:id="rId7"/>
    <p:sldId id="264" r:id="rId8"/>
    <p:sldId id="265" r:id="rId9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3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https://leetcode.cn/problems/dui-cheng-de-er-cha-shu-lcof/solutions/1398798/dui-cheng-de-er-cha-shu-by-leetcode-solu-rgks/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https://leetcode.cn/problems/lowest-common-ancestor-of-a-binary-tree/solutions/93282/c-jing-dian-di-gui-si-lu-fei-chang-hao-li-jie-shi-/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Relationship Id="rId3" Type="http://schemas.openxmlformats.org/officeDocument/2006/relationships/tags" Target="../tags/tag2.xml"/><Relationship Id="rId2" Type="http://schemas.openxmlformats.org/officeDocument/2006/relationships/image" Target="../media/image2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909695" y="1716405"/>
            <a:ext cx="3604895" cy="1805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二叉树的题目多是基于递归</a:t>
            </a:r>
            <a:r>
              <a:rPr lang="zh-CN" altLang="en-US"/>
              <a:t>的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en-US" altLang="zh-CN"/>
          </a:p>
          <a:p>
            <a:endParaRPr lang="zh-CN" altLang="en-US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https://leetcode.cn/problems/dui-cheng-de-er-cha-shu-lcof/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https://leetcode.cn/problems/dui-cheng-de-er-cha-shu-lcof/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404350" cy="5190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思路：（偷一个力扣的</a:t>
            </a:r>
            <a:r>
              <a:rPr lang="zh-CN" altLang="en-US"/>
              <a:t>图）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一棵树何时镜像</a:t>
            </a:r>
            <a:r>
              <a:rPr lang="zh-CN" altLang="en-US"/>
              <a:t>对称？</a:t>
            </a:r>
            <a:endParaRPr lang="zh-CN" altLang="en-US"/>
          </a:p>
          <a:p>
            <a:r>
              <a:rPr lang="en-US" altLang="zh-CN"/>
              <a:t>---左子树与右子树镜像对称，那么这个树是对称的。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2.</a:t>
            </a:r>
            <a:r>
              <a:rPr lang="zh-CN" altLang="en-US"/>
              <a:t>如何判断左右子树镜像对称？</a:t>
            </a:r>
            <a:r>
              <a:rPr lang="zh-CN" altLang="en-US">
                <a:sym typeface="+mn-ea"/>
              </a:rPr>
              <a:t>（</a:t>
            </a:r>
            <a:r>
              <a:rPr lang="zh-CN" altLang="en-US">
                <a:sym typeface="+mn-ea"/>
              </a:rPr>
              <a:t>下面的</a:t>
            </a:r>
            <a:r>
              <a:rPr lang="en-US" altLang="zh-CN">
                <a:sym typeface="+mn-ea"/>
              </a:rPr>
              <a:t>== </a:t>
            </a:r>
            <a:r>
              <a:rPr lang="zh-CN" altLang="en-US">
                <a:sym typeface="+mn-ea"/>
              </a:rPr>
              <a:t>是镜像对称的意思）</a:t>
            </a:r>
            <a:endParaRPr lang="zh-CN" altLang="en-US"/>
          </a:p>
          <a:p>
            <a:r>
              <a:rPr lang="en-US" altLang="zh-CN"/>
              <a:t>---</a:t>
            </a:r>
            <a:r>
              <a:rPr lang="zh-CN" altLang="en-US"/>
              <a:t>左右子树的根节点相同</a:t>
            </a:r>
            <a:r>
              <a:rPr lang="en-US" altLang="zh-CN"/>
              <a:t>  </a:t>
            </a:r>
            <a:endParaRPr lang="zh-CN" altLang="en-US"/>
          </a:p>
          <a:p>
            <a:r>
              <a:rPr lang="en-US" altLang="zh-CN"/>
              <a:t>---</a:t>
            </a:r>
            <a:r>
              <a:rPr lang="zh-CN" altLang="en-US"/>
              <a:t>左子树的左子树</a:t>
            </a:r>
            <a:r>
              <a:rPr lang="en-US" altLang="zh-CN"/>
              <a:t>==</a:t>
            </a:r>
            <a:r>
              <a:rPr lang="zh-CN" altLang="en-US"/>
              <a:t>右子树的右子树</a:t>
            </a:r>
            <a:endParaRPr lang="zh-CN" altLang="en-US"/>
          </a:p>
          <a:p>
            <a:r>
              <a:rPr lang="en-US" altLang="zh-CN"/>
              <a:t>---</a:t>
            </a:r>
            <a:r>
              <a:rPr lang="zh-CN" altLang="en-US"/>
              <a:t>左子树的右子树</a:t>
            </a:r>
            <a:r>
              <a:rPr lang="en-US" altLang="zh-CN"/>
              <a:t>==</a:t>
            </a:r>
            <a:r>
              <a:rPr lang="zh-CN" altLang="en-US"/>
              <a:t>右子树的左子树</a:t>
            </a:r>
            <a:endParaRPr lang="en-US" altLang="zh-CN"/>
          </a:p>
          <a:p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用两个指针</a:t>
            </a:r>
            <a:r>
              <a:rPr lang="en-US" altLang="zh-CN"/>
              <a:t>p q</a:t>
            </a:r>
            <a:r>
              <a:rPr lang="zh-CN" altLang="en-US"/>
              <a:t>对称的</a:t>
            </a:r>
            <a:r>
              <a:rPr lang="zh-CN" altLang="en-US"/>
              <a:t>递归遍历树，进行比较</a:t>
            </a:r>
            <a:r>
              <a:rPr lang="zh-CN" altLang="en-US"/>
              <a:t>即可。</a:t>
            </a:r>
            <a:endParaRPr lang="zh-CN" altLang="en-US"/>
          </a:p>
          <a:p>
            <a:r>
              <a:rPr lang="en-US" altLang="zh-CN"/>
              <a:t>    </a:t>
            </a:r>
            <a:r>
              <a:rPr lang="zh-CN" altLang="en-US"/>
              <a:t>初始化：</a:t>
            </a:r>
            <a:r>
              <a:rPr lang="en-US" altLang="zh-CN"/>
              <a:t>p=root-&gt;l  q=root-&gt;r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递归出口：</a:t>
            </a:r>
            <a:r>
              <a:rPr lang="en-US" altLang="zh-CN"/>
              <a:t>p q</a:t>
            </a:r>
            <a:r>
              <a:rPr lang="zh-CN" altLang="en-US"/>
              <a:t>都为空，</a:t>
            </a:r>
            <a:r>
              <a:rPr lang="en-US" altLang="zh-CN"/>
              <a:t>return 1</a:t>
            </a:r>
            <a:endParaRPr lang="en-US" altLang="zh-CN"/>
          </a:p>
          <a:p>
            <a:r>
              <a:rPr lang="en-US" altLang="zh-CN"/>
              <a:t>                          p q</a:t>
            </a:r>
            <a:r>
              <a:rPr lang="zh-CN" altLang="en-US"/>
              <a:t>有一个为空</a:t>
            </a:r>
            <a:r>
              <a:rPr lang="en-US" altLang="zh-CN"/>
              <a:t>  </a:t>
            </a:r>
            <a:r>
              <a:rPr lang="en-US" altLang="zh-CN"/>
              <a:t>return 0</a:t>
            </a:r>
            <a:endParaRPr lang="en-US" altLang="zh-CN"/>
          </a:p>
          <a:p>
            <a:r>
              <a:rPr lang="en-US" altLang="zh-CN"/>
              <a:t>    </a:t>
            </a:r>
            <a:r>
              <a:rPr lang="zh-CN" altLang="en-US"/>
              <a:t>递归条件：</a:t>
            </a:r>
            <a:r>
              <a:rPr lang="en-US" altLang="zh-CN"/>
              <a:t>p==q </a:t>
            </a:r>
            <a:endParaRPr lang="en-US" altLang="zh-CN"/>
          </a:p>
          <a:p>
            <a:r>
              <a:rPr lang="en-US" altLang="zh-CN"/>
              <a:t>                          p-&gt;l ==</a:t>
            </a:r>
            <a:r>
              <a:rPr lang="en-US" altLang="zh-CN"/>
              <a:t>q-&gt;r </a:t>
            </a:r>
            <a:endParaRPr lang="en-US" altLang="zh-CN"/>
          </a:p>
          <a:p>
            <a:r>
              <a:rPr lang="zh-CN" altLang="en-US"/>
              <a:t> </a:t>
            </a:r>
            <a:r>
              <a:rPr lang="en-US" altLang="zh-CN"/>
              <a:t>                         p-&gt;r ==</a:t>
            </a:r>
            <a:r>
              <a:rPr lang="en-US" altLang="zh-CN"/>
              <a:t>q-&gt;l </a:t>
            </a:r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特殊情况：空树</a:t>
            </a:r>
            <a:r>
              <a:rPr lang="en-US" altLang="zh-CN"/>
              <a:t> </a:t>
            </a:r>
            <a:r>
              <a:rPr lang="zh-CN" altLang="en-US"/>
              <a:t>也满足条件</a:t>
            </a:r>
            <a:endParaRPr lang="en-US" altLang="zh-CN"/>
          </a:p>
          <a:p>
            <a:r>
              <a:rPr lang="en-US" altLang="zh-CN"/>
              <a:t>    </a:t>
            </a:r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081645" y="966470"/>
            <a:ext cx="3340100" cy="22237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030720" y="3429000"/>
            <a:ext cx="5174615" cy="2727325"/>
          </a:xfrm>
          <a:prstGeom prst="rect">
            <a:avLst/>
          </a:prstGeom>
        </p:spPr>
      </p:pic>
      <p:pic>
        <p:nvPicPr>
          <p:cNvPr id="6" name="图片 5" descr="1482C5B85D0F37A172F96B28B064D1A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https://leetcode.cn/problems/lowest-common-ancestor-of-a-binary-tree/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325755"/>
            <a:ext cx="87769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https://leetcode.cn/problems/lowest-common-ancestor-of-a-binary-tree/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136650" y="964565"/>
            <a:ext cx="10452100" cy="51111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分析：根据</a:t>
            </a:r>
            <a:r>
              <a:rPr lang="en-US" altLang="zh-CN"/>
              <a:t>p,q</a:t>
            </a:r>
            <a:r>
              <a:rPr lang="zh-CN" altLang="en-US"/>
              <a:t>的分布情况判断</a:t>
            </a:r>
            <a:r>
              <a:rPr lang="zh-CN" altLang="en-US"/>
              <a:t>答案</a:t>
            </a:r>
            <a:endParaRPr lang="zh-CN" altLang="en-US"/>
          </a:p>
          <a:p>
            <a:r>
              <a:rPr lang="zh-CN" altLang="en-US"/>
              <a:t>根节点</a:t>
            </a:r>
            <a:r>
              <a:rPr lang="en-US" altLang="zh-CN"/>
              <a:t>root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如果</a:t>
            </a:r>
            <a:r>
              <a:rPr lang="en-US" altLang="zh-CN"/>
              <a:t>p</a:t>
            </a:r>
            <a:r>
              <a:rPr lang="zh-CN" altLang="en-US"/>
              <a:t>，</a:t>
            </a:r>
            <a:r>
              <a:rPr lang="en-US" altLang="zh-CN"/>
              <a:t>q</a:t>
            </a:r>
            <a:r>
              <a:rPr lang="zh-CN" altLang="en-US"/>
              <a:t>分别出现在</a:t>
            </a:r>
            <a:r>
              <a:rPr lang="en-US" altLang="zh-CN"/>
              <a:t>root</a:t>
            </a:r>
            <a:r>
              <a:rPr lang="zh-CN" altLang="en-US"/>
              <a:t>的左右子树中，则</a:t>
            </a:r>
            <a:r>
              <a:rPr lang="en-US" altLang="zh-CN"/>
              <a:t>root</a:t>
            </a:r>
            <a:r>
              <a:rPr lang="zh-CN" altLang="en-US"/>
              <a:t>是</a:t>
            </a:r>
            <a:r>
              <a:rPr lang="zh-CN" altLang="en-US"/>
              <a:t>答案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若</a:t>
            </a:r>
            <a:r>
              <a:rPr lang="en-US" altLang="zh-CN"/>
              <a:t>p </a:t>
            </a:r>
            <a:r>
              <a:rPr lang="zh-CN" altLang="en-US"/>
              <a:t>，</a:t>
            </a:r>
            <a:r>
              <a:rPr lang="en-US" altLang="zh-CN"/>
              <a:t>q</a:t>
            </a:r>
            <a:r>
              <a:rPr lang="zh-CN" altLang="en-US"/>
              <a:t>同时出现在</a:t>
            </a:r>
            <a:r>
              <a:rPr lang="en-US" altLang="zh-CN"/>
              <a:t>root</a:t>
            </a:r>
            <a:r>
              <a:rPr lang="zh-CN" altLang="en-US"/>
              <a:t>的某一个子树</a:t>
            </a:r>
            <a:r>
              <a:rPr lang="en-US" altLang="zh-CN"/>
              <a:t>x</a:t>
            </a:r>
            <a:r>
              <a:rPr lang="zh-CN" altLang="en-US"/>
              <a:t>中，则问题转化为在</a:t>
            </a:r>
            <a:r>
              <a:rPr lang="en-US" altLang="zh-CN"/>
              <a:t>x</a:t>
            </a:r>
            <a:r>
              <a:rPr lang="zh-CN" altLang="en-US"/>
              <a:t>树中找公共祖先（</a:t>
            </a:r>
            <a:r>
              <a:rPr lang="zh-CN" altLang="en-US"/>
              <a:t>递归）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得到解题思路：递归，去找</a:t>
            </a:r>
            <a:r>
              <a:rPr lang="en-US" altLang="zh-CN"/>
              <a:t>p,q</a:t>
            </a:r>
            <a:r>
              <a:rPr lang="zh-CN" altLang="en-US"/>
              <a:t>的出现位置，并判断答案。</a:t>
            </a:r>
            <a:endParaRPr lang="zh-CN" altLang="en-US"/>
          </a:p>
          <a:p>
            <a:r>
              <a:rPr lang="zh-CN" altLang="en-US"/>
              <a:t>递归函数</a:t>
            </a:r>
            <a:r>
              <a:rPr lang="en-US" altLang="zh-CN"/>
              <a:t>f(root</a:t>
            </a:r>
            <a:r>
              <a:rPr lang="zh-CN" altLang="en-US"/>
              <a:t>，</a:t>
            </a:r>
            <a:r>
              <a:rPr lang="en-US" altLang="zh-CN"/>
              <a:t>p</a:t>
            </a:r>
            <a:r>
              <a:rPr lang="zh-CN" altLang="en-US"/>
              <a:t>，</a:t>
            </a:r>
            <a:r>
              <a:rPr lang="en-US" altLang="zh-CN"/>
              <a:t>q) </a:t>
            </a:r>
            <a:r>
              <a:rPr lang="zh-CN" altLang="en-US"/>
              <a:t>：在以</a:t>
            </a:r>
            <a:r>
              <a:rPr lang="en-US" altLang="zh-CN"/>
              <a:t>root</a:t>
            </a:r>
            <a:r>
              <a:rPr lang="zh-CN" altLang="en-US"/>
              <a:t>为根的树中找</a:t>
            </a:r>
            <a:r>
              <a:rPr lang="en-US" altLang="zh-CN"/>
              <a:t>p,q</a:t>
            </a:r>
            <a:r>
              <a:rPr lang="zh-CN" altLang="en-US"/>
              <a:t>。</a:t>
            </a:r>
            <a:endParaRPr lang="zh-CN" altLang="en-US"/>
          </a:p>
          <a:p>
            <a:r>
              <a:rPr lang="en-US" altLang="zh-CN"/>
              <a:t>1.root==NULL,</a:t>
            </a:r>
            <a:r>
              <a:rPr lang="zh-CN" altLang="en-US"/>
              <a:t>空树，返回</a:t>
            </a:r>
            <a:r>
              <a:rPr lang="en-US" altLang="zh-CN"/>
              <a:t>NULL</a:t>
            </a:r>
            <a:endParaRPr lang="en-US" altLang="zh-CN"/>
          </a:p>
          <a:p>
            <a:r>
              <a:rPr lang="en-US" altLang="zh-CN"/>
              <a:t>2.root==p</a:t>
            </a:r>
            <a:r>
              <a:rPr lang="zh-CN" altLang="en-US"/>
              <a:t>或者</a:t>
            </a:r>
            <a:r>
              <a:rPr lang="en-US" altLang="zh-CN"/>
              <a:t>root==q</a:t>
            </a:r>
            <a:r>
              <a:rPr lang="zh-CN" altLang="en-US"/>
              <a:t>，找到了一个，直接返回</a:t>
            </a:r>
            <a:r>
              <a:rPr lang="en-US" altLang="zh-CN"/>
              <a:t>root</a:t>
            </a:r>
            <a:r>
              <a:rPr lang="zh-CN" altLang="en-US"/>
              <a:t>。若另一个在</a:t>
            </a:r>
            <a:r>
              <a:rPr lang="en-US" altLang="zh-CN"/>
              <a:t>root</a:t>
            </a:r>
            <a:r>
              <a:rPr lang="zh-CN" altLang="en-US"/>
              <a:t>的子树中，</a:t>
            </a:r>
            <a:r>
              <a:rPr lang="en-US" altLang="zh-CN"/>
              <a:t>root</a:t>
            </a:r>
            <a:r>
              <a:rPr lang="zh-CN" altLang="en-US"/>
              <a:t>是答案。若不在，则返回找到的这个结点。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3.root</a:t>
            </a:r>
            <a:r>
              <a:rPr lang="zh-CN" altLang="en-US"/>
              <a:t>不为空，也不是</a:t>
            </a:r>
            <a:r>
              <a:rPr lang="en-US" altLang="zh-CN"/>
              <a:t>p,q,</a:t>
            </a:r>
            <a:r>
              <a:rPr lang="zh-CN" altLang="en-US"/>
              <a:t>，说明</a:t>
            </a:r>
            <a:r>
              <a:rPr lang="en-US" altLang="zh-CN"/>
              <a:t>p,q</a:t>
            </a:r>
            <a:r>
              <a:rPr lang="zh-CN" altLang="en-US"/>
              <a:t>在</a:t>
            </a:r>
            <a:r>
              <a:rPr lang="en-US" altLang="zh-CN"/>
              <a:t>root</a:t>
            </a:r>
            <a:r>
              <a:rPr lang="zh-CN" altLang="en-US"/>
              <a:t>的左右子树中，则递归调用，分别去</a:t>
            </a:r>
            <a:r>
              <a:rPr lang="zh-CN" altLang="en-US"/>
              <a:t>左右子树中找。</a:t>
            </a:r>
            <a:endParaRPr lang="zh-CN" altLang="en-US"/>
          </a:p>
          <a:p>
            <a:r>
              <a:rPr lang="zh-CN" altLang="en-US"/>
              <a:t> </a:t>
            </a:r>
            <a:r>
              <a:rPr lang="en-US" altLang="zh-CN"/>
              <a:t>   l=</a:t>
            </a:r>
            <a:r>
              <a:rPr lang="en-US" altLang="zh-CN">
                <a:sym typeface="+mn-ea"/>
              </a:rPr>
              <a:t>f(root-&gt;left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q)  r=f(root-&gt;right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p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q) </a:t>
            </a:r>
            <a:endParaRPr lang="en-US" altLang="zh-CN">
              <a:sym typeface="+mn-ea"/>
            </a:endParaRPr>
          </a:p>
          <a:p>
            <a:r>
              <a:rPr lang="en-US" altLang="zh-CN"/>
              <a:t>(1)</a:t>
            </a:r>
            <a:r>
              <a:rPr lang="zh-CN" altLang="en-US"/>
              <a:t>若</a:t>
            </a:r>
            <a:r>
              <a:rPr lang="en-US" altLang="zh-CN"/>
              <a:t>l,r</a:t>
            </a:r>
            <a:r>
              <a:rPr lang="zh-CN" altLang="en-US"/>
              <a:t>全为空，返回</a:t>
            </a:r>
            <a:r>
              <a:rPr lang="zh-CN" altLang="en-US"/>
              <a:t>空</a:t>
            </a:r>
            <a:endParaRPr lang="zh-CN" altLang="en-US"/>
          </a:p>
          <a:p>
            <a:r>
              <a:rPr lang="en-US" altLang="zh-CN"/>
              <a:t>(2)</a:t>
            </a:r>
            <a:r>
              <a:rPr lang="zh-CN" altLang="en-US">
                <a:sym typeface="+mn-ea"/>
              </a:rPr>
              <a:t>若</a:t>
            </a:r>
            <a:r>
              <a:rPr lang="en-US" altLang="zh-CN">
                <a:sym typeface="+mn-ea"/>
              </a:rPr>
              <a:t>l,r</a:t>
            </a:r>
            <a:r>
              <a:rPr lang="zh-CN" altLang="en-US">
                <a:sym typeface="+mn-ea"/>
              </a:rPr>
              <a:t>有一个为空，返回另一个。说明在另一个子树中找到了</a:t>
            </a:r>
            <a:r>
              <a:rPr lang="en-US" altLang="zh-CN">
                <a:sym typeface="+mn-ea"/>
              </a:rPr>
              <a:t>p,q</a:t>
            </a:r>
            <a:r>
              <a:rPr lang="zh-CN" altLang="en-US">
                <a:sym typeface="+mn-ea"/>
              </a:rPr>
              <a:t>或者答案</a:t>
            </a:r>
            <a:endParaRPr lang="zh-CN" altLang="en-US">
              <a:sym typeface="+mn-ea"/>
            </a:endParaRPr>
          </a:p>
          <a:p>
            <a:r>
              <a:rPr lang="en-US" altLang="zh-CN"/>
              <a:t>(3)</a:t>
            </a:r>
            <a:r>
              <a:rPr lang="zh-CN" altLang="en-US"/>
              <a:t>若</a:t>
            </a:r>
            <a:r>
              <a:rPr lang="en-US" altLang="zh-CN"/>
              <a:t>l,r</a:t>
            </a:r>
            <a:r>
              <a:rPr lang="zh-CN" altLang="en-US"/>
              <a:t>都不为空，说明</a:t>
            </a:r>
            <a:r>
              <a:rPr lang="en-US" altLang="zh-CN"/>
              <a:t>p,q</a:t>
            </a:r>
            <a:r>
              <a:rPr lang="zh-CN" altLang="en-US"/>
              <a:t>一边一个，则</a:t>
            </a:r>
            <a:r>
              <a:rPr lang="en-US" altLang="zh-CN"/>
              <a:t>root</a:t>
            </a:r>
            <a:r>
              <a:rPr lang="zh-CN" altLang="en-US"/>
              <a:t>是答案，返回</a:t>
            </a:r>
            <a:r>
              <a:rPr lang="en-US" altLang="zh-CN"/>
              <a:t>root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21105" y="1301750"/>
            <a:ext cx="77781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下节课课上例题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洛谷</a:t>
            </a:r>
            <a:r>
              <a:rPr lang="en-US" altLang="zh-CN"/>
              <a:t> P1525 P3367</a:t>
            </a:r>
            <a:endParaRPr lang="en-US" altLang="zh-CN"/>
          </a:p>
        </p:txBody>
      </p:sp>
      <p:pic>
        <p:nvPicPr>
          <p:cNvPr id="5" name="图片 4" descr="1482C5B85D0F37A172F96B28B064D1A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9110" y="90805"/>
            <a:ext cx="1402715" cy="63627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COMMONDATA" val="eyJoZGlkIjoiMjNhN2QzNzIxYTMxZDA2OTMyYTljMDA5MmRhYmMwNjc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1101</Words>
  <Application>WPS 演示</Application>
  <PresentationFormat>宽屏</PresentationFormat>
  <Paragraphs>66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汉仪旗黑</vt:lpstr>
      <vt:lpstr>Calibri</vt:lpstr>
      <vt:lpstr>Helvetica Neue</vt:lpstr>
      <vt:lpstr>微软雅黑</vt:lpstr>
      <vt:lpstr>宋体</vt:lpstr>
      <vt:lpstr>Arial Unicode MS</vt:lpstr>
      <vt:lpstr>汉仪书宋二KW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12</cp:revision>
  <dcterms:created xsi:type="dcterms:W3CDTF">2025-03-22T13:48:05Z</dcterms:created>
  <dcterms:modified xsi:type="dcterms:W3CDTF">2025-03-22T13:48:05Z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21CA82E327CD4EB28FFCB9D2941349D7_12</vt:lpwstr>
  </property>
  <property fmtid="{D5CDD505-2E9C-101B-9397-08002B2CF9AE}" pid="3" name="KSOProductBuildVer">
    <vt:lpwstr>2052-6.15.2.8936</vt:lpwstr>
  </property>
</Properties>
</file>