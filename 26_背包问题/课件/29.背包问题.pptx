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57" r:id="rId3"/>
    <p:sldId id="372" r:id="rId4"/>
    <p:sldId id="381" r:id="rId5"/>
    <p:sldId id="378" r:id="rId6"/>
    <p:sldId id="379" r:id="rId7"/>
    <p:sldId id="380" r:id="rId8"/>
    <p:sldId id="382" r:id="rId9"/>
    <p:sldId id="383" r:id="rId10"/>
    <p:sldId id="384" r:id="rId11"/>
    <p:sldId id="361" r:id="rId12"/>
    <p:sldId id="387" r:id="rId13"/>
    <p:sldId id="390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7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19430" y="347980"/>
            <a:ext cx="11425555" cy="6252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背包问题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可以描述为：给定一组物品，每种物品都有自己的重量和价格，在限定的总重量内，我们如何选择，才能使得物品的总价格最高。问题的名称来源于如何选择最合适的物品放置于给定背包中。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常见的是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01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背包和完全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背包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2315" y="1884045"/>
            <a:ext cx="10706735" cy="3300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01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背包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问题：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有n种物品，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每种物品只有一个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。第i（i从1开始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编号）件物品的重量为w[i]，价值为v[i]。有一个给定容量为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c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的背包，问这个背包最多能装的最大价值是多少。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1～～～（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i-1）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i---&gt;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不选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1～～i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中选择方案等于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ym typeface="+mn-ea"/>
              </a:rPr>
              <a:t>在背包容量为</a:t>
            </a:r>
            <a:r>
              <a:rPr lang="en-US" altLang="zh-CN">
                <a:sym typeface="+mn-ea"/>
              </a:rPr>
              <a:t>c，</a:t>
            </a:r>
            <a:r>
              <a:rPr lang="zh-CN" altLang="en-US">
                <a:sym typeface="+mn-ea"/>
              </a:rPr>
              <a:t>基础价值为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的状态下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从</a:t>
            </a:r>
            <a:r>
              <a:rPr lang="en-US" altLang="zh-CN">
                <a:sym typeface="+mn-ea"/>
              </a:rPr>
              <a:t>1～～～（i-1）</a:t>
            </a:r>
            <a:r>
              <a:rPr lang="zh-CN" altLang="en-US">
                <a:sym typeface="+mn-ea"/>
              </a:rPr>
              <a:t>中的选择方案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ym typeface="+mn-ea"/>
              </a:rPr>
              <a:t>i---&gt;</a:t>
            </a:r>
            <a:r>
              <a:rPr lang="zh-CN" altLang="en-US">
                <a:sym typeface="+mn-ea"/>
              </a:rPr>
              <a:t>选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从</a:t>
            </a:r>
            <a:r>
              <a:rPr lang="en-US" altLang="zh-CN">
                <a:sym typeface="+mn-ea"/>
              </a:rPr>
              <a:t>1～～i</a:t>
            </a:r>
            <a:r>
              <a:rPr lang="zh-CN" altLang="en-US">
                <a:sym typeface="+mn-ea"/>
              </a:rPr>
              <a:t>中选择方案等于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在背包容量为</a:t>
            </a:r>
            <a:r>
              <a:rPr lang="en-US" altLang="zh-CN">
                <a:sym typeface="+mn-ea"/>
              </a:rPr>
              <a:t>c-wi，</a:t>
            </a:r>
            <a:r>
              <a:rPr lang="zh-CN" altLang="en-US">
                <a:sym typeface="+mn-ea"/>
              </a:rPr>
              <a:t>基础价值为</a:t>
            </a:r>
            <a:r>
              <a:rPr lang="en-US" altLang="zh-CN">
                <a:sym typeface="+mn-ea"/>
              </a:rPr>
              <a:t>vi</a:t>
            </a:r>
            <a:r>
              <a:rPr lang="zh-CN" altLang="en-US">
                <a:sym typeface="+mn-ea"/>
              </a:rPr>
              <a:t>的状态下从</a:t>
            </a:r>
            <a:r>
              <a:rPr lang="en-US" altLang="zh-CN">
                <a:sym typeface="+mn-ea"/>
              </a:rPr>
              <a:t>1～～～（i-1）</a:t>
            </a:r>
            <a:r>
              <a:rPr lang="zh-CN" altLang="en-US">
                <a:sym typeface="+mn-ea"/>
              </a:rPr>
              <a:t>中的选择方案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有n种物品，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每种物品只有一个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。第i（i从1开始编号）件物品的重量为w[i]，价值为v[i]。有一个给定容量为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的背包，问这个背包最多能装的最大价值是多少。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/>
          <a:p>
            <a:r>
              <a:rPr lang="zh-CN"/>
              <a:t>分析：因为每种物品只有</a:t>
            </a:r>
            <a:r>
              <a:rPr lang="en-US" altLang="zh-CN"/>
              <a:t>1</a:t>
            </a:r>
            <a:r>
              <a:rPr lang="zh-CN" altLang="en-US"/>
              <a:t>个，那么在最终装好的背包中，每个物品的状态：要么该物品没有被装入背包（即没有入选最优解</a:t>
            </a:r>
            <a:r>
              <a:rPr lang="zh-CN" altLang="en-US">
                <a:sym typeface="+mn-ea"/>
              </a:rPr>
              <a:t>中</a:t>
            </a:r>
            <a:r>
              <a:rPr lang="zh-CN" altLang="en-US"/>
              <a:t>，最优解中有</a:t>
            </a:r>
            <a:r>
              <a:rPr lang="en-US" altLang="zh-CN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个</a:t>
            </a:r>
            <a:r>
              <a:rPr lang="zh-CN" altLang="en-US"/>
              <a:t>该物品），要么</a:t>
            </a:r>
            <a:r>
              <a:rPr lang="zh-CN" altLang="en-US">
                <a:sym typeface="+mn-ea"/>
              </a:rPr>
              <a:t>该物品被装入背包了（即入选最优解</a:t>
            </a:r>
            <a:r>
              <a:rPr lang="zh-CN" altLang="en-US">
                <a:sym typeface="+mn-ea"/>
              </a:rPr>
              <a:t>中，最优解中有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个</a:t>
            </a:r>
            <a:r>
              <a:rPr lang="zh-CN" altLang="en-US">
                <a:sym typeface="+mn-ea"/>
              </a:rPr>
              <a:t>该物品）。所以该类问题名字是</a:t>
            </a:r>
            <a:r>
              <a:rPr lang="en-US" altLang="zh-CN">
                <a:sym typeface="+mn-ea"/>
              </a:rPr>
              <a:t>01</a:t>
            </a:r>
            <a:r>
              <a:rPr lang="zh-CN" altLang="en-US">
                <a:sym typeface="+mn-ea"/>
              </a:rPr>
              <a:t>背包。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所以我们只需要考虑每个物品要不要装入背包中</a:t>
            </a:r>
            <a:r>
              <a:rPr lang="zh-CN" altLang="en-US">
                <a:sym typeface="+mn-ea"/>
              </a:rPr>
              <a:t>即可。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状态</a:t>
            </a:r>
            <a:r>
              <a:rPr lang="zh-CN" altLang="en-US">
                <a:sym typeface="+mn-ea"/>
              </a:rPr>
              <a:t>：dp[ i ][ j ] ：从前i个物品中任选，装</a:t>
            </a:r>
            <a:r>
              <a:rPr lang="zh-CN" altLang="en-US">
                <a:sym typeface="+mn-ea"/>
              </a:rPr>
              <a:t>入容量为j的背包的最大价值；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考虑计算</a:t>
            </a:r>
            <a:r>
              <a:rPr lang="en-US" altLang="zh-CN">
                <a:sym typeface="+mn-ea"/>
              </a:rPr>
              <a:t>dp[i][j]</a:t>
            </a:r>
            <a:r>
              <a:rPr lang="zh-CN" altLang="en-US">
                <a:sym typeface="+mn-ea"/>
              </a:rPr>
              <a:t>的值：此时认为</a:t>
            </a:r>
            <a:r>
              <a:rPr lang="en-US" altLang="zh-CN">
                <a:sym typeface="+mn-ea"/>
              </a:rPr>
              <a:t>dp[i][j]</a:t>
            </a:r>
            <a:r>
              <a:rPr lang="zh-CN" altLang="en-US">
                <a:sym typeface="+mn-ea"/>
              </a:rPr>
              <a:t>之前的值已经</a:t>
            </a:r>
            <a:r>
              <a:rPr lang="zh-CN" altLang="en-US">
                <a:sym typeface="+mn-ea"/>
              </a:rPr>
              <a:t>算出：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）如果第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个物品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不选入</a:t>
            </a:r>
            <a:r>
              <a:rPr lang="zh-CN" altLang="en-US">
                <a:sym typeface="+mn-ea"/>
              </a:rPr>
              <a:t>背包。那么背包中只从前</a:t>
            </a:r>
            <a:r>
              <a:rPr lang="en-US" altLang="zh-CN">
                <a:sym typeface="+mn-ea"/>
              </a:rPr>
              <a:t>i-1</a:t>
            </a:r>
            <a:r>
              <a:rPr lang="zh-CN" altLang="en-US">
                <a:sym typeface="+mn-ea"/>
              </a:rPr>
              <a:t>个物品中选。那么价值为</a:t>
            </a:r>
            <a:r>
              <a:rPr lang="zh-CN" altLang="en-US">
                <a:sym typeface="+mn-ea"/>
              </a:rPr>
              <a:t>从前i</a:t>
            </a:r>
            <a:r>
              <a:rPr lang="en-US" altLang="zh-CN">
                <a:sym typeface="+mn-ea"/>
              </a:rPr>
              <a:t>-1</a:t>
            </a:r>
            <a:r>
              <a:rPr lang="zh-CN" altLang="en-US">
                <a:sym typeface="+mn-ea"/>
              </a:rPr>
              <a:t>个物品中任选，装入容量为j的背包的价值；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则：</a:t>
            </a:r>
            <a:r>
              <a:rPr lang="zh-CN" altLang="en-US">
                <a:sym typeface="+mn-ea"/>
              </a:rPr>
              <a:t>dp[ i ][ j ]</a:t>
            </a:r>
            <a:r>
              <a:rPr lang="en-US" altLang="zh-CN">
                <a:sym typeface="+mn-ea"/>
              </a:rPr>
              <a:t>=</a:t>
            </a:r>
            <a:r>
              <a:rPr lang="zh-CN" altLang="en-US">
                <a:sym typeface="+mn-ea"/>
              </a:rPr>
              <a:t>dp[ i</a:t>
            </a:r>
            <a:r>
              <a:rPr lang="en-US" altLang="zh-CN">
                <a:sym typeface="+mn-ea"/>
              </a:rPr>
              <a:t>-1</a:t>
            </a:r>
            <a:r>
              <a:rPr lang="zh-CN" altLang="en-US">
                <a:sym typeface="+mn-ea"/>
              </a:rPr>
              <a:t> ][ j ]。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）如果第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个物品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选入</a:t>
            </a:r>
            <a:r>
              <a:rPr lang="zh-CN" altLang="en-US">
                <a:sym typeface="+mn-ea"/>
              </a:rPr>
              <a:t>背包，那么</a:t>
            </a:r>
            <a:r>
              <a:rPr lang="en-US" altLang="zh-CN">
                <a:sym typeface="+mn-ea"/>
              </a:rPr>
              <a:t>j</a:t>
            </a:r>
            <a:r>
              <a:rPr lang="zh-CN" altLang="en-US">
                <a:sym typeface="+mn-ea"/>
              </a:rPr>
              <a:t>这么多容量中一定有一部分是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的重量</a:t>
            </a:r>
            <a:r>
              <a:rPr lang="en-US" altLang="zh-CN">
                <a:sym typeface="+mn-ea"/>
              </a:rPr>
              <a:t>w[i]</a:t>
            </a:r>
            <a:r>
              <a:rPr lang="zh-CN" altLang="en-US">
                <a:sym typeface="+mn-ea"/>
              </a:rPr>
              <a:t>，剩下的</a:t>
            </a:r>
            <a:r>
              <a:rPr lang="en-US" altLang="zh-CN">
                <a:sym typeface="+mn-ea"/>
              </a:rPr>
              <a:t>(j-w[i])</a:t>
            </a:r>
            <a:r>
              <a:rPr lang="zh-CN" altLang="en-US">
                <a:sym typeface="+mn-ea"/>
              </a:rPr>
              <a:t>容量来放前</a:t>
            </a:r>
            <a:r>
              <a:rPr lang="en-US" altLang="zh-CN">
                <a:sym typeface="+mn-ea"/>
              </a:rPr>
              <a:t>i-1</a:t>
            </a:r>
            <a:r>
              <a:rPr lang="zh-CN" altLang="en-US">
                <a:sym typeface="+mn-ea"/>
              </a:rPr>
              <a:t>个物品中选中的物品。从前i</a:t>
            </a:r>
            <a:r>
              <a:rPr lang="en-US" altLang="zh-CN">
                <a:sym typeface="+mn-ea"/>
              </a:rPr>
              <a:t>-1</a:t>
            </a:r>
            <a:r>
              <a:rPr lang="zh-CN" altLang="en-US">
                <a:sym typeface="+mn-ea"/>
              </a:rPr>
              <a:t>个物品中任选，装入容量为</a:t>
            </a:r>
            <a:r>
              <a:rPr lang="en-US" altLang="zh-CN">
                <a:sym typeface="+mn-ea"/>
              </a:rPr>
              <a:t>(j-w[i])</a:t>
            </a:r>
            <a:r>
              <a:rPr lang="zh-CN" altLang="en-US">
                <a:sym typeface="+mn-ea"/>
              </a:rPr>
              <a:t>的背包大价值，再加上第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个物品的</a:t>
            </a:r>
            <a:r>
              <a:rPr lang="zh-CN" altLang="en-US">
                <a:sym typeface="+mn-ea"/>
              </a:rPr>
              <a:t>价值；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则：dp[ i ][ j ]</a:t>
            </a:r>
            <a:r>
              <a:rPr lang="en-US" altLang="zh-CN">
                <a:sym typeface="+mn-ea"/>
              </a:rPr>
              <a:t>=</a:t>
            </a:r>
            <a:r>
              <a:rPr lang="zh-CN" altLang="en-US">
                <a:sym typeface="+mn-ea"/>
              </a:rPr>
              <a:t>dp[ i</a:t>
            </a:r>
            <a:r>
              <a:rPr lang="en-US" altLang="zh-CN">
                <a:sym typeface="+mn-ea"/>
              </a:rPr>
              <a:t>-1</a:t>
            </a:r>
            <a:r>
              <a:rPr lang="zh-CN" altLang="en-US">
                <a:sym typeface="+mn-ea"/>
              </a:rPr>
              <a:t> ][ </a:t>
            </a:r>
            <a:r>
              <a:rPr lang="en-US" altLang="zh-CN">
                <a:sym typeface="+mn-ea"/>
              </a:rPr>
              <a:t>j-w[i]</a:t>
            </a:r>
            <a:r>
              <a:rPr lang="zh-CN" altLang="en-US">
                <a:sym typeface="+mn-ea"/>
              </a:rPr>
              <a:t>]</a:t>
            </a:r>
            <a:r>
              <a:rPr lang="en-US" altLang="zh-CN">
                <a:sym typeface="+mn-ea"/>
              </a:rPr>
              <a:t>+v[i]</a:t>
            </a:r>
            <a:r>
              <a:rPr lang="zh-CN" altLang="en-US">
                <a:sym typeface="+mn-ea"/>
              </a:rPr>
              <a:t>。（注意此时</a:t>
            </a:r>
            <a:r>
              <a:rPr lang="en-US" altLang="zh-CN">
                <a:sym typeface="+mn-ea"/>
              </a:rPr>
              <a:t>j&gt;=w[i],</a:t>
            </a:r>
            <a:r>
              <a:rPr lang="zh-CN" altLang="en-US">
                <a:sym typeface="+mn-ea"/>
              </a:rPr>
              <a:t>否则数组</a:t>
            </a:r>
            <a:r>
              <a:rPr lang="zh-CN" altLang="en-US">
                <a:sym typeface="+mn-ea"/>
              </a:rPr>
              <a:t>越界）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两种情况取</a:t>
            </a:r>
            <a:r>
              <a:rPr lang="en-US" altLang="zh-CN">
                <a:sym typeface="+mn-ea"/>
              </a:rPr>
              <a:t>max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状态转移公式</a:t>
            </a:r>
            <a:r>
              <a:rPr lang="zh-CN" altLang="en-US">
                <a:sym typeface="+mn-ea"/>
              </a:rPr>
              <a:t>：dp[ i ][ j ] = max( dp[ i - 1 ][ j ], dp[ i - 1 ][ j - weight[ i ] ] +  value[ i ] ) ;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zh-CN" altLang="en-US"/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初始状态：一个物品都不选，</a:t>
            </a:r>
            <a:r>
              <a:rPr lang="en-US" altLang="zh-CN">
                <a:solidFill>
                  <a:schemeClr val="tx1"/>
                </a:solidFill>
              </a:rPr>
              <a:t>dp[0][j]=0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</a:rPr>
              <a:t>                      </a:t>
            </a:r>
            <a:r>
              <a:rPr lang="zh-CN" altLang="en-US">
                <a:solidFill>
                  <a:schemeClr val="tx1"/>
                </a:solidFill>
              </a:rPr>
              <a:t>背包容量为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dp[i][0]=0</a:t>
            </a:r>
            <a:endParaRPr lang="en-US" altLang="zh-CN">
              <a:solidFill>
                <a:schemeClr val="tx1"/>
              </a:solidFill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答案：</a:t>
            </a:r>
            <a:r>
              <a:rPr lang="en-US" altLang="zh-CN">
                <a:solidFill>
                  <a:schemeClr val="tx1"/>
                </a:solidFill>
              </a:rPr>
              <a:t>dp[n][m]   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05000" y="2589530"/>
            <a:ext cx="8382000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模拟一下：表格中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列代表背包容量，行代表物品i。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/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57575" y="1876425"/>
            <a:ext cx="2505075" cy="2600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</a:p>
          <a:p>
            <a:pPr marL="457200" lvl="1" indent="457200">
              <a:buNone/>
            </a:pPr>
            <a:r>
              <a:rPr lang="zh-CN"/>
              <a:t>进行降维优化：</a:t>
            </a:r>
            <a:endParaRPr lang="zh-CN"/>
          </a:p>
          <a:p>
            <a:pPr marL="457200" lvl="1" indent="457200">
              <a:buNone/>
            </a:pPr>
            <a:r>
              <a:rPr sz="2000">
                <a:latin typeface="宋体" pitchFamily="2" charset="-122"/>
                <a:ea typeface="宋体" pitchFamily="2" charset="-122"/>
                <a:cs typeface="宋体" pitchFamily="2" charset="-122"/>
              </a:rPr>
              <a:t>在二维数组中，dp[i][j]总是从dp[i-1][…]也就是上一行推导出来，</a:t>
            </a:r>
            <a:r>
              <a:rPr 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在算第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i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行时</a:t>
            </a:r>
            <a:r>
              <a:rPr sz="2000">
                <a:latin typeface="宋体" pitchFamily="2" charset="-122"/>
                <a:ea typeface="宋体" pitchFamily="2" charset="-122"/>
                <a:cs typeface="宋体" pitchFamily="2" charset="-122"/>
              </a:rPr>
              <a:t>除了</a:t>
            </a:r>
            <a:r>
              <a:rPr 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第</a:t>
            </a:r>
            <a:r>
              <a:rPr sz="2000">
                <a:latin typeface="宋体" pitchFamily="2" charset="-122"/>
                <a:ea typeface="宋体" pitchFamily="2" charset="-122"/>
                <a:cs typeface="宋体" pitchFamily="2" charset="-122"/>
              </a:rPr>
              <a:t>i-1行</a:t>
            </a:r>
            <a:r>
              <a:rPr 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之外</a:t>
            </a:r>
            <a:r>
              <a:rPr sz="2000">
                <a:latin typeface="宋体" pitchFamily="2" charset="-122"/>
                <a:ea typeface="宋体" pitchFamily="2" charset="-122"/>
                <a:cs typeface="宋体" pitchFamily="2" charset="-122"/>
              </a:rPr>
              <a:t>的其他行都是没有用的，所以我们可以想到，只用一个一维数组，每次计算是把i-1行复制到当前行进行计算，这样可以优化空间复杂度。每次计算都更新这一行，看起来像是在滚动一样，所以也被称作滚动数组。</a:t>
            </a:r>
            <a:endParaRPr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endParaRPr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r>
              <a:rPr 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则状态dp[j]：从前i个物品中任选，装满容量为j的背包的最大价值。</a:t>
            </a:r>
            <a:endParaRPr lang="zh-CN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endParaRPr lang="zh-CN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r>
              <a:rPr 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转移</a:t>
            </a:r>
            <a:r>
              <a:rPr 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公式：dp[j]=max(dp[j],dp[j-w[i]]+v[i])</a:t>
            </a:r>
            <a:endParaRPr lang="zh-CN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endParaRPr lang="zh-CN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r>
              <a:rPr 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初始状态：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dp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数组的值全为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0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。</a:t>
            </a: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endParaRPr lang="zh-CN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r>
              <a:rPr 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答案：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dp[m]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。</a:t>
            </a: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r>
              <a:rPr lang="zh-CN" sz="200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第三行</a:t>
            </a:r>
            <a:r>
              <a:rPr lang="zh-CN" sz="200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代码倒着枚举？</a:t>
            </a:r>
            <a:endParaRPr lang="zh-CN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457200" lvl="1" indent="457200">
              <a:buNone/>
            </a:pPr>
            <a:endParaRPr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815205" y="4599940"/>
            <a:ext cx="6238875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模拟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一下：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我们看看物品1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一行。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由递推公式可知，每一个数据都是由当前这一列的数据和前面的数据取最大值得来。如果从前向后遍历，那么遍历到后面的时候，前面的数据已经发生改变，已经不是最初的数据了，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也就是说同样的物品会放多次（注意这一点，对后面的完全背包有用）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。而从后往前遍历，后面的数据改变后，遍历前面的时候因为用不到后面的数据，所以不会改变最初的数据。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/>
              <a:t>完全背包</a:t>
            </a:r>
            <a:r>
              <a:rPr lang="zh-CN"/>
              <a:t>问题：</a:t>
            </a:r>
            <a:endParaRPr lang="zh-CN"/>
          </a:p>
          <a:p>
            <a:r>
              <a:rPr lang="zh-CN"/>
              <a:t>给你 </a:t>
            </a:r>
            <a:r>
              <a:rPr lang="en-US" altLang="zh-CN"/>
              <a:t>n</a:t>
            </a:r>
            <a:r>
              <a:rPr lang="zh-CN"/>
              <a:t> </a:t>
            </a:r>
            <a:r>
              <a:rPr lang="zh-CN">
                <a:solidFill>
                  <a:srgbClr val="FF0000"/>
                </a:solidFill>
              </a:rPr>
              <a:t>种</a:t>
            </a:r>
            <a:r>
              <a:rPr lang="zh-CN"/>
              <a:t>物品，每</a:t>
            </a:r>
            <a:r>
              <a:rPr lang="zh-CN">
                <a:solidFill>
                  <a:srgbClr val="FF0000"/>
                </a:solidFill>
              </a:rPr>
              <a:t>种</a:t>
            </a:r>
            <a:r>
              <a:rPr lang="en-US" altLang="zh-CN"/>
              <a:t>物品都具有两个属性（价值v[ i ]和重量w[ i ]），</a:t>
            </a:r>
            <a:r>
              <a:rPr lang="en-US" altLang="zh-CN">
                <a:solidFill>
                  <a:srgbClr val="FF0000"/>
                </a:solidFill>
              </a:rPr>
              <a:t>每种物品都有无限多个</a:t>
            </a:r>
            <a:r>
              <a:rPr lang="zh-CN"/>
              <a:t>，将他们放入容量为</a:t>
            </a:r>
            <a:r>
              <a:rPr lang="en-US" altLang="zh-CN"/>
              <a:t>m</a:t>
            </a:r>
            <a:r>
              <a:rPr lang="zh-CN"/>
              <a:t> 的背包中（</a:t>
            </a:r>
            <a:r>
              <a:rPr lang="zh-CN">
                <a:solidFill>
                  <a:srgbClr val="FF0000"/>
                </a:solidFill>
              </a:rPr>
              <a:t>可以重复放入同一个物品</a:t>
            </a:r>
            <a:r>
              <a:rPr lang="zh-CN"/>
              <a:t>），怎么放才能让背包的价值最大？</a:t>
            </a:r>
            <a:endParaRPr lang="zh-CN"/>
          </a:p>
          <a:p>
            <a:endParaRPr lang="zh-CN"/>
          </a:p>
          <a:p>
            <a:r>
              <a:rPr lang="zh-CN"/>
              <a:t>与</a:t>
            </a:r>
            <a:r>
              <a:rPr lang="en-US" altLang="zh-CN"/>
              <a:t> 01</a:t>
            </a:r>
            <a:r>
              <a:rPr lang="zh-CN" altLang="en-US"/>
              <a:t>背包的区别：完全背包是可以重复取物品，</a:t>
            </a:r>
            <a:r>
              <a:rPr lang="en-US" altLang="zh-CN"/>
              <a:t>01</a:t>
            </a:r>
            <a:r>
              <a:rPr lang="zh-CN" altLang="en-US"/>
              <a:t>背包不可以重复取物品；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那么：</a:t>
            </a:r>
            <a:endParaRPr lang="zh-CN" altLang="en-US"/>
          </a:p>
          <a:p>
            <a:r>
              <a:rPr lang="zh-CN" altLang="en-US"/>
              <a:t>从每种物品的角度考虑，我们的策略并非</a:t>
            </a:r>
            <a:r>
              <a:rPr lang="en-US" altLang="zh-CN"/>
              <a:t> </a:t>
            </a:r>
            <a:r>
              <a:rPr lang="zh-CN" altLang="en-US"/>
              <a:t>取</a:t>
            </a:r>
            <a:r>
              <a:rPr lang="en-US" altLang="zh-CN"/>
              <a:t> </a:t>
            </a:r>
            <a:r>
              <a:rPr lang="zh-CN" altLang="en-US"/>
              <a:t>或</a:t>
            </a:r>
            <a:r>
              <a:rPr lang="en-US" altLang="zh-CN"/>
              <a:t> </a:t>
            </a:r>
            <a:r>
              <a:rPr lang="zh-CN" altLang="en-US"/>
              <a:t>不取</a:t>
            </a:r>
            <a:r>
              <a:rPr lang="en-US" altLang="zh-CN"/>
              <a:t> </a:t>
            </a:r>
            <a:r>
              <a:rPr lang="zh-CN" altLang="en-US"/>
              <a:t>两种，而是有取0件、取1件、取2件……</a:t>
            </a:r>
            <a:r>
              <a:rPr lang="zh-CN" altLang="en-US"/>
              <a:t>最多取</a:t>
            </a:r>
            <a:r>
              <a:rPr lang="en-US" altLang="zh-CN"/>
              <a:t>(m/w[i])</a:t>
            </a:r>
            <a:r>
              <a:rPr lang="zh-CN" altLang="en-US"/>
              <a:t>件等（我们可以想象01背包就是取0件或者1件，所以完全背包其实就是01背包转换过来的）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同01背包，首先状态dp[i][j]表示：在前</a:t>
            </a:r>
            <a:r>
              <a:rPr lang="en-US" altLang="zh-CN"/>
              <a:t> </a:t>
            </a:r>
            <a:r>
              <a:rPr lang="zh-CN" altLang="en-US"/>
              <a:t>i</a:t>
            </a:r>
            <a:r>
              <a:rPr lang="en-US" altLang="zh-CN"/>
              <a:t> </a:t>
            </a:r>
            <a:r>
              <a:rPr lang="zh-CN" altLang="en-US">
                <a:solidFill>
                  <a:srgbClr val="FF0000"/>
                </a:solidFill>
              </a:rPr>
              <a:t>种</a:t>
            </a:r>
            <a:r>
              <a:rPr lang="zh-CN" altLang="en-US"/>
              <a:t>物品中任取物品，放进容量为j的背包中，背包所能装的最大价值。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考虑dp[i][j]，相较于前一种情况，有不放第i</a:t>
            </a:r>
            <a:r>
              <a:rPr lang="zh-CN" altLang="en-US">
                <a:solidFill>
                  <a:srgbClr val="FF0000"/>
                </a:solidFill>
              </a:rPr>
              <a:t>种</a:t>
            </a:r>
            <a:r>
              <a:rPr lang="zh-CN" altLang="en-US"/>
              <a:t>物品和放k</a:t>
            </a:r>
            <a:r>
              <a:rPr lang="zh-CN" altLang="en-US">
                <a:solidFill>
                  <a:srgbClr val="FF0000"/>
                </a:solidFill>
              </a:rPr>
              <a:t>个</a:t>
            </a:r>
            <a:r>
              <a:rPr lang="zh-CN" altLang="en-US"/>
              <a:t>第i</a:t>
            </a:r>
            <a:r>
              <a:rPr lang="zh-CN" altLang="en-US">
                <a:solidFill>
                  <a:srgbClr val="FF0000"/>
                </a:solidFill>
              </a:rPr>
              <a:t>种</a:t>
            </a:r>
            <a:r>
              <a:rPr lang="zh-CN" altLang="en-US"/>
              <a:t>物品两种情况，</a:t>
            </a:r>
            <a:r>
              <a:rPr lang="en-US" altLang="zh-CN"/>
              <a:t>1&lt;=k&lt;=</a:t>
            </a:r>
            <a:r>
              <a:rPr lang="en-US" altLang="zh-CN">
                <a:sym typeface="+mn-ea"/>
              </a:rPr>
              <a:t>(m/w[i])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状态转移</a:t>
            </a:r>
            <a:r>
              <a:rPr lang="zh-CN" altLang="en-US">
                <a:sym typeface="+mn-ea"/>
              </a:rPr>
              <a:t>公式：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代码应该是写一个三重循环遍历，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复杂度贼高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O(n^3)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59025" y="4794250"/>
            <a:ext cx="7267575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同样考虑</a:t>
            </a:r>
            <a:r>
              <a:rPr lang="zh-CN" altLang="en-US"/>
              <a:t>降维：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发现一个很巧妙的地方，</a:t>
            </a:r>
            <a:r>
              <a:rPr lang="en-US" altLang="zh-CN"/>
              <a:t>01</a:t>
            </a:r>
            <a:r>
              <a:rPr lang="zh-CN" altLang="en-US"/>
              <a:t>背包降维时，如果正着</a:t>
            </a:r>
            <a:r>
              <a:rPr lang="zh-CN" altLang="en-US">
                <a:sym typeface="+mn-ea"/>
              </a:rPr>
              <a:t>从前向后遍历，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同一种的物品会放多次，刚好是完全背包的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要求。</a:t>
            </a:r>
            <a:r>
              <a:rPr lang="en-US" altLang="zh-CN">
                <a:sym typeface="+mn-ea"/>
              </a:rPr>
              <a:t>所以直接把01背包代码改成正着</a:t>
            </a:r>
            <a:r>
              <a:rPr lang="zh-CN" altLang="en-US">
                <a:sym typeface="+mn-ea"/>
              </a:rPr>
              <a:t>从前向后</a:t>
            </a:r>
            <a:r>
              <a:rPr lang="en-US" altLang="zh-CN">
                <a:sym typeface="+mn-ea"/>
              </a:rPr>
              <a:t>遍历：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/>
              <a:t>模拟一下：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74290" y="2061210"/>
            <a:ext cx="6219825" cy="1628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https://www.luogu.com.cn/problem/P1048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r>
              <a:rPr lang="en-US" altLang="zh-CN"/>
              <a:t>01</a:t>
            </a:r>
            <a:r>
              <a:rPr lang="zh-CN" altLang="en-US"/>
              <a:t>背包</a:t>
            </a:r>
            <a:r>
              <a:rPr lang="en-US" altLang="zh-CN"/>
              <a:t> </a:t>
            </a:r>
            <a:r>
              <a:rPr lang="zh-CN" altLang="en-US"/>
              <a:t>板子题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https://www.luogu.com.cn/problem/P1616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思路：完全背包</a:t>
            </a:r>
            <a:r>
              <a:rPr lang="en-US" altLang="zh-CN"/>
              <a:t> </a:t>
            </a:r>
            <a:r>
              <a:rPr lang="zh-CN" altLang="en-US"/>
              <a:t>板子题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注意本题数据范围（有一个坑点）：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78965" y="2381885"/>
            <a:ext cx="7867650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>
                <a:sym typeface="+mn-ea"/>
              </a:rPr>
              <a:t>下节课题目</a:t>
            </a:r>
            <a:r>
              <a:rPr lang="en-US" altLang="zh-CN">
                <a:sym typeface="+mn-ea"/>
              </a:rPr>
              <a:t>：</a:t>
            </a:r>
            <a:endParaRPr lang="en-US" altLang="zh-CN"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P1352</a:t>
            </a:r>
            <a:endParaRPr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2171</Words>
  <Application>WPS 演示</Application>
  <PresentationFormat>宽屏</PresentationFormat>
  <Paragraphs>137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汉仪书宋二KW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87</cp:revision>
  <dcterms:created xsi:type="dcterms:W3CDTF">2025-05-20T13:29:21Z</dcterms:created>
  <dcterms:modified xsi:type="dcterms:W3CDTF">2025-05-20T13:29:21Z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